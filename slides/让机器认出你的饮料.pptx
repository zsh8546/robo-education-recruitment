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8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210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157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667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0783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70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8180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7010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9781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4327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07917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1310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3525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4C04192-46BA-4E42-B83B-8AEE39DC6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1EF6CA-4BBD-46EA-A7B3-E72AECAC3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5A7571D-5459-42A3-87D9-E08B4BE0C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B4890B3-06C4-486F-96A4-7D3A1021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AD987AF-5AB5-4290-A005-0A332A141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A59BDB-013C-41B6-AD82-72A56325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F339B38-DC4C-4F93-8234-7D2245C6E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870A002-8132-4D33-91CE-6B37E61223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77C99B8-60FF-413E-9DFF-ABB4C554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DF70DD6-1A14-4EA5-B8A9-370BD87BB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6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jpeg"/><Relationship Id="rId5" Type="http://schemas.openxmlformats.org/officeDocument/2006/relationships/image" Target="../media/image7.jpeg"/><Relationship Id="rId10" Type="http://schemas.openxmlformats.org/officeDocument/2006/relationships/image" Target="../media/image5.jpeg"/><Relationship Id="rId4" Type="http://schemas.openxmlformats.org/officeDocument/2006/relationships/image" Target="../media/image2.jpeg"/><Relationship Id="rId9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6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jpeg"/><Relationship Id="rId5" Type="http://schemas.openxmlformats.org/officeDocument/2006/relationships/image" Target="../media/image7.jpeg"/><Relationship Id="rId10" Type="http://schemas.openxmlformats.org/officeDocument/2006/relationships/image" Target="../media/image5.jpeg"/><Relationship Id="rId4" Type="http://schemas.openxmlformats.org/officeDocument/2006/relationships/image" Target="../media/image2.jpeg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la_user_photo" descr="用户提供的可口可乐罐图片">
            <a:extLst>
              <a:ext uri="{FF2B5EF4-FFF2-40B4-BE49-F238E27FC236}">
                <a16:creationId xmlns:a16="http://schemas.microsoft.com/office/drawing/2014/main" id="{CBB928EA-22A3-B5D2-F4A6-3A477E588D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43125"/>
            <a:ext cx="2895600" cy="2895600"/>
          </a:xfrm>
          <a:prstGeom prst="rect">
            <a:avLst/>
          </a:prstGeom>
        </p:spPr>
      </p:pic>
      <p:sp>
        <p:nvSpPr>
          <p:cNvPr id="43" name="title">
            <a:extLst>
              <a:ext uri="{FF2B5EF4-FFF2-40B4-BE49-F238E27FC236}">
                <a16:creationId xmlns:a16="http://schemas.microsoft.com/office/drawing/2014/main" id="{5AEFA25B-CD17-4428-8126-933290E8E9D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答错之后，模型改哪里？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F5613C3-0AD4-46EA-A89F-C3DD04B1CC09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EF107DA-20ED-4BB8-BAEE-E64DFA2FBFCA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让机器认出你的饮料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C1_model">
            <a:extLst>
              <a:ext uri="{FF2B5EF4-FFF2-40B4-BE49-F238E27FC236}">
                <a16:creationId xmlns:a16="http://schemas.microsoft.com/office/drawing/2014/main" id="{1AEF3B99-9A13-46E1-B5A7-739C1297D03A}"/>
              </a:ext>
            </a:extLst>
          </p:cNvPr>
          <p:cNvSpPr>
            <a:spLocks noGrp="1"/>
          </p:cNvSpPr>
          <p:nvPr/>
        </p:nvSpPr>
        <p:spPr>
          <a:xfrm>
            <a:off x="4552950" y="19526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7" name="C1_net0">
            <a:extLst>
              <a:ext uri="{FF2B5EF4-FFF2-40B4-BE49-F238E27FC236}">
                <a16:creationId xmlns:a16="http://schemas.microsoft.com/office/drawing/2014/main" id="{0A123B0B-CFFB-4734-A5F8-F9A3F3B3D66A}"/>
              </a:ext>
            </a:extLst>
          </p:cNvPr>
          <p:cNvSpPr>
            <a:spLocks noGrp="1"/>
          </p:cNvSpPr>
          <p:nvPr/>
        </p:nvSpPr>
        <p:spPr>
          <a:xfrm>
            <a:off x="4543425" y="2590800"/>
            <a:ext cx="942975" cy="361950"/>
          </a:xfrm>
          <a:custGeom>
            <a:avLst/>
            <a:gdLst/>
            <a:ahLst/>
            <a:cxnLst/>
            <a:rect l="0" t="0" r="0" b="0"/>
            <a:pathLst>
              <a:path w="942975" h="361950">
                <a:moveTo>
                  <a:pt x="0" y="361950"/>
                </a:moveTo>
                <a:lnTo>
                  <a:pt x="942975" y="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8" name="C1_net1">
            <a:extLst>
              <a:ext uri="{FF2B5EF4-FFF2-40B4-BE49-F238E27FC236}">
                <a16:creationId xmlns:a16="http://schemas.microsoft.com/office/drawing/2014/main" id="{325AB761-1148-4300-A3AC-DD5DDC31F304}"/>
              </a:ext>
            </a:extLst>
          </p:cNvPr>
          <p:cNvSpPr>
            <a:spLocks noGrp="1"/>
          </p:cNvSpPr>
          <p:nvPr/>
        </p:nvSpPr>
        <p:spPr>
          <a:xfrm>
            <a:off x="4543425" y="2952750"/>
            <a:ext cx="942975" cy="438150"/>
          </a:xfrm>
          <a:custGeom>
            <a:avLst/>
            <a:gdLst/>
            <a:ahLst/>
            <a:cxnLst/>
            <a:rect l="0" t="0" r="0" b="0"/>
            <a:pathLst>
              <a:path w="942975" h="438150">
                <a:moveTo>
                  <a:pt x="0" y="0"/>
                </a:moveTo>
                <a:lnTo>
                  <a:pt x="942975" y="43815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9" name="C1_net2">
            <a:extLst>
              <a:ext uri="{FF2B5EF4-FFF2-40B4-BE49-F238E27FC236}">
                <a16:creationId xmlns:a16="http://schemas.microsoft.com/office/drawing/2014/main" id="{12277CEC-F17E-493D-BE07-BB2DD3019283}"/>
              </a:ext>
            </a:extLst>
          </p:cNvPr>
          <p:cNvSpPr>
            <a:spLocks noGrp="1"/>
          </p:cNvSpPr>
          <p:nvPr/>
        </p:nvSpPr>
        <p:spPr>
          <a:xfrm>
            <a:off x="4543425" y="2952750"/>
            <a:ext cx="942975" cy="1238250"/>
          </a:xfrm>
          <a:custGeom>
            <a:avLst/>
            <a:gdLst/>
            <a:ahLst/>
            <a:cxnLst/>
            <a:rect l="0" t="0" r="0" b="0"/>
            <a:pathLst>
              <a:path w="942975" h="1238250">
                <a:moveTo>
                  <a:pt x="0" y="0"/>
                </a:moveTo>
                <a:lnTo>
                  <a:pt x="942975" y="123825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0" name="C1_net3">
            <a:extLst>
              <a:ext uri="{FF2B5EF4-FFF2-40B4-BE49-F238E27FC236}">
                <a16:creationId xmlns:a16="http://schemas.microsoft.com/office/drawing/2014/main" id="{A9387899-A79D-49AE-8FDA-1B6440FA5BCE}"/>
              </a:ext>
            </a:extLst>
          </p:cNvPr>
          <p:cNvSpPr>
            <a:spLocks noGrp="1"/>
          </p:cNvSpPr>
          <p:nvPr/>
        </p:nvSpPr>
        <p:spPr>
          <a:xfrm>
            <a:off x="4543425" y="2590800"/>
            <a:ext cx="942975" cy="1238250"/>
          </a:xfrm>
          <a:custGeom>
            <a:avLst/>
            <a:gdLst/>
            <a:ahLst/>
            <a:cxnLst/>
            <a:rect l="0" t="0" r="0" b="0"/>
            <a:pathLst>
              <a:path w="942975" h="1238250">
                <a:moveTo>
                  <a:pt x="0" y="1238250"/>
                </a:moveTo>
                <a:lnTo>
                  <a:pt x="942975" y="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1" name="C1_net4">
            <a:extLst>
              <a:ext uri="{FF2B5EF4-FFF2-40B4-BE49-F238E27FC236}">
                <a16:creationId xmlns:a16="http://schemas.microsoft.com/office/drawing/2014/main" id="{829845F7-3635-4AA1-8929-4E2106874383}"/>
              </a:ext>
            </a:extLst>
          </p:cNvPr>
          <p:cNvSpPr>
            <a:spLocks noGrp="1"/>
          </p:cNvSpPr>
          <p:nvPr/>
        </p:nvSpPr>
        <p:spPr>
          <a:xfrm>
            <a:off x="4543425" y="3390900"/>
            <a:ext cx="942975" cy="438150"/>
          </a:xfrm>
          <a:custGeom>
            <a:avLst/>
            <a:gdLst/>
            <a:ahLst/>
            <a:cxnLst/>
            <a:rect l="0" t="0" r="0" b="0"/>
            <a:pathLst>
              <a:path w="942975" h="438150">
                <a:moveTo>
                  <a:pt x="0" y="438150"/>
                </a:moveTo>
                <a:lnTo>
                  <a:pt x="942975" y="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2" name="C1_net5">
            <a:extLst>
              <a:ext uri="{FF2B5EF4-FFF2-40B4-BE49-F238E27FC236}">
                <a16:creationId xmlns:a16="http://schemas.microsoft.com/office/drawing/2014/main" id="{B14A688B-36FA-458A-B46F-7ED06A851045}"/>
              </a:ext>
            </a:extLst>
          </p:cNvPr>
          <p:cNvSpPr>
            <a:spLocks noGrp="1"/>
          </p:cNvSpPr>
          <p:nvPr/>
        </p:nvSpPr>
        <p:spPr>
          <a:xfrm>
            <a:off x="4543425" y="3829050"/>
            <a:ext cx="942975" cy="361950"/>
          </a:xfrm>
          <a:custGeom>
            <a:avLst/>
            <a:gdLst/>
            <a:ahLst/>
            <a:cxnLst/>
            <a:rect l="0" t="0" r="0" b="0"/>
            <a:pathLst>
              <a:path w="942975" h="361950">
                <a:moveTo>
                  <a:pt x="0" y="0"/>
                </a:moveTo>
                <a:lnTo>
                  <a:pt x="942975" y="36195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3" name="C1_net6">
            <a:extLst>
              <a:ext uri="{FF2B5EF4-FFF2-40B4-BE49-F238E27FC236}">
                <a16:creationId xmlns:a16="http://schemas.microsoft.com/office/drawing/2014/main" id="{E91D3AB5-60C9-49FA-8431-2015204246A4}"/>
              </a:ext>
            </a:extLst>
          </p:cNvPr>
          <p:cNvSpPr>
            <a:spLocks noGrp="1"/>
          </p:cNvSpPr>
          <p:nvPr/>
        </p:nvSpPr>
        <p:spPr>
          <a:xfrm>
            <a:off x="5486400" y="2590800"/>
            <a:ext cx="942975" cy="361950"/>
          </a:xfrm>
          <a:custGeom>
            <a:avLst/>
            <a:gdLst/>
            <a:ahLst/>
            <a:cxnLst/>
            <a:rect l="0" t="0" r="0" b="0"/>
            <a:pathLst>
              <a:path w="942975" h="361950">
                <a:moveTo>
                  <a:pt x="0" y="0"/>
                </a:moveTo>
                <a:lnTo>
                  <a:pt x="942975" y="36195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4" name="C1_net7">
            <a:extLst>
              <a:ext uri="{FF2B5EF4-FFF2-40B4-BE49-F238E27FC236}">
                <a16:creationId xmlns:a16="http://schemas.microsoft.com/office/drawing/2014/main" id="{DF85911C-FBA0-4D8F-BF82-B8451AB25818}"/>
              </a:ext>
            </a:extLst>
          </p:cNvPr>
          <p:cNvSpPr>
            <a:spLocks noGrp="1"/>
          </p:cNvSpPr>
          <p:nvPr/>
        </p:nvSpPr>
        <p:spPr>
          <a:xfrm>
            <a:off x="5486400" y="2590800"/>
            <a:ext cx="942975" cy="1238250"/>
          </a:xfrm>
          <a:custGeom>
            <a:avLst/>
            <a:gdLst/>
            <a:ahLst/>
            <a:cxnLst/>
            <a:rect l="0" t="0" r="0" b="0"/>
            <a:pathLst>
              <a:path w="942975" h="1238250">
                <a:moveTo>
                  <a:pt x="0" y="0"/>
                </a:moveTo>
                <a:lnTo>
                  <a:pt x="942975" y="123825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5" name="C1_net8">
            <a:extLst>
              <a:ext uri="{FF2B5EF4-FFF2-40B4-BE49-F238E27FC236}">
                <a16:creationId xmlns:a16="http://schemas.microsoft.com/office/drawing/2014/main" id="{832CDF11-9383-4A31-800C-6205F94C23BE}"/>
              </a:ext>
            </a:extLst>
          </p:cNvPr>
          <p:cNvSpPr>
            <a:spLocks noGrp="1"/>
          </p:cNvSpPr>
          <p:nvPr/>
        </p:nvSpPr>
        <p:spPr>
          <a:xfrm>
            <a:off x="5486400" y="2952750"/>
            <a:ext cx="942975" cy="438150"/>
          </a:xfrm>
          <a:custGeom>
            <a:avLst/>
            <a:gdLst/>
            <a:ahLst/>
            <a:cxnLst/>
            <a:rect l="0" t="0" r="0" b="0"/>
            <a:pathLst>
              <a:path w="942975" h="438150">
                <a:moveTo>
                  <a:pt x="0" y="438150"/>
                </a:moveTo>
                <a:lnTo>
                  <a:pt x="942975" y="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6" name="C1_net9">
            <a:extLst>
              <a:ext uri="{FF2B5EF4-FFF2-40B4-BE49-F238E27FC236}">
                <a16:creationId xmlns:a16="http://schemas.microsoft.com/office/drawing/2014/main" id="{969054F1-B44E-48BC-9121-09E6863D0828}"/>
              </a:ext>
            </a:extLst>
          </p:cNvPr>
          <p:cNvSpPr>
            <a:spLocks noGrp="1"/>
          </p:cNvSpPr>
          <p:nvPr/>
        </p:nvSpPr>
        <p:spPr>
          <a:xfrm>
            <a:off x="5486400" y="3390900"/>
            <a:ext cx="942975" cy="438150"/>
          </a:xfrm>
          <a:custGeom>
            <a:avLst/>
            <a:gdLst/>
            <a:ahLst/>
            <a:cxnLst/>
            <a:rect l="0" t="0" r="0" b="0"/>
            <a:pathLst>
              <a:path w="942975" h="438150">
                <a:moveTo>
                  <a:pt x="0" y="0"/>
                </a:moveTo>
                <a:lnTo>
                  <a:pt x="942975" y="43815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7" name="C1_net10">
            <a:extLst>
              <a:ext uri="{FF2B5EF4-FFF2-40B4-BE49-F238E27FC236}">
                <a16:creationId xmlns:a16="http://schemas.microsoft.com/office/drawing/2014/main" id="{29A0529B-F052-4CCA-AB4E-C32F6B5EE3BF}"/>
              </a:ext>
            </a:extLst>
          </p:cNvPr>
          <p:cNvSpPr>
            <a:spLocks noGrp="1"/>
          </p:cNvSpPr>
          <p:nvPr/>
        </p:nvSpPr>
        <p:spPr>
          <a:xfrm>
            <a:off x="5486400" y="2952750"/>
            <a:ext cx="942975" cy="1238250"/>
          </a:xfrm>
          <a:custGeom>
            <a:avLst/>
            <a:gdLst/>
            <a:ahLst/>
            <a:cxnLst/>
            <a:rect l="0" t="0" r="0" b="0"/>
            <a:pathLst>
              <a:path w="942975" h="1238250">
                <a:moveTo>
                  <a:pt x="0" y="1238250"/>
                </a:moveTo>
                <a:lnTo>
                  <a:pt x="942975" y="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8" name="C1_net11">
            <a:extLst>
              <a:ext uri="{FF2B5EF4-FFF2-40B4-BE49-F238E27FC236}">
                <a16:creationId xmlns:a16="http://schemas.microsoft.com/office/drawing/2014/main" id="{A9BFB434-CE5B-46C5-84F9-AE1477008318}"/>
              </a:ext>
            </a:extLst>
          </p:cNvPr>
          <p:cNvSpPr>
            <a:spLocks noGrp="1"/>
          </p:cNvSpPr>
          <p:nvPr/>
        </p:nvSpPr>
        <p:spPr>
          <a:xfrm>
            <a:off x="5486400" y="3829050"/>
            <a:ext cx="942975" cy="361950"/>
          </a:xfrm>
          <a:custGeom>
            <a:avLst/>
            <a:gdLst/>
            <a:ahLst/>
            <a:cxnLst/>
            <a:rect l="0" t="0" r="0" b="0"/>
            <a:pathLst>
              <a:path w="942975" h="361950">
                <a:moveTo>
                  <a:pt x="0" y="361950"/>
                </a:moveTo>
                <a:lnTo>
                  <a:pt x="942975" y="0"/>
                </a:lnTo>
              </a:path>
            </a:pathLst>
          </a:custGeom>
          <a:noFill/>
          <a:ln w="19050">
            <a:solidFill>
              <a:srgbClr val="B1C6EA"/>
            </a:solidFill>
            <a:prstDash val="solid"/>
          </a:ln>
        </p:spPr>
      </p:sp>
      <p:sp>
        <p:nvSpPr>
          <p:cNvPr id="19" name="C1_node12">
            <a:extLst>
              <a:ext uri="{FF2B5EF4-FFF2-40B4-BE49-F238E27FC236}">
                <a16:creationId xmlns:a16="http://schemas.microsoft.com/office/drawing/2014/main" id="{0FCDC060-05E6-4391-9404-3E971CAB57F5}"/>
              </a:ext>
            </a:extLst>
          </p:cNvPr>
          <p:cNvSpPr>
            <a:spLocks noGrp="1"/>
          </p:cNvSpPr>
          <p:nvPr/>
        </p:nvSpPr>
        <p:spPr>
          <a:xfrm>
            <a:off x="4448175" y="2857500"/>
            <a:ext cx="190500" cy="190500"/>
          </a:xfrm>
          <a:prstGeom prst="ellipse">
            <a:avLst/>
          </a:prstGeom>
          <a:solidFill>
            <a:srgbClr val="F7F8FA"/>
          </a:solidFill>
          <a:ln w="28575">
            <a:solidFill>
              <a:srgbClr val="2563EB"/>
            </a:solidFill>
            <a:prstDash val="solid"/>
          </a:ln>
        </p:spPr>
      </p:sp>
      <p:sp>
        <p:nvSpPr>
          <p:cNvPr id="20" name="C1_node13">
            <a:extLst>
              <a:ext uri="{FF2B5EF4-FFF2-40B4-BE49-F238E27FC236}">
                <a16:creationId xmlns:a16="http://schemas.microsoft.com/office/drawing/2014/main" id="{B778F9D8-42CE-4970-A0FF-AF558A6A31EE}"/>
              </a:ext>
            </a:extLst>
          </p:cNvPr>
          <p:cNvSpPr>
            <a:spLocks noGrp="1"/>
          </p:cNvSpPr>
          <p:nvPr/>
        </p:nvSpPr>
        <p:spPr>
          <a:xfrm>
            <a:off x="4448175" y="3733800"/>
            <a:ext cx="190500" cy="190500"/>
          </a:xfrm>
          <a:prstGeom prst="ellipse">
            <a:avLst/>
          </a:prstGeom>
          <a:solidFill>
            <a:srgbClr val="F7F8FA"/>
          </a:solidFill>
          <a:ln w="28575">
            <a:solidFill>
              <a:srgbClr val="2563EB"/>
            </a:solidFill>
            <a:prstDash val="solid"/>
          </a:ln>
        </p:spPr>
      </p:sp>
      <p:sp>
        <p:nvSpPr>
          <p:cNvPr id="21" name="C1_node14">
            <a:extLst>
              <a:ext uri="{FF2B5EF4-FFF2-40B4-BE49-F238E27FC236}">
                <a16:creationId xmlns:a16="http://schemas.microsoft.com/office/drawing/2014/main" id="{EFA0340F-D3E0-4167-BFA2-738B918196EF}"/>
              </a:ext>
            </a:extLst>
          </p:cNvPr>
          <p:cNvSpPr>
            <a:spLocks noGrp="1"/>
          </p:cNvSpPr>
          <p:nvPr/>
        </p:nvSpPr>
        <p:spPr>
          <a:xfrm>
            <a:off x="5391150" y="2495550"/>
            <a:ext cx="190500" cy="190500"/>
          </a:xfrm>
          <a:prstGeom prst="ellipse">
            <a:avLst/>
          </a:prstGeom>
          <a:solidFill>
            <a:srgbClr val="F7F8FA"/>
          </a:solidFill>
          <a:ln w="28575">
            <a:solidFill>
              <a:srgbClr val="2563EB"/>
            </a:solidFill>
            <a:prstDash val="solid"/>
          </a:ln>
        </p:spPr>
      </p:sp>
      <p:sp>
        <p:nvSpPr>
          <p:cNvPr id="22" name="C1_node15">
            <a:extLst>
              <a:ext uri="{FF2B5EF4-FFF2-40B4-BE49-F238E27FC236}">
                <a16:creationId xmlns:a16="http://schemas.microsoft.com/office/drawing/2014/main" id="{7054C838-1F88-4C3B-89B0-69D4EBAA95AD}"/>
              </a:ext>
            </a:extLst>
          </p:cNvPr>
          <p:cNvSpPr>
            <a:spLocks noGrp="1"/>
          </p:cNvSpPr>
          <p:nvPr/>
        </p:nvSpPr>
        <p:spPr>
          <a:xfrm>
            <a:off x="5391150" y="3295650"/>
            <a:ext cx="190500" cy="190500"/>
          </a:xfrm>
          <a:prstGeom prst="ellipse">
            <a:avLst/>
          </a:prstGeom>
          <a:solidFill>
            <a:srgbClr val="F7F8FA"/>
          </a:solidFill>
          <a:ln w="28575">
            <a:solidFill>
              <a:srgbClr val="2563EB"/>
            </a:solidFill>
            <a:prstDash val="solid"/>
          </a:ln>
        </p:spPr>
      </p:sp>
      <p:sp>
        <p:nvSpPr>
          <p:cNvPr id="23" name="C1_node16">
            <a:extLst>
              <a:ext uri="{FF2B5EF4-FFF2-40B4-BE49-F238E27FC236}">
                <a16:creationId xmlns:a16="http://schemas.microsoft.com/office/drawing/2014/main" id="{B34FB04F-0AE5-4648-8E79-A644AF56E6D0}"/>
              </a:ext>
            </a:extLst>
          </p:cNvPr>
          <p:cNvSpPr>
            <a:spLocks noGrp="1"/>
          </p:cNvSpPr>
          <p:nvPr/>
        </p:nvSpPr>
        <p:spPr>
          <a:xfrm>
            <a:off x="5391150" y="4095750"/>
            <a:ext cx="190500" cy="190500"/>
          </a:xfrm>
          <a:prstGeom prst="ellipse">
            <a:avLst/>
          </a:prstGeom>
          <a:solidFill>
            <a:srgbClr val="F7F8FA"/>
          </a:solidFill>
          <a:ln w="28575">
            <a:solidFill>
              <a:srgbClr val="2563EB"/>
            </a:solidFill>
            <a:prstDash val="solid"/>
          </a:ln>
        </p:spPr>
      </p:sp>
      <p:sp>
        <p:nvSpPr>
          <p:cNvPr id="24" name="C1_node17">
            <a:extLst>
              <a:ext uri="{FF2B5EF4-FFF2-40B4-BE49-F238E27FC236}">
                <a16:creationId xmlns:a16="http://schemas.microsoft.com/office/drawing/2014/main" id="{725BFDB7-7503-44C1-A79E-448BCC48A991}"/>
              </a:ext>
            </a:extLst>
          </p:cNvPr>
          <p:cNvSpPr>
            <a:spLocks noGrp="1"/>
          </p:cNvSpPr>
          <p:nvPr/>
        </p:nvSpPr>
        <p:spPr>
          <a:xfrm>
            <a:off x="6334125" y="2857500"/>
            <a:ext cx="190500" cy="190500"/>
          </a:xfrm>
          <a:prstGeom prst="ellipse">
            <a:avLst/>
          </a:prstGeom>
          <a:solidFill>
            <a:srgbClr val="F7F8FA"/>
          </a:solidFill>
          <a:ln w="28575">
            <a:solidFill>
              <a:srgbClr val="2563EB"/>
            </a:solidFill>
            <a:prstDash val="solid"/>
          </a:ln>
        </p:spPr>
      </p:sp>
      <p:sp>
        <p:nvSpPr>
          <p:cNvPr id="25" name="C1_node18">
            <a:extLst>
              <a:ext uri="{FF2B5EF4-FFF2-40B4-BE49-F238E27FC236}">
                <a16:creationId xmlns:a16="http://schemas.microsoft.com/office/drawing/2014/main" id="{32AC7240-DD3E-4D65-B2AB-63562F7FED00}"/>
              </a:ext>
            </a:extLst>
          </p:cNvPr>
          <p:cNvSpPr>
            <a:spLocks noGrp="1"/>
          </p:cNvSpPr>
          <p:nvPr/>
        </p:nvSpPr>
        <p:spPr>
          <a:xfrm>
            <a:off x="6334125" y="3733800"/>
            <a:ext cx="190500" cy="190500"/>
          </a:xfrm>
          <a:prstGeom prst="ellipse">
            <a:avLst/>
          </a:prstGeom>
          <a:solidFill>
            <a:srgbClr val="F7F8FA"/>
          </a:solidFill>
          <a:ln w="28575">
            <a:solidFill>
              <a:srgbClr val="2563EB"/>
            </a:solidFill>
            <a:prstDash val="solid"/>
          </a:ln>
        </p:spPr>
      </p:sp>
      <p:sp>
        <p:nvSpPr>
          <p:cNvPr id="26" name="C1_input">
            <a:extLst>
              <a:ext uri="{FF2B5EF4-FFF2-40B4-BE49-F238E27FC236}">
                <a16:creationId xmlns:a16="http://schemas.microsoft.com/office/drawing/2014/main" id="{448ABD6F-9538-4390-B61D-71207546C120}"/>
              </a:ext>
            </a:extLst>
          </p:cNvPr>
          <p:cNvSpPr>
            <a:spLocks noGrp="1"/>
          </p:cNvSpPr>
          <p:nvPr/>
        </p:nvSpPr>
        <p:spPr>
          <a:xfrm>
            <a:off x="3609975" y="3390900"/>
            <a:ext cx="638175" cy="9525"/>
          </a:xfrm>
          <a:custGeom>
            <a:avLst/>
            <a:gdLst/>
            <a:ahLst/>
            <a:cxnLst/>
            <a:rect l="0" t="0" r="0" b="0"/>
            <a:pathLst>
              <a:path w="638175" h="9525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27" name="C1_input_a">
            <a:extLst>
              <a:ext uri="{FF2B5EF4-FFF2-40B4-BE49-F238E27FC236}">
                <a16:creationId xmlns:a16="http://schemas.microsoft.com/office/drawing/2014/main" id="{BEC7E420-A842-44EC-8D71-052C6EF9126F}"/>
              </a:ext>
            </a:extLst>
          </p:cNvPr>
          <p:cNvSpPr>
            <a:spLocks noGrp="1"/>
          </p:cNvSpPr>
          <p:nvPr/>
        </p:nvSpPr>
        <p:spPr>
          <a:xfrm>
            <a:off x="4147842" y="33909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28" name="C1_input_b">
            <a:extLst>
              <a:ext uri="{FF2B5EF4-FFF2-40B4-BE49-F238E27FC236}">
                <a16:creationId xmlns:a16="http://schemas.microsoft.com/office/drawing/2014/main" id="{ED1F1F84-61D3-42C9-B6B9-D81FBE1EA30C}"/>
              </a:ext>
            </a:extLst>
          </p:cNvPr>
          <p:cNvSpPr>
            <a:spLocks noGrp="1"/>
          </p:cNvSpPr>
          <p:nvPr/>
        </p:nvSpPr>
        <p:spPr>
          <a:xfrm>
            <a:off x="4147842" y="33361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29" name="C1_output">
            <a:extLst>
              <a:ext uri="{FF2B5EF4-FFF2-40B4-BE49-F238E27FC236}">
                <a16:creationId xmlns:a16="http://schemas.microsoft.com/office/drawing/2014/main" id="{55BD9D35-52A8-423B-8916-499330259125}"/>
              </a:ext>
            </a:extLst>
          </p:cNvPr>
          <p:cNvSpPr>
            <a:spLocks noGrp="1"/>
          </p:cNvSpPr>
          <p:nvPr/>
        </p:nvSpPr>
        <p:spPr>
          <a:xfrm>
            <a:off x="6724650" y="3390900"/>
            <a:ext cx="742950" cy="9525"/>
          </a:xfrm>
          <a:custGeom>
            <a:avLst/>
            <a:gdLst/>
            <a:ahLst/>
            <a:cxnLst/>
            <a:rect l="0" t="0" r="0" b="0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0" name="C1_output_a">
            <a:extLst>
              <a:ext uri="{FF2B5EF4-FFF2-40B4-BE49-F238E27FC236}">
                <a16:creationId xmlns:a16="http://schemas.microsoft.com/office/drawing/2014/main" id="{97CDE126-91A5-4D38-914C-B2728135C88B}"/>
              </a:ext>
            </a:extLst>
          </p:cNvPr>
          <p:cNvSpPr>
            <a:spLocks noGrp="1"/>
          </p:cNvSpPr>
          <p:nvPr/>
        </p:nvSpPr>
        <p:spPr>
          <a:xfrm>
            <a:off x="7367292" y="33909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1" name="C1_output_b">
            <a:extLst>
              <a:ext uri="{FF2B5EF4-FFF2-40B4-BE49-F238E27FC236}">
                <a16:creationId xmlns:a16="http://schemas.microsoft.com/office/drawing/2014/main" id="{E721BA80-E80C-459C-A94B-8E600FBA2DF5}"/>
              </a:ext>
            </a:extLst>
          </p:cNvPr>
          <p:cNvSpPr>
            <a:spLocks noGrp="1"/>
          </p:cNvSpPr>
          <p:nvPr/>
        </p:nvSpPr>
        <p:spPr>
          <a:xfrm>
            <a:off x="7367292" y="33361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2" name="C1_scores">
            <a:extLst>
              <a:ext uri="{FF2B5EF4-FFF2-40B4-BE49-F238E27FC236}">
                <a16:creationId xmlns:a16="http://schemas.microsoft.com/office/drawing/2014/main" id="{881D03F9-7EFC-47D1-9237-8621A256AE35}"/>
              </a:ext>
            </a:extLst>
          </p:cNvPr>
          <p:cNvSpPr>
            <a:spLocks noGrp="1"/>
          </p:cNvSpPr>
          <p:nvPr/>
        </p:nvSpPr>
        <p:spPr>
          <a:xfrm>
            <a:off x="7886700" y="19526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预测分数</a:t>
            </a:r>
          </a:p>
        </p:txBody>
      </p:sp>
      <p:sp>
        <p:nvSpPr>
          <p:cNvPr id="34" name="C1_label0">
            <a:extLst>
              <a:ext uri="{FF2B5EF4-FFF2-40B4-BE49-F238E27FC236}">
                <a16:creationId xmlns:a16="http://schemas.microsoft.com/office/drawing/2014/main" id="{3D02EA4B-EDB6-43A5-9173-AE21B6477A66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可乐</a:t>
            </a:r>
          </a:p>
        </p:txBody>
      </p:sp>
      <p:sp>
        <p:nvSpPr>
          <p:cNvPr id="35" name="C1_bar0">
            <a:extLst>
              <a:ext uri="{FF2B5EF4-FFF2-40B4-BE49-F238E27FC236}">
                <a16:creationId xmlns:a16="http://schemas.microsoft.com/office/drawing/2014/main" id="{2D92410C-98E2-458D-8424-FD6F9BB282CE}"/>
              </a:ext>
            </a:extLst>
          </p:cNvPr>
          <p:cNvSpPr>
            <a:spLocks noGrp="1"/>
          </p:cNvSpPr>
          <p:nvPr/>
        </p:nvSpPr>
        <p:spPr>
          <a:xfrm>
            <a:off x="8753475" y="2695575"/>
            <a:ext cx="609600" cy="228600"/>
          </a:xfrm>
          <a:prstGeom prst="rect">
            <a:avLst/>
          </a:prstGeom>
          <a:solidFill>
            <a:srgbClr val="BFCBDA"/>
          </a:solidFill>
          <a:ln w="0">
            <a:noFill/>
            <a:prstDash val="solid"/>
          </a:ln>
        </p:spPr>
      </p:sp>
      <p:sp>
        <p:nvSpPr>
          <p:cNvPr id="36" name="C1_label1">
            <a:extLst>
              <a:ext uri="{FF2B5EF4-FFF2-40B4-BE49-F238E27FC236}">
                <a16:creationId xmlns:a16="http://schemas.microsoft.com/office/drawing/2014/main" id="{E90FD9C8-3F35-4E90-A249-67E9A20385C3}"/>
              </a:ext>
            </a:extLst>
          </p:cNvPr>
          <p:cNvSpPr>
            <a:spLocks noGrp="1"/>
          </p:cNvSpPr>
          <p:nvPr/>
        </p:nvSpPr>
        <p:spPr>
          <a:xfrm>
            <a:off x="7886700" y="335280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雪碧</a:t>
            </a:r>
          </a:p>
        </p:txBody>
      </p:sp>
      <p:sp>
        <p:nvSpPr>
          <p:cNvPr id="37" name="C1_bar1">
            <a:extLst>
              <a:ext uri="{FF2B5EF4-FFF2-40B4-BE49-F238E27FC236}">
                <a16:creationId xmlns:a16="http://schemas.microsoft.com/office/drawing/2014/main" id="{19401BAE-286D-4306-9A6A-0974EA06C62D}"/>
              </a:ext>
            </a:extLst>
          </p:cNvPr>
          <p:cNvSpPr>
            <a:spLocks noGrp="1"/>
          </p:cNvSpPr>
          <p:nvPr/>
        </p:nvSpPr>
        <p:spPr>
          <a:xfrm>
            <a:off x="8753475" y="3409950"/>
            <a:ext cx="952500" cy="228600"/>
          </a:xfrm>
          <a:prstGeom prst="rect">
            <a:avLst/>
          </a:prstGeom>
          <a:solidFill>
            <a:srgbClr val="BFCBDA"/>
          </a:solidFill>
          <a:ln w="0">
            <a:noFill/>
            <a:prstDash val="solid"/>
          </a:ln>
        </p:spPr>
      </p:sp>
      <p:sp>
        <p:nvSpPr>
          <p:cNvPr id="38" name="C1_label2">
            <a:extLst>
              <a:ext uri="{FF2B5EF4-FFF2-40B4-BE49-F238E27FC236}">
                <a16:creationId xmlns:a16="http://schemas.microsoft.com/office/drawing/2014/main" id="{DDFFEE7C-64EC-4B00-BC63-91339AD1DA1B}"/>
              </a:ext>
            </a:extLst>
          </p:cNvPr>
          <p:cNvSpPr>
            <a:spLocks noGrp="1"/>
          </p:cNvSpPr>
          <p:nvPr/>
        </p:nvSpPr>
        <p:spPr>
          <a:xfrm>
            <a:off x="7886700" y="4067175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芬达</a:t>
            </a:r>
          </a:p>
        </p:txBody>
      </p:sp>
      <p:sp>
        <p:nvSpPr>
          <p:cNvPr id="39" name="C1_bar2">
            <a:extLst>
              <a:ext uri="{FF2B5EF4-FFF2-40B4-BE49-F238E27FC236}">
                <a16:creationId xmlns:a16="http://schemas.microsoft.com/office/drawing/2014/main" id="{AD1F334B-F088-4EF7-AA89-A9BCED9C58C2}"/>
              </a:ext>
            </a:extLst>
          </p:cNvPr>
          <p:cNvSpPr>
            <a:spLocks noGrp="1"/>
          </p:cNvSpPr>
          <p:nvPr/>
        </p:nvSpPr>
        <p:spPr>
          <a:xfrm>
            <a:off x="8753475" y="4124325"/>
            <a:ext cx="2247900" cy="228600"/>
          </a:xfrm>
          <a:prstGeom prst="rect">
            <a:avLst/>
          </a:prstGeom>
          <a:solidFill>
            <a:srgbClr val="C65D16"/>
          </a:solidFill>
          <a:ln w="0">
            <a:noFill/>
            <a:prstDash val="solid"/>
          </a:ln>
        </p:spPr>
      </p:sp>
      <p:sp>
        <p:nvSpPr>
          <p:cNvPr id="40" name="C1_wrong">
            <a:extLst>
              <a:ext uri="{FF2B5EF4-FFF2-40B4-BE49-F238E27FC236}">
                <a16:creationId xmlns:a16="http://schemas.microsoft.com/office/drawing/2014/main" id="{D7BB3486-12D1-47EB-9C4A-5642783D1485}"/>
              </a:ext>
            </a:extLst>
          </p:cNvPr>
          <p:cNvSpPr>
            <a:spLocks noGrp="1"/>
          </p:cNvSpPr>
          <p:nvPr/>
        </p:nvSpPr>
        <p:spPr>
          <a:xfrm>
            <a:off x="7877175" y="49530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当前预测：芬达</a:t>
            </a:r>
          </a:p>
        </p:txBody>
      </p:sp>
      <p:sp>
        <p:nvSpPr>
          <p:cNvPr id="41" name="C2_truth">
            <a:extLst>
              <a:ext uri="{FF2B5EF4-FFF2-40B4-BE49-F238E27FC236}">
                <a16:creationId xmlns:a16="http://schemas.microsoft.com/office/drawing/2014/main" id="{0E9FBEB2-0713-4C2E-98BB-FD4C4A5514BD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真实类别：可乐</a:t>
            </a:r>
          </a:p>
        </p:txBody>
      </p:sp>
      <p:sp>
        <p:nvSpPr>
          <p:cNvPr id="42" name="C3_questions">
            <a:extLst>
              <a:ext uri="{FF2B5EF4-FFF2-40B4-BE49-F238E27FC236}">
                <a16:creationId xmlns:a16="http://schemas.microsoft.com/office/drawing/2014/main" id="{A20C16EE-67F2-4039-B855-B4E695C665D9}"/>
              </a:ext>
            </a:extLst>
          </p:cNvPr>
          <p:cNvSpPr>
            <a:spLocks noGrp="1"/>
          </p:cNvSpPr>
          <p:nvPr/>
        </p:nvSpPr>
        <p:spPr>
          <a:xfrm>
            <a:off x="4486275" y="5619750"/>
            <a:ext cx="70961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32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改哪个参数</a:t>
            </a:r>
            <a:r>
              <a:rPr sz="2325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？   </a:t>
            </a:r>
            <a:r>
              <a:rPr sz="2325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往哪边改</a:t>
            </a:r>
            <a:r>
              <a:rPr sz="2325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？   </a:t>
            </a:r>
            <a:r>
              <a:rPr sz="2325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改多少</a:t>
            </a:r>
            <a:r>
              <a:rPr sz="2325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275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/>
      <p:bldP spid="34" grpId="0"/>
      <p:bldP spid="36" grpId="0"/>
      <p:bldP spid="38" grpId="0"/>
      <p:bldP spid="40" grpId="0"/>
      <p:bldP spid="41" grpId="0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>
            <a:extLst>
              <a:ext uri="{FF2B5EF4-FFF2-40B4-BE49-F238E27FC236}">
                <a16:creationId xmlns:a16="http://schemas.microsoft.com/office/drawing/2014/main" id="{316EFA6B-6CAF-426A-AEA2-5A33E57490E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一轮训练的全貌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14B14CF6-DF78-469C-AAAD-A248C4EF943E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4B8B62D-95CF-4E31-AF2D-8B9F54117D4D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先预测，再比较，再算调整依据，最后改参数</a:t>
            </a:r>
            <a:endParaRPr sz="202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basedata_num">
            <a:extLst>
              <a:ext uri="{FF2B5EF4-FFF2-40B4-BE49-F238E27FC236}">
                <a16:creationId xmlns:a16="http://schemas.microsoft.com/office/drawing/2014/main" id="{6C5C2372-6256-47C1-8D73-5424BA7A50E1}"/>
              </a:ext>
            </a:extLst>
          </p:cNvPr>
          <p:cNvSpPr>
            <a:spLocks noGrp="1"/>
          </p:cNvSpPr>
          <p:nvPr/>
        </p:nvSpPr>
        <p:spPr>
          <a:xfrm>
            <a:off x="742950" y="24479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basedata_label">
            <a:extLst>
              <a:ext uri="{FF2B5EF4-FFF2-40B4-BE49-F238E27FC236}">
                <a16:creationId xmlns:a16="http://schemas.microsoft.com/office/drawing/2014/main" id="{5A165B67-ED07-4A1B-B71C-AAF2084439A2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一批图片</a:t>
            </a:r>
          </a:p>
        </p:txBody>
      </p:sp>
      <p:sp>
        <p:nvSpPr>
          <p:cNvPr id="6" name="basemodel_num">
            <a:extLst>
              <a:ext uri="{FF2B5EF4-FFF2-40B4-BE49-F238E27FC236}">
                <a16:creationId xmlns:a16="http://schemas.microsoft.com/office/drawing/2014/main" id="{890274ED-AB0D-44A2-A8DF-A83E2AA14828}"/>
              </a:ext>
            </a:extLst>
          </p:cNvPr>
          <p:cNvSpPr>
            <a:spLocks noGrp="1"/>
          </p:cNvSpPr>
          <p:nvPr/>
        </p:nvSpPr>
        <p:spPr>
          <a:xfrm>
            <a:off x="4133850" y="24479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basemodel_label">
            <a:extLst>
              <a:ext uri="{FF2B5EF4-FFF2-40B4-BE49-F238E27FC236}">
                <a16:creationId xmlns:a16="http://schemas.microsoft.com/office/drawing/2014/main" id="{9FC628B2-A1C6-409B-B7A3-AF5D4FC8C4F2}"/>
              </a:ext>
            </a:extLst>
          </p:cNvPr>
          <p:cNvSpPr>
            <a:spLocks noGrp="1"/>
          </p:cNvSpPr>
          <p:nvPr/>
        </p:nvSpPr>
        <p:spPr>
          <a:xfrm>
            <a:off x="4133850" y="28575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模型给出预测</a:t>
            </a:r>
          </a:p>
        </p:txBody>
      </p:sp>
      <p:sp>
        <p:nvSpPr>
          <p:cNvPr id="8" name="basein">
            <a:extLst>
              <a:ext uri="{FF2B5EF4-FFF2-40B4-BE49-F238E27FC236}">
                <a16:creationId xmlns:a16="http://schemas.microsoft.com/office/drawing/2014/main" id="{B204382C-4792-406C-A290-22B80F3ADAB4}"/>
              </a:ext>
            </a:extLst>
          </p:cNvPr>
          <p:cNvSpPr>
            <a:spLocks noGrp="1"/>
          </p:cNvSpPr>
          <p:nvPr/>
        </p:nvSpPr>
        <p:spPr>
          <a:xfrm>
            <a:off x="2657475" y="3076575"/>
            <a:ext cx="1143000" cy="9525"/>
          </a:xfrm>
          <a:custGeom>
            <a:avLst/>
            <a:gdLst/>
            <a:ahLst/>
            <a:cxnLst/>
            <a:rect l="0" t="0" r="0" b="0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9" name="basein_a">
            <a:extLst>
              <a:ext uri="{FF2B5EF4-FFF2-40B4-BE49-F238E27FC236}">
                <a16:creationId xmlns:a16="http://schemas.microsoft.com/office/drawing/2014/main" id="{6525E2A9-2DC8-4B53-B55B-90E3B218296B}"/>
              </a:ext>
            </a:extLst>
          </p:cNvPr>
          <p:cNvSpPr>
            <a:spLocks noGrp="1"/>
          </p:cNvSpPr>
          <p:nvPr/>
        </p:nvSpPr>
        <p:spPr>
          <a:xfrm>
            <a:off x="3700167" y="30765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0" name="basein_b">
            <a:extLst>
              <a:ext uri="{FF2B5EF4-FFF2-40B4-BE49-F238E27FC236}">
                <a16:creationId xmlns:a16="http://schemas.microsoft.com/office/drawing/2014/main" id="{F24FF52D-6DDB-443A-A8A2-668AB67E9F71}"/>
              </a:ext>
            </a:extLst>
          </p:cNvPr>
          <p:cNvSpPr>
            <a:spLocks noGrp="1"/>
          </p:cNvSpPr>
          <p:nvPr/>
        </p:nvSpPr>
        <p:spPr>
          <a:xfrm>
            <a:off x="3700167" y="30217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1" name="baseout">
            <a:extLst>
              <a:ext uri="{FF2B5EF4-FFF2-40B4-BE49-F238E27FC236}">
                <a16:creationId xmlns:a16="http://schemas.microsoft.com/office/drawing/2014/main" id="{A78B2BC9-BA92-4370-9D60-DA4F55340AD9}"/>
              </a:ext>
            </a:extLst>
          </p:cNvPr>
          <p:cNvSpPr>
            <a:spLocks noGrp="1"/>
          </p:cNvSpPr>
          <p:nvPr/>
        </p:nvSpPr>
        <p:spPr>
          <a:xfrm>
            <a:off x="7105650" y="3076575"/>
            <a:ext cx="1657350" cy="9525"/>
          </a:xfrm>
          <a:custGeom>
            <a:avLst/>
            <a:gdLst/>
            <a:ahLst/>
            <a:cxnLst/>
            <a:rect l="0" t="0" r="0" b="0"/>
            <a:pathLst>
              <a:path w="1657350" h="9525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2" name="baseout_a">
            <a:extLst>
              <a:ext uri="{FF2B5EF4-FFF2-40B4-BE49-F238E27FC236}">
                <a16:creationId xmlns:a16="http://schemas.microsoft.com/office/drawing/2014/main" id="{AF1D5C82-D6C6-4398-99C8-6437FDC07E18}"/>
              </a:ext>
            </a:extLst>
          </p:cNvPr>
          <p:cNvSpPr>
            <a:spLocks noGrp="1"/>
          </p:cNvSpPr>
          <p:nvPr/>
        </p:nvSpPr>
        <p:spPr>
          <a:xfrm>
            <a:off x="8662692" y="30765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3" name="baseout_b">
            <a:extLst>
              <a:ext uri="{FF2B5EF4-FFF2-40B4-BE49-F238E27FC236}">
                <a16:creationId xmlns:a16="http://schemas.microsoft.com/office/drawing/2014/main" id="{D4BDEA2B-4135-4F30-802C-4A2C0A1BCD08}"/>
              </a:ext>
            </a:extLst>
          </p:cNvPr>
          <p:cNvSpPr>
            <a:spLocks noGrp="1"/>
          </p:cNvSpPr>
          <p:nvPr/>
        </p:nvSpPr>
        <p:spPr>
          <a:xfrm>
            <a:off x="8662692" y="30217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4" name="baseLoss_num">
            <a:extLst>
              <a:ext uri="{FF2B5EF4-FFF2-40B4-BE49-F238E27FC236}">
                <a16:creationId xmlns:a16="http://schemas.microsoft.com/office/drawing/2014/main" id="{225C5882-68AC-4CDE-802A-CC57F2661E72}"/>
              </a:ext>
            </a:extLst>
          </p:cNvPr>
          <p:cNvSpPr>
            <a:spLocks noGrp="1"/>
          </p:cNvSpPr>
          <p:nvPr/>
        </p:nvSpPr>
        <p:spPr>
          <a:xfrm>
            <a:off x="9153525" y="24479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baseLoss_label">
            <a:extLst>
              <a:ext uri="{FF2B5EF4-FFF2-40B4-BE49-F238E27FC236}">
                <a16:creationId xmlns:a16="http://schemas.microsoft.com/office/drawing/2014/main" id="{BA88AE7E-DA8B-4A2F-98B4-B0392919008C}"/>
              </a:ext>
            </a:extLst>
          </p:cNvPr>
          <p:cNvSpPr>
            <a:spLocks noGrp="1"/>
          </p:cNvSpPr>
          <p:nvPr/>
        </p:nvSpPr>
        <p:spPr>
          <a:xfrm>
            <a:off x="9153525" y="2857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与目标比较</a:t>
            </a:r>
          </a:p>
        </p:txBody>
      </p:sp>
      <p:sp>
        <p:nvSpPr>
          <p:cNvPr id="16" name="baseGrad_num">
            <a:extLst>
              <a:ext uri="{FF2B5EF4-FFF2-40B4-BE49-F238E27FC236}">
                <a16:creationId xmlns:a16="http://schemas.microsoft.com/office/drawing/2014/main" id="{DDC6D361-671E-4C9F-89EA-AC4029CEEAA9}"/>
              </a:ext>
            </a:extLst>
          </p:cNvPr>
          <p:cNvSpPr>
            <a:spLocks noGrp="1"/>
          </p:cNvSpPr>
          <p:nvPr/>
        </p:nvSpPr>
        <p:spPr>
          <a:xfrm>
            <a:off x="8943975" y="43148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baseGrad_label">
            <a:extLst>
              <a:ext uri="{FF2B5EF4-FFF2-40B4-BE49-F238E27FC236}">
                <a16:creationId xmlns:a16="http://schemas.microsoft.com/office/drawing/2014/main" id="{1B9FF51E-6653-48E0-A41D-803A5B3EC635}"/>
              </a:ext>
            </a:extLst>
          </p:cNvPr>
          <p:cNvSpPr>
            <a:spLocks noGrp="1"/>
          </p:cNvSpPr>
          <p:nvPr/>
        </p:nvSpPr>
        <p:spPr>
          <a:xfrm>
            <a:off x="8943975" y="47244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计算调整依据</a:t>
            </a:r>
          </a:p>
        </p:txBody>
      </p:sp>
      <p:sp>
        <p:nvSpPr>
          <p:cNvPr id="18" name="baseUpdate_num">
            <a:extLst>
              <a:ext uri="{FF2B5EF4-FFF2-40B4-BE49-F238E27FC236}">
                <a16:creationId xmlns:a16="http://schemas.microsoft.com/office/drawing/2014/main" id="{72CF0D04-2CEC-4D5D-A761-9B9C425B93D0}"/>
              </a:ext>
            </a:extLst>
          </p:cNvPr>
          <p:cNvSpPr>
            <a:spLocks noGrp="1"/>
          </p:cNvSpPr>
          <p:nvPr/>
        </p:nvSpPr>
        <p:spPr>
          <a:xfrm>
            <a:off x="4143375" y="431482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baseUpdate_label">
            <a:extLst>
              <a:ext uri="{FF2B5EF4-FFF2-40B4-BE49-F238E27FC236}">
                <a16:creationId xmlns:a16="http://schemas.microsoft.com/office/drawing/2014/main" id="{23640C51-6548-45DF-AF11-059D4E97AC8E}"/>
              </a:ext>
            </a:extLst>
          </p:cNvPr>
          <p:cNvSpPr>
            <a:spLocks noGrp="1"/>
          </p:cNvSpPr>
          <p:nvPr/>
        </p:nvSpPr>
        <p:spPr>
          <a:xfrm>
            <a:off x="4143375" y="472440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更新参数</a:t>
            </a:r>
          </a:p>
        </p:txBody>
      </p:sp>
      <p:sp>
        <p:nvSpPr>
          <p:cNvPr id="20" name="baseDown">
            <a:extLst>
              <a:ext uri="{FF2B5EF4-FFF2-40B4-BE49-F238E27FC236}">
                <a16:creationId xmlns:a16="http://schemas.microsoft.com/office/drawing/2014/main" id="{381C3BDE-F8D5-4947-B0A4-E9A8F907B9BD}"/>
              </a:ext>
            </a:extLst>
          </p:cNvPr>
          <p:cNvSpPr>
            <a:spLocks noGrp="1"/>
          </p:cNvSpPr>
          <p:nvPr/>
        </p:nvSpPr>
        <p:spPr>
          <a:xfrm>
            <a:off x="10134600" y="3533775"/>
            <a:ext cx="9525" cy="685800"/>
          </a:xfrm>
          <a:custGeom>
            <a:avLst/>
            <a:gdLst/>
            <a:ahLst/>
            <a:cxnLst/>
            <a:rect l="0" t="0" r="0" b="0"/>
            <a:pathLst>
              <a:path w="952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1" name="baseDown_a">
            <a:extLst>
              <a:ext uri="{FF2B5EF4-FFF2-40B4-BE49-F238E27FC236}">
                <a16:creationId xmlns:a16="http://schemas.microsoft.com/office/drawing/2014/main" id="{89E4F257-09E5-4130-9C2A-A0E38A4EEEAF}"/>
              </a:ext>
            </a:extLst>
          </p:cNvPr>
          <p:cNvSpPr>
            <a:spLocks noGrp="1"/>
          </p:cNvSpPr>
          <p:nvPr/>
        </p:nvSpPr>
        <p:spPr>
          <a:xfrm>
            <a:off x="10079802" y="411926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2" name="baseDown_b">
            <a:extLst>
              <a:ext uri="{FF2B5EF4-FFF2-40B4-BE49-F238E27FC236}">
                <a16:creationId xmlns:a16="http://schemas.microsoft.com/office/drawing/2014/main" id="{BBAEF057-B0F5-4BEC-8ABC-B5AD9EF71CEF}"/>
              </a:ext>
            </a:extLst>
          </p:cNvPr>
          <p:cNvSpPr>
            <a:spLocks noGrp="1"/>
          </p:cNvSpPr>
          <p:nvPr/>
        </p:nvSpPr>
        <p:spPr>
          <a:xfrm>
            <a:off x="10134600" y="411926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3" name="baseBack">
            <a:extLst>
              <a:ext uri="{FF2B5EF4-FFF2-40B4-BE49-F238E27FC236}">
                <a16:creationId xmlns:a16="http://schemas.microsoft.com/office/drawing/2014/main" id="{8948A7A2-230C-45EC-A3BF-83F9108AC2CE}"/>
              </a:ext>
            </a:extLst>
          </p:cNvPr>
          <p:cNvSpPr>
            <a:spLocks noGrp="1"/>
          </p:cNvSpPr>
          <p:nvPr/>
        </p:nvSpPr>
        <p:spPr>
          <a:xfrm>
            <a:off x="6791325" y="4943475"/>
            <a:ext cx="1933575" cy="9525"/>
          </a:xfrm>
          <a:custGeom>
            <a:avLst/>
            <a:gdLst/>
            <a:ahLst/>
            <a:cxnLst/>
            <a:rect l="0" t="0" r="0" b="0"/>
            <a:pathLst>
              <a:path w="1933575" h="9525">
                <a:moveTo>
                  <a:pt x="1933575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4" name="baseBack_a">
            <a:extLst>
              <a:ext uri="{FF2B5EF4-FFF2-40B4-BE49-F238E27FC236}">
                <a16:creationId xmlns:a16="http://schemas.microsoft.com/office/drawing/2014/main" id="{6885B8FA-489B-4055-A7D0-7193A2833F35}"/>
              </a:ext>
            </a:extLst>
          </p:cNvPr>
          <p:cNvSpPr>
            <a:spLocks noGrp="1"/>
          </p:cNvSpPr>
          <p:nvPr/>
        </p:nvSpPr>
        <p:spPr>
          <a:xfrm>
            <a:off x="6791325" y="48886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5" name="baseBack_b">
            <a:extLst>
              <a:ext uri="{FF2B5EF4-FFF2-40B4-BE49-F238E27FC236}">
                <a16:creationId xmlns:a16="http://schemas.microsoft.com/office/drawing/2014/main" id="{AB38C570-F73E-4165-9663-EC0AD227033B}"/>
              </a:ext>
            </a:extLst>
          </p:cNvPr>
          <p:cNvSpPr>
            <a:spLocks noGrp="1"/>
          </p:cNvSpPr>
          <p:nvPr/>
        </p:nvSpPr>
        <p:spPr>
          <a:xfrm>
            <a:off x="6791325" y="49434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6" name="baseUp">
            <a:extLst>
              <a:ext uri="{FF2B5EF4-FFF2-40B4-BE49-F238E27FC236}">
                <a16:creationId xmlns:a16="http://schemas.microsoft.com/office/drawing/2014/main" id="{2ECFDCB6-6EC3-415B-861C-C154CE101AC6}"/>
              </a:ext>
            </a:extLst>
          </p:cNvPr>
          <p:cNvSpPr>
            <a:spLocks noGrp="1"/>
          </p:cNvSpPr>
          <p:nvPr/>
        </p:nvSpPr>
        <p:spPr>
          <a:xfrm>
            <a:off x="5019675" y="4114800"/>
            <a:ext cx="9525" cy="400050"/>
          </a:xfrm>
          <a:custGeom>
            <a:avLst/>
            <a:gdLst/>
            <a:ahLst/>
            <a:cxnLst/>
            <a:rect l="0" t="0" r="0" b="0"/>
            <a:pathLst>
              <a:path w="9525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7" name="baseUp_a">
            <a:extLst>
              <a:ext uri="{FF2B5EF4-FFF2-40B4-BE49-F238E27FC236}">
                <a16:creationId xmlns:a16="http://schemas.microsoft.com/office/drawing/2014/main" id="{94AD9137-6E72-45DA-9329-7A60A303E27C}"/>
              </a:ext>
            </a:extLst>
          </p:cNvPr>
          <p:cNvSpPr>
            <a:spLocks noGrp="1"/>
          </p:cNvSpPr>
          <p:nvPr/>
        </p:nvSpPr>
        <p:spPr>
          <a:xfrm>
            <a:off x="5019675" y="41148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8" name="baseUp_b">
            <a:extLst>
              <a:ext uri="{FF2B5EF4-FFF2-40B4-BE49-F238E27FC236}">
                <a16:creationId xmlns:a16="http://schemas.microsoft.com/office/drawing/2014/main" id="{4C41953D-72F6-4E20-BA8D-D1A8D3A04477}"/>
              </a:ext>
            </a:extLst>
          </p:cNvPr>
          <p:cNvSpPr>
            <a:spLocks noGrp="1"/>
          </p:cNvSpPr>
          <p:nvPr/>
        </p:nvSpPr>
        <p:spPr>
          <a:xfrm>
            <a:off x="4964877" y="41148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9" name="params">
            <a:extLst>
              <a:ext uri="{FF2B5EF4-FFF2-40B4-BE49-F238E27FC236}">
                <a16:creationId xmlns:a16="http://schemas.microsoft.com/office/drawing/2014/main" id="{2ADA6801-7F04-4D9E-A9B0-1F9EDFF40B6A}"/>
              </a:ext>
            </a:extLst>
          </p:cNvPr>
          <p:cNvSpPr>
            <a:spLocks noGrp="1"/>
          </p:cNvSpPr>
          <p:nvPr/>
        </p:nvSpPr>
        <p:spPr>
          <a:xfrm>
            <a:off x="4152900" y="3505200"/>
            <a:ext cx="261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模型内的参数</a:t>
            </a:r>
          </a:p>
        </p:txBody>
      </p:sp>
      <p:sp>
        <p:nvSpPr>
          <p:cNvPr id="30" name="paramTrack">
            <a:extLst>
              <a:ext uri="{FF2B5EF4-FFF2-40B4-BE49-F238E27FC236}">
                <a16:creationId xmlns:a16="http://schemas.microsoft.com/office/drawing/2014/main" id="{C7AC4706-6A67-4EAF-8613-99BC1ECAE5AA}"/>
              </a:ext>
            </a:extLst>
          </p:cNvPr>
          <p:cNvSpPr>
            <a:spLocks noGrp="1"/>
          </p:cNvSpPr>
          <p:nvPr/>
        </p:nvSpPr>
        <p:spPr>
          <a:xfrm>
            <a:off x="4152900" y="3933825"/>
            <a:ext cx="2000250" cy="9525"/>
          </a:xfrm>
          <a:custGeom>
            <a:avLst/>
            <a:gdLst/>
            <a:ahLst/>
            <a:cxnLst/>
            <a:rect l="0" t="0" r="0" b="0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31" name="oldParam">
            <a:extLst>
              <a:ext uri="{FF2B5EF4-FFF2-40B4-BE49-F238E27FC236}">
                <a16:creationId xmlns:a16="http://schemas.microsoft.com/office/drawing/2014/main" id="{98D00C2D-FB09-4DA6-ADB7-B65464481A67}"/>
              </a:ext>
            </a:extLst>
          </p:cNvPr>
          <p:cNvSpPr>
            <a:spLocks noGrp="1"/>
          </p:cNvSpPr>
          <p:nvPr/>
        </p:nvSpPr>
        <p:spPr>
          <a:xfrm>
            <a:off x="4543425" y="3848100"/>
            <a:ext cx="57150" cy="171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2" name="C1_data_num">
            <a:extLst>
              <a:ext uri="{FF2B5EF4-FFF2-40B4-BE49-F238E27FC236}">
                <a16:creationId xmlns:a16="http://schemas.microsoft.com/office/drawing/2014/main" id="{522463C1-36EC-4AC0-B0FD-0FBACB9BF379}"/>
              </a:ext>
            </a:extLst>
          </p:cNvPr>
          <p:cNvSpPr>
            <a:spLocks noGrp="1"/>
          </p:cNvSpPr>
          <p:nvPr/>
        </p:nvSpPr>
        <p:spPr>
          <a:xfrm>
            <a:off x="742950" y="24479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C1_data_label">
            <a:extLst>
              <a:ext uri="{FF2B5EF4-FFF2-40B4-BE49-F238E27FC236}">
                <a16:creationId xmlns:a16="http://schemas.microsoft.com/office/drawing/2014/main" id="{02A7A1A3-932E-4C1D-AF17-D41E9F0EA9EF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一批图片</a:t>
            </a:r>
          </a:p>
        </p:txBody>
      </p:sp>
      <p:sp>
        <p:nvSpPr>
          <p:cNvPr id="34" name="C1_model_num">
            <a:extLst>
              <a:ext uri="{FF2B5EF4-FFF2-40B4-BE49-F238E27FC236}">
                <a16:creationId xmlns:a16="http://schemas.microsoft.com/office/drawing/2014/main" id="{AB6A1B81-0589-4AB3-952B-BF91A48926C6}"/>
              </a:ext>
            </a:extLst>
          </p:cNvPr>
          <p:cNvSpPr>
            <a:spLocks noGrp="1"/>
          </p:cNvSpPr>
          <p:nvPr/>
        </p:nvSpPr>
        <p:spPr>
          <a:xfrm>
            <a:off x="4133850" y="24479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5" name="C1_model_label">
            <a:extLst>
              <a:ext uri="{FF2B5EF4-FFF2-40B4-BE49-F238E27FC236}">
                <a16:creationId xmlns:a16="http://schemas.microsoft.com/office/drawing/2014/main" id="{0E4A0A14-2612-44A2-9BED-A07B8ECAA666}"/>
              </a:ext>
            </a:extLst>
          </p:cNvPr>
          <p:cNvSpPr>
            <a:spLocks noGrp="1"/>
          </p:cNvSpPr>
          <p:nvPr/>
        </p:nvSpPr>
        <p:spPr>
          <a:xfrm>
            <a:off x="4133850" y="28575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模型给出预测</a:t>
            </a:r>
            <a:endParaRPr sz="2400" b="1" dirty="0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C1_in">
            <a:extLst>
              <a:ext uri="{FF2B5EF4-FFF2-40B4-BE49-F238E27FC236}">
                <a16:creationId xmlns:a16="http://schemas.microsoft.com/office/drawing/2014/main" id="{A40193F5-12DC-420B-83BB-BDEBC9398FAB}"/>
              </a:ext>
            </a:extLst>
          </p:cNvPr>
          <p:cNvSpPr>
            <a:spLocks noGrp="1"/>
          </p:cNvSpPr>
          <p:nvPr/>
        </p:nvSpPr>
        <p:spPr>
          <a:xfrm>
            <a:off x="2657475" y="3076575"/>
            <a:ext cx="1143000" cy="9525"/>
          </a:xfrm>
          <a:custGeom>
            <a:avLst/>
            <a:gdLst/>
            <a:ahLst/>
            <a:cxnLst/>
            <a:rect l="0" t="0" r="0" b="0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7" name="C1_in_a">
            <a:extLst>
              <a:ext uri="{FF2B5EF4-FFF2-40B4-BE49-F238E27FC236}">
                <a16:creationId xmlns:a16="http://schemas.microsoft.com/office/drawing/2014/main" id="{5F0D9387-EC4D-4667-9ACE-CD433D777706}"/>
              </a:ext>
            </a:extLst>
          </p:cNvPr>
          <p:cNvSpPr>
            <a:spLocks noGrp="1"/>
          </p:cNvSpPr>
          <p:nvPr/>
        </p:nvSpPr>
        <p:spPr>
          <a:xfrm>
            <a:off x="3700167" y="30765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8" name="C1_in_b">
            <a:extLst>
              <a:ext uri="{FF2B5EF4-FFF2-40B4-BE49-F238E27FC236}">
                <a16:creationId xmlns:a16="http://schemas.microsoft.com/office/drawing/2014/main" id="{AB17DD9D-CED7-42FD-9391-D5F8A71F03F2}"/>
              </a:ext>
            </a:extLst>
          </p:cNvPr>
          <p:cNvSpPr>
            <a:spLocks noGrp="1"/>
          </p:cNvSpPr>
          <p:nvPr/>
        </p:nvSpPr>
        <p:spPr>
          <a:xfrm>
            <a:off x="3700167" y="30217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9" name="C1_out">
            <a:extLst>
              <a:ext uri="{FF2B5EF4-FFF2-40B4-BE49-F238E27FC236}">
                <a16:creationId xmlns:a16="http://schemas.microsoft.com/office/drawing/2014/main" id="{141B8735-9D03-484D-A409-CA4B313AF2B5}"/>
              </a:ext>
            </a:extLst>
          </p:cNvPr>
          <p:cNvSpPr>
            <a:spLocks noGrp="1"/>
          </p:cNvSpPr>
          <p:nvPr/>
        </p:nvSpPr>
        <p:spPr>
          <a:xfrm>
            <a:off x="7105650" y="3076575"/>
            <a:ext cx="1657350" cy="9525"/>
          </a:xfrm>
          <a:custGeom>
            <a:avLst/>
            <a:gdLst/>
            <a:ahLst/>
            <a:cxnLst/>
            <a:rect l="0" t="0" r="0" b="0"/>
            <a:pathLst>
              <a:path w="1657350" h="9525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0" name="C1_out_a">
            <a:extLst>
              <a:ext uri="{FF2B5EF4-FFF2-40B4-BE49-F238E27FC236}">
                <a16:creationId xmlns:a16="http://schemas.microsoft.com/office/drawing/2014/main" id="{ED702160-F7C9-44A7-8387-D452AFE75160}"/>
              </a:ext>
            </a:extLst>
          </p:cNvPr>
          <p:cNvSpPr>
            <a:spLocks noGrp="1"/>
          </p:cNvSpPr>
          <p:nvPr/>
        </p:nvSpPr>
        <p:spPr>
          <a:xfrm>
            <a:off x="8662692" y="30765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1" name="C1_out_b">
            <a:extLst>
              <a:ext uri="{FF2B5EF4-FFF2-40B4-BE49-F238E27FC236}">
                <a16:creationId xmlns:a16="http://schemas.microsoft.com/office/drawing/2014/main" id="{EAD1EE50-A3F7-4D9E-85CF-26B8F3242765}"/>
              </a:ext>
            </a:extLst>
          </p:cNvPr>
          <p:cNvSpPr>
            <a:spLocks noGrp="1"/>
          </p:cNvSpPr>
          <p:nvPr/>
        </p:nvSpPr>
        <p:spPr>
          <a:xfrm>
            <a:off x="8662692" y="30217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2" name="C2_loss_num">
            <a:extLst>
              <a:ext uri="{FF2B5EF4-FFF2-40B4-BE49-F238E27FC236}">
                <a16:creationId xmlns:a16="http://schemas.microsoft.com/office/drawing/2014/main" id="{9F75068E-D988-4198-B610-F3238AD64E35}"/>
              </a:ext>
            </a:extLst>
          </p:cNvPr>
          <p:cNvSpPr>
            <a:spLocks noGrp="1"/>
          </p:cNvSpPr>
          <p:nvPr/>
        </p:nvSpPr>
        <p:spPr>
          <a:xfrm>
            <a:off x="9153525" y="24479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3" name="C2_loss_label">
            <a:extLst>
              <a:ext uri="{FF2B5EF4-FFF2-40B4-BE49-F238E27FC236}">
                <a16:creationId xmlns:a16="http://schemas.microsoft.com/office/drawing/2014/main" id="{84D5263F-D532-4A31-AA0F-ED9721305D62}"/>
              </a:ext>
            </a:extLst>
          </p:cNvPr>
          <p:cNvSpPr>
            <a:spLocks noGrp="1"/>
          </p:cNvSpPr>
          <p:nvPr/>
        </p:nvSpPr>
        <p:spPr>
          <a:xfrm>
            <a:off x="9153525" y="2857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与目标比较</a:t>
            </a:r>
            <a:endParaRPr sz="2400" b="1" dirty="0">
              <a:solidFill>
                <a:srgbClr val="C65D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C2_lossword">
            <a:extLst>
              <a:ext uri="{FF2B5EF4-FFF2-40B4-BE49-F238E27FC236}">
                <a16:creationId xmlns:a16="http://schemas.microsoft.com/office/drawing/2014/main" id="{E093F5DC-05F0-444A-951E-48F03517ACA9}"/>
              </a:ext>
            </a:extLst>
          </p:cNvPr>
          <p:cNvSpPr>
            <a:spLocks noGrp="1"/>
          </p:cNvSpPr>
          <p:nvPr/>
        </p:nvSpPr>
        <p:spPr>
          <a:xfrm>
            <a:off x="9153525" y="3438525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Loss：衡量差距</a:t>
            </a:r>
          </a:p>
        </p:txBody>
      </p:sp>
      <p:sp>
        <p:nvSpPr>
          <p:cNvPr id="45" name="C2_target">
            <a:extLst>
              <a:ext uri="{FF2B5EF4-FFF2-40B4-BE49-F238E27FC236}">
                <a16:creationId xmlns:a16="http://schemas.microsoft.com/office/drawing/2014/main" id="{E0ED507F-577C-49D5-A674-160FA54FD2B1}"/>
              </a:ext>
            </a:extLst>
          </p:cNvPr>
          <p:cNvSpPr>
            <a:spLocks noGrp="1"/>
          </p:cNvSpPr>
          <p:nvPr/>
        </p:nvSpPr>
        <p:spPr>
          <a:xfrm>
            <a:off x="8791575" y="1838325"/>
            <a:ext cx="295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数据中的正确答案</a:t>
            </a:r>
            <a:endParaRPr sz="2025" b="1" dirty="0">
              <a:solidFill>
                <a:srgbClr val="087F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C2_targetArrow">
            <a:extLst>
              <a:ext uri="{FF2B5EF4-FFF2-40B4-BE49-F238E27FC236}">
                <a16:creationId xmlns:a16="http://schemas.microsoft.com/office/drawing/2014/main" id="{AD75EB2A-1635-4C1E-977A-0C88F80D7483}"/>
              </a:ext>
            </a:extLst>
          </p:cNvPr>
          <p:cNvSpPr>
            <a:spLocks noGrp="1"/>
          </p:cNvSpPr>
          <p:nvPr/>
        </p:nvSpPr>
        <p:spPr>
          <a:xfrm>
            <a:off x="10134600" y="2276475"/>
            <a:ext cx="9525" cy="371475"/>
          </a:xfrm>
          <a:custGeom>
            <a:avLst/>
            <a:gdLst/>
            <a:ahLst/>
            <a:cxnLst/>
            <a:rect l="0" t="0" r="0" b="0"/>
            <a:pathLst>
              <a:path w="9525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/>
          <a:ln w="28575">
            <a:solidFill>
              <a:srgbClr val="087F72"/>
            </a:solidFill>
            <a:prstDash val="solid"/>
          </a:ln>
        </p:spPr>
      </p:sp>
      <p:sp>
        <p:nvSpPr>
          <p:cNvPr id="47" name="C2_targetArrow_a">
            <a:extLst>
              <a:ext uri="{FF2B5EF4-FFF2-40B4-BE49-F238E27FC236}">
                <a16:creationId xmlns:a16="http://schemas.microsoft.com/office/drawing/2014/main" id="{6696B0E1-3E88-40F1-9BCB-17928299B7D5}"/>
              </a:ext>
            </a:extLst>
          </p:cNvPr>
          <p:cNvSpPr>
            <a:spLocks noGrp="1"/>
          </p:cNvSpPr>
          <p:nvPr/>
        </p:nvSpPr>
        <p:spPr>
          <a:xfrm>
            <a:off x="10079802" y="254764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87F72"/>
            </a:solidFill>
            <a:prstDash val="solid"/>
          </a:ln>
        </p:spPr>
      </p:sp>
      <p:sp>
        <p:nvSpPr>
          <p:cNvPr id="48" name="C2_targetArrow_b">
            <a:extLst>
              <a:ext uri="{FF2B5EF4-FFF2-40B4-BE49-F238E27FC236}">
                <a16:creationId xmlns:a16="http://schemas.microsoft.com/office/drawing/2014/main" id="{77D2F286-C216-43C9-A612-05A147FBF99C}"/>
              </a:ext>
            </a:extLst>
          </p:cNvPr>
          <p:cNvSpPr>
            <a:spLocks noGrp="1"/>
          </p:cNvSpPr>
          <p:nvPr/>
        </p:nvSpPr>
        <p:spPr>
          <a:xfrm>
            <a:off x="10134600" y="254764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28575">
            <a:solidFill>
              <a:srgbClr val="087F72"/>
            </a:solidFill>
            <a:prstDash val="solid"/>
          </a:ln>
        </p:spPr>
      </p:sp>
      <p:sp>
        <p:nvSpPr>
          <p:cNvPr id="49" name="C3_down">
            <a:extLst>
              <a:ext uri="{FF2B5EF4-FFF2-40B4-BE49-F238E27FC236}">
                <a16:creationId xmlns:a16="http://schemas.microsoft.com/office/drawing/2014/main" id="{81596BC8-EC8D-4612-8222-EE304E750C96}"/>
              </a:ext>
            </a:extLst>
          </p:cNvPr>
          <p:cNvSpPr>
            <a:spLocks noGrp="1"/>
          </p:cNvSpPr>
          <p:nvPr/>
        </p:nvSpPr>
        <p:spPr>
          <a:xfrm>
            <a:off x="10134600" y="3886200"/>
            <a:ext cx="9525" cy="361950"/>
          </a:xfrm>
          <a:custGeom>
            <a:avLst/>
            <a:gdLst/>
            <a:ahLst/>
            <a:cxnLst/>
            <a:rect l="0" t="0" r="0" b="0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0" name="C3_down_a">
            <a:extLst>
              <a:ext uri="{FF2B5EF4-FFF2-40B4-BE49-F238E27FC236}">
                <a16:creationId xmlns:a16="http://schemas.microsoft.com/office/drawing/2014/main" id="{C2BD1CC9-EB3C-4036-BF24-6322A05C798F}"/>
              </a:ext>
            </a:extLst>
          </p:cNvPr>
          <p:cNvSpPr>
            <a:spLocks noGrp="1"/>
          </p:cNvSpPr>
          <p:nvPr/>
        </p:nvSpPr>
        <p:spPr>
          <a:xfrm>
            <a:off x="10079802" y="414784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1" name="C3_down_b">
            <a:extLst>
              <a:ext uri="{FF2B5EF4-FFF2-40B4-BE49-F238E27FC236}">
                <a16:creationId xmlns:a16="http://schemas.microsoft.com/office/drawing/2014/main" id="{C2B9FAF6-D84D-4871-9CD4-43A85E977D84}"/>
              </a:ext>
            </a:extLst>
          </p:cNvPr>
          <p:cNvSpPr>
            <a:spLocks noGrp="1"/>
          </p:cNvSpPr>
          <p:nvPr/>
        </p:nvSpPr>
        <p:spPr>
          <a:xfrm>
            <a:off x="10134600" y="414784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2" name="C3_grad_num">
            <a:extLst>
              <a:ext uri="{FF2B5EF4-FFF2-40B4-BE49-F238E27FC236}">
                <a16:creationId xmlns:a16="http://schemas.microsoft.com/office/drawing/2014/main" id="{F4B71318-1035-4181-BB76-4630FA32B5F6}"/>
              </a:ext>
            </a:extLst>
          </p:cNvPr>
          <p:cNvSpPr>
            <a:spLocks noGrp="1"/>
          </p:cNvSpPr>
          <p:nvPr/>
        </p:nvSpPr>
        <p:spPr>
          <a:xfrm>
            <a:off x="8943975" y="43148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3" name="C3_grad_label">
            <a:extLst>
              <a:ext uri="{FF2B5EF4-FFF2-40B4-BE49-F238E27FC236}">
                <a16:creationId xmlns:a16="http://schemas.microsoft.com/office/drawing/2014/main" id="{ECF807CA-911C-4568-AD2E-0FDBC9261924}"/>
              </a:ext>
            </a:extLst>
          </p:cNvPr>
          <p:cNvSpPr>
            <a:spLocks noGrp="1"/>
          </p:cNvSpPr>
          <p:nvPr/>
        </p:nvSpPr>
        <p:spPr>
          <a:xfrm>
            <a:off x="8943975" y="47244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计算调整依据</a:t>
            </a:r>
            <a:endParaRPr sz="2400" b="1" dirty="0">
              <a:solidFill>
                <a:srgbClr val="7C3AE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C3_gradword">
            <a:extLst>
              <a:ext uri="{FF2B5EF4-FFF2-40B4-BE49-F238E27FC236}">
                <a16:creationId xmlns:a16="http://schemas.microsoft.com/office/drawing/2014/main" id="{028A5CD7-2C92-42CD-89AE-0DB6CE40D0CF}"/>
              </a:ext>
            </a:extLst>
          </p:cNvPr>
          <p:cNvSpPr>
            <a:spLocks noGrp="1"/>
          </p:cNvSpPr>
          <p:nvPr/>
        </p:nvSpPr>
        <p:spPr>
          <a:xfrm>
            <a:off x="8943975" y="525780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梯度（反向传播）</a:t>
            </a:r>
          </a:p>
        </p:txBody>
      </p:sp>
      <p:sp>
        <p:nvSpPr>
          <p:cNvPr id="55" name="C4_back">
            <a:extLst>
              <a:ext uri="{FF2B5EF4-FFF2-40B4-BE49-F238E27FC236}">
                <a16:creationId xmlns:a16="http://schemas.microsoft.com/office/drawing/2014/main" id="{E6496542-2747-4EA0-B000-5852C692C479}"/>
              </a:ext>
            </a:extLst>
          </p:cNvPr>
          <p:cNvSpPr>
            <a:spLocks noGrp="1"/>
          </p:cNvSpPr>
          <p:nvPr/>
        </p:nvSpPr>
        <p:spPr>
          <a:xfrm>
            <a:off x="6791325" y="4943475"/>
            <a:ext cx="1933575" cy="9525"/>
          </a:xfrm>
          <a:custGeom>
            <a:avLst/>
            <a:gdLst/>
            <a:ahLst/>
            <a:cxnLst/>
            <a:rect l="0" t="0" r="0" b="0"/>
            <a:pathLst>
              <a:path w="1933575" h="9525">
                <a:moveTo>
                  <a:pt x="1933575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6" name="C4_back_a">
            <a:extLst>
              <a:ext uri="{FF2B5EF4-FFF2-40B4-BE49-F238E27FC236}">
                <a16:creationId xmlns:a16="http://schemas.microsoft.com/office/drawing/2014/main" id="{351B871E-48AD-48E5-90E6-61E472BD30ED}"/>
              </a:ext>
            </a:extLst>
          </p:cNvPr>
          <p:cNvSpPr>
            <a:spLocks noGrp="1"/>
          </p:cNvSpPr>
          <p:nvPr/>
        </p:nvSpPr>
        <p:spPr>
          <a:xfrm>
            <a:off x="6791325" y="48886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7" name="C4_back_b">
            <a:extLst>
              <a:ext uri="{FF2B5EF4-FFF2-40B4-BE49-F238E27FC236}">
                <a16:creationId xmlns:a16="http://schemas.microsoft.com/office/drawing/2014/main" id="{6D03CB52-E0B9-41CE-A44A-9F450FBA7F6E}"/>
              </a:ext>
            </a:extLst>
          </p:cNvPr>
          <p:cNvSpPr>
            <a:spLocks noGrp="1"/>
          </p:cNvSpPr>
          <p:nvPr/>
        </p:nvSpPr>
        <p:spPr>
          <a:xfrm>
            <a:off x="6791325" y="49434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8" name="C4_update_num">
            <a:extLst>
              <a:ext uri="{FF2B5EF4-FFF2-40B4-BE49-F238E27FC236}">
                <a16:creationId xmlns:a16="http://schemas.microsoft.com/office/drawing/2014/main" id="{E772ACD8-1082-4034-812F-DEBB68DF1EF2}"/>
              </a:ext>
            </a:extLst>
          </p:cNvPr>
          <p:cNvSpPr>
            <a:spLocks noGrp="1"/>
          </p:cNvSpPr>
          <p:nvPr/>
        </p:nvSpPr>
        <p:spPr>
          <a:xfrm>
            <a:off x="4143375" y="431482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9" name="C4_update_label">
            <a:extLst>
              <a:ext uri="{FF2B5EF4-FFF2-40B4-BE49-F238E27FC236}">
                <a16:creationId xmlns:a16="http://schemas.microsoft.com/office/drawing/2014/main" id="{300E20EA-CB60-4495-8BBC-C99A3124EB9F}"/>
              </a:ext>
            </a:extLst>
          </p:cNvPr>
          <p:cNvSpPr>
            <a:spLocks noGrp="1"/>
          </p:cNvSpPr>
          <p:nvPr/>
        </p:nvSpPr>
        <p:spPr>
          <a:xfrm>
            <a:off x="4143375" y="472440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更新参数</a:t>
            </a:r>
            <a:endParaRPr sz="2400" b="1" dirty="0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C4_up">
            <a:extLst>
              <a:ext uri="{FF2B5EF4-FFF2-40B4-BE49-F238E27FC236}">
                <a16:creationId xmlns:a16="http://schemas.microsoft.com/office/drawing/2014/main" id="{425ADD3B-9D3F-486B-8369-E86E2AB4B35F}"/>
              </a:ext>
            </a:extLst>
          </p:cNvPr>
          <p:cNvSpPr>
            <a:spLocks noGrp="1"/>
          </p:cNvSpPr>
          <p:nvPr/>
        </p:nvSpPr>
        <p:spPr>
          <a:xfrm>
            <a:off x="5019675" y="4114800"/>
            <a:ext cx="9525" cy="400050"/>
          </a:xfrm>
          <a:custGeom>
            <a:avLst/>
            <a:gdLst/>
            <a:ahLst/>
            <a:cxnLst/>
            <a:rect l="0" t="0" r="0" b="0"/>
            <a:pathLst>
              <a:path w="9525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1" name="C4_up_a">
            <a:extLst>
              <a:ext uri="{FF2B5EF4-FFF2-40B4-BE49-F238E27FC236}">
                <a16:creationId xmlns:a16="http://schemas.microsoft.com/office/drawing/2014/main" id="{09F417DA-967F-4DD4-901B-8FF48CAC5513}"/>
              </a:ext>
            </a:extLst>
          </p:cNvPr>
          <p:cNvSpPr>
            <a:spLocks noGrp="1"/>
          </p:cNvSpPr>
          <p:nvPr/>
        </p:nvSpPr>
        <p:spPr>
          <a:xfrm>
            <a:off x="5019675" y="41148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2" name="C4_up_b">
            <a:extLst>
              <a:ext uri="{FF2B5EF4-FFF2-40B4-BE49-F238E27FC236}">
                <a16:creationId xmlns:a16="http://schemas.microsoft.com/office/drawing/2014/main" id="{7CFD5E53-4DD9-423D-9C61-0CB31356A528}"/>
              </a:ext>
            </a:extLst>
          </p:cNvPr>
          <p:cNvSpPr>
            <a:spLocks noGrp="1"/>
          </p:cNvSpPr>
          <p:nvPr/>
        </p:nvSpPr>
        <p:spPr>
          <a:xfrm>
            <a:off x="4964877" y="41148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3" name="C4_erase">
            <a:extLst>
              <a:ext uri="{FF2B5EF4-FFF2-40B4-BE49-F238E27FC236}">
                <a16:creationId xmlns:a16="http://schemas.microsoft.com/office/drawing/2014/main" id="{D13E1058-BF5F-4D2A-AC15-A48E3B044E8F}"/>
              </a:ext>
            </a:extLst>
          </p:cNvPr>
          <p:cNvSpPr>
            <a:spLocks noGrp="1"/>
          </p:cNvSpPr>
          <p:nvPr/>
        </p:nvSpPr>
        <p:spPr>
          <a:xfrm>
            <a:off x="4505325" y="3819525"/>
            <a:ext cx="133350" cy="238125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64" name="C4_track">
            <a:extLst>
              <a:ext uri="{FF2B5EF4-FFF2-40B4-BE49-F238E27FC236}">
                <a16:creationId xmlns:a16="http://schemas.microsoft.com/office/drawing/2014/main" id="{5505B443-C52C-43C4-8697-7AE758468B6F}"/>
              </a:ext>
            </a:extLst>
          </p:cNvPr>
          <p:cNvSpPr>
            <a:spLocks noGrp="1"/>
          </p:cNvSpPr>
          <p:nvPr/>
        </p:nvSpPr>
        <p:spPr>
          <a:xfrm>
            <a:off x="4505325" y="3933825"/>
            <a:ext cx="133350" cy="9525"/>
          </a:xfrm>
          <a:custGeom>
            <a:avLst/>
            <a:gdLst/>
            <a:ahLst/>
            <a:cxnLst/>
            <a:rect l="0" t="0" r="0" b="0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65" name="C4_newParam">
            <a:extLst>
              <a:ext uri="{FF2B5EF4-FFF2-40B4-BE49-F238E27FC236}">
                <a16:creationId xmlns:a16="http://schemas.microsoft.com/office/drawing/2014/main" id="{02F3DF56-D186-44FA-A36D-98C9B2F2164F}"/>
              </a:ext>
            </a:extLst>
          </p:cNvPr>
          <p:cNvSpPr>
            <a:spLocks noGrp="1"/>
          </p:cNvSpPr>
          <p:nvPr/>
        </p:nvSpPr>
        <p:spPr>
          <a:xfrm>
            <a:off x="5467350" y="3848100"/>
            <a:ext cx="57150" cy="171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66" name="C4_optimizer">
            <a:extLst>
              <a:ext uri="{FF2B5EF4-FFF2-40B4-BE49-F238E27FC236}">
                <a16:creationId xmlns:a16="http://schemas.microsoft.com/office/drawing/2014/main" id="{CCE994B4-68D9-4DC1-BBDD-712764AB69B6}"/>
              </a:ext>
            </a:extLst>
          </p:cNvPr>
          <p:cNvSpPr>
            <a:spLocks noGrp="1"/>
          </p:cNvSpPr>
          <p:nvPr/>
        </p:nvSpPr>
        <p:spPr>
          <a:xfrm>
            <a:off x="4143375" y="52578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优化器执行修改</a:t>
            </a:r>
          </a:p>
        </p:txBody>
      </p:sp>
      <p:sp>
        <p:nvSpPr>
          <p:cNvPr id="68" name="C5_repeat">
            <a:extLst>
              <a:ext uri="{FF2B5EF4-FFF2-40B4-BE49-F238E27FC236}">
                <a16:creationId xmlns:a16="http://schemas.microsoft.com/office/drawing/2014/main" id="{FC79C521-0F87-4154-A660-CF0B127A8F69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再做一轮</a:t>
            </a:r>
            <a:r>
              <a:rPr lang="en-US" altLang="zh-CN" sz="255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epoch</a:t>
            </a:r>
            <a:endParaRPr sz="2550" b="1" dirty="0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C5_focus">
            <a:extLst>
              <a:ext uri="{FF2B5EF4-FFF2-40B4-BE49-F238E27FC236}">
                <a16:creationId xmlns:a16="http://schemas.microsoft.com/office/drawing/2014/main" id="{F670BB2A-0516-4415-A082-395A0A2E61C4}"/>
              </a:ext>
            </a:extLst>
          </p:cNvPr>
          <p:cNvSpPr>
            <a:spLocks noGrp="1"/>
          </p:cNvSpPr>
          <p:nvPr/>
        </p:nvSpPr>
        <p:spPr>
          <a:xfrm>
            <a:off x="742950" y="5924550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改变的是模型内部的参数</a:t>
            </a:r>
            <a:r>
              <a:rPr lang="en-US" sz="24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，而不是超参数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4518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42" grpId="0"/>
      <p:bldP spid="43" grpId="0"/>
      <p:bldP spid="44" grpId="0"/>
      <p:bldP spid="45" grpId="0"/>
      <p:bldP spid="52" grpId="0"/>
      <p:bldP spid="53" grpId="0"/>
      <p:bldP spid="54" grpId="0"/>
      <p:bldP spid="58" grpId="0"/>
      <p:bldP spid="59" grpId="0"/>
      <p:bldP spid="66" grpId="0"/>
      <p:bldP spid="68" grpId="0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la_user_photo" descr="用户提供的可口可乐罐图片">
            <a:extLst>
              <a:ext uri="{FF2B5EF4-FFF2-40B4-BE49-F238E27FC236}">
                <a16:creationId xmlns:a16="http://schemas.microsoft.com/office/drawing/2014/main" id="{A142B041-609D-197A-1325-B3BD04196F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447925"/>
            <a:ext cx="2257425" cy="2257425"/>
          </a:xfrm>
          <a:prstGeom prst="rect">
            <a:avLst/>
          </a:prstGeom>
        </p:spPr>
      </p:pic>
      <p:sp>
        <p:nvSpPr>
          <p:cNvPr id="58" name="title">
            <a:extLst>
              <a:ext uri="{FF2B5EF4-FFF2-40B4-BE49-F238E27FC236}">
                <a16:creationId xmlns:a16="http://schemas.microsoft.com/office/drawing/2014/main" id="{F10BA8B9-6048-40AC-8334-0DEEE8B0EC4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参数改变预测分数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24CAE1C-CE29-4914-8FF4-7C76CA268BD1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08D6FC-7EA2-4805-AC31-10A8C3EDCB87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同一张图片，参数变了，预测分数也可能改变</a:t>
            </a:r>
          </a:p>
        </p:txBody>
      </p:sp>
      <p:sp>
        <p:nvSpPr>
          <p:cNvPr id="7" name="track0">
            <a:extLst>
              <a:ext uri="{FF2B5EF4-FFF2-40B4-BE49-F238E27FC236}">
                <a16:creationId xmlns:a16="http://schemas.microsoft.com/office/drawing/2014/main" id="{8A34E41B-628D-4DF1-9588-6A9EEE3459CB}"/>
              </a:ext>
            </a:extLst>
          </p:cNvPr>
          <p:cNvSpPr>
            <a:spLocks noGrp="1"/>
          </p:cNvSpPr>
          <p:nvPr/>
        </p:nvSpPr>
        <p:spPr>
          <a:xfrm>
            <a:off x="3714750" y="3057525"/>
            <a:ext cx="2428875" cy="9525"/>
          </a:xfrm>
          <a:custGeom>
            <a:avLst/>
            <a:gdLst/>
            <a:ahLst/>
            <a:cxnLst/>
            <a:rect l="0" t="0" r="0" b="0"/>
            <a:pathLst>
              <a:path w="2428875" h="9525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/>
          <a:ln w="38100">
            <a:solidFill>
              <a:srgbClr val="CBD2DC"/>
            </a:solidFill>
            <a:prstDash val="solid"/>
          </a:ln>
        </p:spPr>
      </p:sp>
      <p:sp>
        <p:nvSpPr>
          <p:cNvPr id="8" name="tick0_0">
            <a:extLst>
              <a:ext uri="{FF2B5EF4-FFF2-40B4-BE49-F238E27FC236}">
                <a16:creationId xmlns:a16="http://schemas.microsoft.com/office/drawing/2014/main" id="{1C7D3A60-34D9-4ADB-BBE1-5EBF74131D1F}"/>
              </a:ext>
            </a:extLst>
          </p:cNvPr>
          <p:cNvSpPr>
            <a:spLocks noGrp="1"/>
          </p:cNvSpPr>
          <p:nvPr/>
        </p:nvSpPr>
        <p:spPr>
          <a:xfrm>
            <a:off x="3714750" y="299085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9" name="tick0_1">
            <a:extLst>
              <a:ext uri="{FF2B5EF4-FFF2-40B4-BE49-F238E27FC236}">
                <a16:creationId xmlns:a16="http://schemas.microsoft.com/office/drawing/2014/main" id="{85B1C2E1-4792-4F62-951C-2ABF3AE91D73}"/>
              </a:ext>
            </a:extLst>
          </p:cNvPr>
          <p:cNvSpPr>
            <a:spLocks noGrp="1"/>
          </p:cNvSpPr>
          <p:nvPr/>
        </p:nvSpPr>
        <p:spPr>
          <a:xfrm>
            <a:off x="4200525" y="299085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0" name="tick0_2">
            <a:extLst>
              <a:ext uri="{FF2B5EF4-FFF2-40B4-BE49-F238E27FC236}">
                <a16:creationId xmlns:a16="http://schemas.microsoft.com/office/drawing/2014/main" id="{4B1ECEA4-2402-4300-8B1E-1031C1CF2457}"/>
              </a:ext>
            </a:extLst>
          </p:cNvPr>
          <p:cNvSpPr>
            <a:spLocks noGrp="1"/>
          </p:cNvSpPr>
          <p:nvPr/>
        </p:nvSpPr>
        <p:spPr>
          <a:xfrm>
            <a:off x="4686300" y="299085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1" name="tick0_3">
            <a:extLst>
              <a:ext uri="{FF2B5EF4-FFF2-40B4-BE49-F238E27FC236}">
                <a16:creationId xmlns:a16="http://schemas.microsoft.com/office/drawing/2014/main" id="{E1F956F7-884B-45E4-A2F5-29DC9A15C22A}"/>
              </a:ext>
            </a:extLst>
          </p:cNvPr>
          <p:cNvSpPr>
            <a:spLocks noGrp="1"/>
          </p:cNvSpPr>
          <p:nvPr/>
        </p:nvSpPr>
        <p:spPr>
          <a:xfrm>
            <a:off x="5172075" y="299085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2" name="tick0_4">
            <a:extLst>
              <a:ext uri="{FF2B5EF4-FFF2-40B4-BE49-F238E27FC236}">
                <a16:creationId xmlns:a16="http://schemas.microsoft.com/office/drawing/2014/main" id="{CCDE0706-9D67-49EE-A89A-880C0116C8B0}"/>
              </a:ext>
            </a:extLst>
          </p:cNvPr>
          <p:cNvSpPr>
            <a:spLocks noGrp="1"/>
          </p:cNvSpPr>
          <p:nvPr/>
        </p:nvSpPr>
        <p:spPr>
          <a:xfrm>
            <a:off x="5657850" y="299085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3" name="tick0_5">
            <a:extLst>
              <a:ext uri="{FF2B5EF4-FFF2-40B4-BE49-F238E27FC236}">
                <a16:creationId xmlns:a16="http://schemas.microsoft.com/office/drawing/2014/main" id="{B145F6D9-A7F3-4DC4-8493-21254C829A88}"/>
              </a:ext>
            </a:extLst>
          </p:cNvPr>
          <p:cNvSpPr>
            <a:spLocks noGrp="1"/>
          </p:cNvSpPr>
          <p:nvPr/>
        </p:nvSpPr>
        <p:spPr>
          <a:xfrm>
            <a:off x="6143625" y="299085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4" name="oldMark0">
            <a:extLst>
              <a:ext uri="{FF2B5EF4-FFF2-40B4-BE49-F238E27FC236}">
                <a16:creationId xmlns:a16="http://schemas.microsoft.com/office/drawing/2014/main" id="{363D47E4-D27C-4908-A838-26F6102A4E52}"/>
              </a:ext>
            </a:extLst>
          </p:cNvPr>
          <p:cNvSpPr>
            <a:spLocks noGrp="1"/>
          </p:cNvSpPr>
          <p:nvPr/>
        </p:nvSpPr>
        <p:spPr>
          <a:xfrm>
            <a:off x="4152900" y="2943225"/>
            <a:ext cx="66675" cy="2286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5" name="track1">
            <a:extLst>
              <a:ext uri="{FF2B5EF4-FFF2-40B4-BE49-F238E27FC236}">
                <a16:creationId xmlns:a16="http://schemas.microsoft.com/office/drawing/2014/main" id="{BE6E4755-928E-4377-9D3A-96560686B9DC}"/>
              </a:ext>
            </a:extLst>
          </p:cNvPr>
          <p:cNvSpPr>
            <a:spLocks noGrp="1"/>
          </p:cNvSpPr>
          <p:nvPr/>
        </p:nvSpPr>
        <p:spPr>
          <a:xfrm>
            <a:off x="3714750" y="3733800"/>
            <a:ext cx="2428875" cy="9525"/>
          </a:xfrm>
          <a:custGeom>
            <a:avLst/>
            <a:gdLst/>
            <a:ahLst/>
            <a:cxnLst/>
            <a:rect l="0" t="0" r="0" b="0"/>
            <a:pathLst>
              <a:path w="2428875" h="9525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/>
          <a:ln w="38100">
            <a:solidFill>
              <a:srgbClr val="CBD2DC"/>
            </a:solidFill>
            <a:prstDash val="solid"/>
          </a:ln>
        </p:spPr>
      </p:sp>
      <p:sp>
        <p:nvSpPr>
          <p:cNvPr id="16" name="tick1_0">
            <a:extLst>
              <a:ext uri="{FF2B5EF4-FFF2-40B4-BE49-F238E27FC236}">
                <a16:creationId xmlns:a16="http://schemas.microsoft.com/office/drawing/2014/main" id="{C9225426-E29F-492E-8873-4457AB5C65F2}"/>
              </a:ext>
            </a:extLst>
          </p:cNvPr>
          <p:cNvSpPr>
            <a:spLocks noGrp="1"/>
          </p:cNvSpPr>
          <p:nvPr/>
        </p:nvSpPr>
        <p:spPr>
          <a:xfrm>
            <a:off x="3714750" y="3667125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7" name="tick1_1">
            <a:extLst>
              <a:ext uri="{FF2B5EF4-FFF2-40B4-BE49-F238E27FC236}">
                <a16:creationId xmlns:a16="http://schemas.microsoft.com/office/drawing/2014/main" id="{127E6088-78CC-4CBE-AEE4-0BFCC6E9D8B5}"/>
              </a:ext>
            </a:extLst>
          </p:cNvPr>
          <p:cNvSpPr>
            <a:spLocks noGrp="1"/>
          </p:cNvSpPr>
          <p:nvPr/>
        </p:nvSpPr>
        <p:spPr>
          <a:xfrm>
            <a:off x="4200525" y="3667125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8" name="tick1_2">
            <a:extLst>
              <a:ext uri="{FF2B5EF4-FFF2-40B4-BE49-F238E27FC236}">
                <a16:creationId xmlns:a16="http://schemas.microsoft.com/office/drawing/2014/main" id="{5602A08D-2199-4A4E-B53E-8E100DD863C3}"/>
              </a:ext>
            </a:extLst>
          </p:cNvPr>
          <p:cNvSpPr>
            <a:spLocks noGrp="1"/>
          </p:cNvSpPr>
          <p:nvPr/>
        </p:nvSpPr>
        <p:spPr>
          <a:xfrm>
            <a:off x="4686300" y="3667125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19" name="tick1_3">
            <a:extLst>
              <a:ext uri="{FF2B5EF4-FFF2-40B4-BE49-F238E27FC236}">
                <a16:creationId xmlns:a16="http://schemas.microsoft.com/office/drawing/2014/main" id="{FBD9A122-29D6-4D2E-8BCC-0E74C1EE4E24}"/>
              </a:ext>
            </a:extLst>
          </p:cNvPr>
          <p:cNvSpPr>
            <a:spLocks noGrp="1"/>
          </p:cNvSpPr>
          <p:nvPr/>
        </p:nvSpPr>
        <p:spPr>
          <a:xfrm>
            <a:off x="5172075" y="3667125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0" name="tick1_4">
            <a:extLst>
              <a:ext uri="{FF2B5EF4-FFF2-40B4-BE49-F238E27FC236}">
                <a16:creationId xmlns:a16="http://schemas.microsoft.com/office/drawing/2014/main" id="{8F3E4852-69DE-4D98-9CA9-E74A0140C7D9}"/>
              </a:ext>
            </a:extLst>
          </p:cNvPr>
          <p:cNvSpPr>
            <a:spLocks noGrp="1"/>
          </p:cNvSpPr>
          <p:nvPr/>
        </p:nvSpPr>
        <p:spPr>
          <a:xfrm>
            <a:off x="5657850" y="3667125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1" name="tick1_5">
            <a:extLst>
              <a:ext uri="{FF2B5EF4-FFF2-40B4-BE49-F238E27FC236}">
                <a16:creationId xmlns:a16="http://schemas.microsoft.com/office/drawing/2014/main" id="{AF58DA46-56FC-4E96-A57F-76C7C63065FA}"/>
              </a:ext>
            </a:extLst>
          </p:cNvPr>
          <p:cNvSpPr>
            <a:spLocks noGrp="1"/>
          </p:cNvSpPr>
          <p:nvPr/>
        </p:nvSpPr>
        <p:spPr>
          <a:xfrm>
            <a:off x="6143625" y="3667125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2" name="oldMark1">
            <a:extLst>
              <a:ext uri="{FF2B5EF4-FFF2-40B4-BE49-F238E27FC236}">
                <a16:creationId xmlns:a16="http://schemas.microsoft.com/office/drawing/2014/main" id="{26CA871E-045F-4ECE-BF9D-67F2908DDD2C}"/>
              </a:ext>
            </a:extLst>
          </p:cNvPr>
          <p:cNvSpPr>
            <a:spLocks noGrp="1"/>
          </p:cNvSpPr>
          <p:nvPr/>
        </p:nvSpPr>
        <p:spPr>
          <a:xfrm>
            <a:off x="4629150" y="3619500"/>
            <a:ext cx="66675" cy="2286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3" name="track2">
            <a:extLst>
              <a:ext uri="{FF2B5EF4-FFF2-40B4-BE49-F238E27FC236}">
                <a16:creationId xmlns:a16="http://schemas.microsoft.com/office/drawing/2014/main" id="{C9E1DA3D-6CAB-4B88-B30F-2694711BA635}"/>
              </a:ext>
            </a:extLst>
          </p:cNvPr>
          <p:cNvSpPr>
            <a:spLocks noGrp="1"/>
          </p:cNvSpPr>
          <p:nvPr/>
        </p:nvSpPr>
        <p:spPr>
          <a:xfrm>
            <a:off x="3714750" y="4410075"/>
            <a:ext cx="2428875" cy="9525"/>
          </a:xfrm>
          <a:custGeom>
            <a:avLst/>
            <a:gdLst/>
            <a:ahLst/>
            <a:cxnLst/>
            <a:rect l="0" t="0" r="0" b="0"/>
            <a:pathLst>
              <a:path w="2428875" h="9525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/>
          <a:ln w="38100">
            <a:solidFill>
              <a:srgbClr val="CBD2DC"/>
            </a:solidFill>
            <a:prstDash val="solid"/>
          </a:ln>
        </p:spPr>
      </p:sp>
      <p:sp>
        <p:nvSpPr>
          <p:cNvPr id="24" name="tick2_0">
            <a:extLst>
              <a:ext uri="{FF2B5EF4-FFF2-40B4-BE49-F238E27FC236}">
                <a16:creationId xmlns:a16="http://schemas.microsoft.com/office/drawing/2014/main" id="{4FEAEBA2-C4B3-47E2-BB12-D9B3D435BF3E}"/>
              </a:ext>
            </a:extLst>
          </p:cNvPr>
          <p:cNvSpPr>
            <a:spLocks noGrp="1"/>
          </p:cNvSpPr>
          <p:nvPr/>
        </p:nvSpPr>
        <p:spPr>
          <a:xfrm>
            <a:off x="3714750" y="434340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5" name="tick2_1">
            <a:extLst>
              <a:ext uri="{FF2B5EF4-FFF2-40B4-BE49-F238E27FC236}">
                <a16:creationId xmlns:a16="http://schemas.microsoft.com/office/drawing/2014/main" id="{BA4F2CAF-707C-4276-9986-D2E5A492BA1C}"/>
              </a:ext>
            </a:extLst>
          </p:cNvPr>
          <p:cNvSpPr>
            <a:spLocks noGrp="1"/>
          </p:cNvSpPr>
          <p:nvPr/>
        </p:nvSpPr>
        <p:spPr>
          <a:xfrm>
            <a:off x="4200525" y="434340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6" name="tick2_2">
            <a:extLst>
              <a:ext uri="{FF2B5EF4-FFF2-40B4-BE49-F238E27FC236}">
                <a16:creationId xmlns:a16="http://schemas.microsoft.com/office/drawing/2014/main" id="{565DCE15-CBBD-4807-A34B-EF2FD30C1EFD}"/>
              </a:ext>
            </a:extLst>
          </p:cNvPr>
          <p:cNvSpPr>
            <a:spLocks noGrp="1"/>
          </p:cNvSpPr>
          <p:nvPr/>
        </p:nvSpPr>
        <p:spPr>
          <a:xfrm>
            <a:off x="4686300" y="434340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7" name="tick2_3">
            <a:extLst>
              <a:ext uri="{FF2B5EF4-FFF2-40B4-BE49-F238E27FC236}">
                <a16:creationId xmlns:a16="http://schemas.microsoft.com/office/drawing/2014/main" id="{651C9508-DD9A-40E9-AABB-B8462754DC03}"/>
              </a:ext>
            </a:extLst>
          </p:cNvPr>
          <p:cNvSpPr>
            <a:spLocks noGrp="1"/>
          </p:cNvSpPr>
          <p:nvPr/>
        </p:nvSpPr>
        <p:spPr>
          <a:xfrm>
            <a:off x="5172075" y="434340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8" name="tick2_4">
            <a:extLst>
              <a:ext uri="{FF2B5EF4-FFF2-40B4-BE49-F238E27FC236}">
                <a16:creationId xmlns:a16="http://schemas.microsoft.com/office/drawing/2014/main" id="{EDF37157-DFC2-4D0F-9136-071474960E64}"/>
              </a:ext>
            </a:extLst>
          </p:cNvPr>
          <p:cNvSpPr>
            <a:spLocks noGrp="1"/>
          </p:cNvSpPr>
          <p:nvPr/>
        </p:nvSpPr>
        <p:spPr>
          <a:xfrm>
            <a:off x="5657850" y="434340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9" name="tick2_5">
            <a:extLst>
              <a:ext uri="{FF2B5EF4-FFF2-40B4-BE49-F238E27FC236}">
                <a16:creationId xmlns:a16="http://schemas.microsoft.com/office/drawing/2014/main" id="{282AC942-4CAE-4D20-B8CA-E8917A5AC857}"/>
              </a:ext>
            </a:extLst>
          </p:cNvPr>
          <p:cNvSpPr>
            <a:spLocks noGrp="1"/>
          </p:cNvSpPr>
          <p:nvPr/>
        </p:nvSpPr>
        <p:spPr>
          <a:xfrm>
            <a:off x="6143625" y="4343400"/>
            <a:ext cx="9525" cy="133350"/>
          </a:xfrm>
          <a:custGeom>
            <a:avLst/>
            <a:gdLst/>
            <a:ahLst/>
            <a:cxnLst/>
            <a:rect l="0" t="0" r="0" b="0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30" name="oldMark2">
            <a:extLst>
              <a:ext uri="{FF2B5EF4-FFF2-40B4-BE49-F238E27FC236}">
                <a16:creationId xmlns:a16="http://schemas.microsoft.com/office/drawing/2014/main" id="{1F20F4DA-76EA-435E-A96C-06BDB7277DE7}"/>
              </a:ext>
            </a:extLst>
          </p:cNvPr>
          <p:cNvSpPr>
            <a:spLocks noGrp="1"/>
          </p:cNvSpPr>
          <p:nvPr/>
        </p:nvSpPr>
        <p:spPr>
          <a:xfrm>
            <a:off x="5105400" y="4295775"/>
            <a:ext cx="66675" cy="2286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1" name="C1_names">
            <a:extLst>
              <a:ext uri="{FF2B5EF4-FFF2-40B4-BE49-F238E27FC236}">
                <a16:creationId xmlns:a16="http://schemas.microsoft.com/office/drawing/2014/main" id="{D1FC3B64-A9F7-4B21-9793-66C0714D3959}"/>
              </a:ext>
            </a:extLst>
          </p:cNvPr>
          <p:cNvSpPr>
            <a:spLocks noGrp="1"/>
          </p:cNvSpPr>
          <p:nvPr/>
        </p:nvSpPr>
        <p:spPr>
          <a:xfrm>
            <a:off x="3581400" y="4857750"/>
            <a:ext cx="3381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权重、偏置</a:t>
            </a:r>
          </a:p>
        </p:txBody>
      </p:sp>
      <p:sp>
        <p:nvSpPr>
          <p:cNvPr id="33" name="toModel">
            <a:extLst>
              <a:ext uri="{FF2B5EF4-FFF2-40B4-BE49-F238E27FC236}">
                <a16:creationId xmlns:a16="http://schemas.microsoft.com/office/drawing/2014/main" id="{7CC99BDC-2FF3-45F8-863B-F9C029C80E35}"/>
              </a:ext>
            </a:extLst>
          </p:cNvPr>
          <p:cNvSpPr>
            <a:spLocks noGrp="1"/>
          </p:cNvSpPr>
          <p:nvPr/>
        </p:nvSpPr>
        <p:spPr>
          <a:xfrm>
            <a:off x="2867025" y="3714750"/>
            <a:ext cx="419100" cy="9525"/>
          </a:xfrm>
          <a:custGeom>
            <a:avLst/>
            <a:gdLst/>
            <a:ahLst/>
            <a:cxnLst/>
            <a:rect l="0" t="0" r="0" b="0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4" name="toModel_a">
            <a:extLst>
              <a:ext uri="{FF2B5EF4-FFF2-40B4-BE49-F238E27FC236}">
                <a16:creationId xmlns:a16="http://schemas.microsoft.com/office/drawing/2014/main" id="{3722CF82-C976-4027-8EE0-528E51EB6DA7}"/>
              </a:ext>
            </a:extLst>
          </p:cNvPr>
          <p:cNvSpPr>
            <a:spLocks noGrp="1"/>
          </p:cNvSpPr>
          <p:nvPr/>
        </p:nvSpPr>
        <p:spPr>
          <a:xfrm>
            <a:off x="3185817" y="371475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5" name="toModel_b">
            <a:extLst>
              <a:ext uri="{FF2B5EF4-FFF2-40B4-BE49-F238E27FC236}">
                <a16:creationId xmlns:a16="http://schemas.microsoft.com/office/drawing/2014/main" id="{19ADC7C7-D894-4B6F-AAC5-94505D6B5A42}"/>
              </a:ext>
            </a:extLst>
          </p:cNvPr>
          <p:cNvSpPr>
            <a:spLocks noGrp="1"/>
          </p:cNvSpPr>
          <p:nvPr/>
        </p:nvSpPr>
        <p:spPr>
          <a:xfrm>
            <a:off x="3185817" y="365995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6" name="toScores">
            <a:extLst>
              <a:ext uri="{FF2B5EF4-FFF2-40B4-BE49-F238E27FC236}">
                <a16:creationId xmlns:a16="http://schemas.microsoft.com/office/drawing/2014/main" id="{D57468B3-7B19-4303-A804-A7F18056036A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676275" cy="9525"/>
          </a:xfrm>
          <a:custGeom>
            <a:avLst/>
            <a:gdLst/>
            <a:ahLst/>
            <a:cxnLst/>
            <a:rect l="0" t="0" r="0" b="0"/>
            <a:pathLst>
              <a:path w="676275" h="9525">
                <a:moveTo>
                  <a:pt x="0" y="0"/>
                </a:moveTo>
                <a:lnTo>
                  <a:pt x="676275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7" name="toScores_a">
            <a:extLst>
              <a:ext uri="{FF2B5EF4-FFF2-40B4-BE49-F238E27FC236}">
                <a16:creationId xmlns:a16="http://schemas.microsoft.com/office/drawing/2014/main" id="{C3E91A9F-6EBB-4C29-96E9-6956D1D3C26C}"/>
              </a:ext>
            </a:extLst>
          </p:cNvPr>
          <p:cNvSpPr>
            <a:spLocks noGrp="1"/>
          </p:cNvSpPr>
          <p:nvPr/>
        </p:nvSpPr>
        <p:spPr>
          <a:xfrm>
            <a:off x="7338717" y="371475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8" name="toScores_b">
            <a:extLst>
              <a:ext uri="{FF2B5EF4-FFF2-40B4-BE49-F238E27FC236}">
                <a16:creationId xmlns:a16="http://schemas.microsoft.com/office/drawing/2014/main" id="{718B25C3-3144-43DA-9CCC-0085D181DB03}"/>
              </a:ext>
            </a:extLst>
          </p:cNvPr>
          <p:cNvSpPr>
            <a:spLocks noGrp="1"/>
          </p:cNvSpPr>
          <p:nvPr/>
        </p:nvSpPr>
        <p:spPr>
          <a:xfrm>
            <a:off x="7338717" y="365995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9" name="scoreTitle">
            <a:extLst>
              <a:ext uri="{FF2B5EF4-FFF2-40B4-BE49-F238E27FC236}">
                <a16:creationId xmlns:a16="http://schemas.microsoft.com/office/drawing/2014/main" id="{3F711915-E2E2-4340-908C-81A03CE2F762}"/>
              </a:ext>
            </a:extLst>
          </p:cNvPr>
          <p:cNvSpPr>
            <a:spLocks noGrp="1"/>
          </p:cNvSpPr>
          <p:nvPr/>
        </p:nvSpPr>
        <p:spPr>
          <a:xfrm>
            <a:off x="7743825" y="2057400"/>
            <a:ext cx="3476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预测分数</a:t>
            </a:r>
          </a:p>
        </p:txBody>
      </p:sp>
      <p:sp>
        <p:nvSpPr>
          <p:cNvPr id="40" name="scoreLabel0">
            <a:extLst>
              <a:ext uri="{FF2B5EF4-FFF2-40B4-BE49-F238E27FC236}">
                <a16:creationId xmlns:a16="http://schemas.microsoft.com/office/drawing/2014/main" id="{CBC84163-AF13-4CAF-9E3F-2C916F1ACE14}"/>
              </a:ext>
            </a:extLst>
          </p:cNvPr>
          <p:cNvSpPr>
            <a:spLocks noGrp="1"/>
          </p:cNvSpPr>
          <p:nvPr/>
        </p:nvSpPr>
        <p:spPr>
          <a:xfrm>
            <a:off x="7724775" y="2914650"/>
            <a:ext cx="828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可乐</a:t>
            </a:r>
          </a:p>
        </p:txBody>
      </p:sp>
      <p:sp>
        <p:nvSpPr>
          <p:cNvPr id="41" name="scoreTrack0">
            <a:extLst>
              <a:ext uri="{FF2B5EF4-FFF2-40B4-BE49-F238E27FC236}">
                <a16:creationId xmlns:a16="http://schemas.microsoft.com/office/drawing/2014/main" id="{9CB66979-8C88-4263-A096-33D92304EAD0}"/>
              </a:ext>
            </a:extLst>
          </p:cNvPr>
          <p:cNvSpPr>
            <a:spLocks noGrp="1"/>
          </p:cNvSpPr>
          <p:nvPr/>
        </p:nvSpPr>
        <p:spPr>
          <a:xfrm>
            <a:off x="8667750" y="3114675"/>
            <a:ext cx="1905000" cy="9525"/>
          </a:xfrm>
          <a:custGeom>
            <a:avLst/>
            <a:gdLst/>
            <a:ahLst/>
            <a:cxnLst/>
            <a:rect l="0" t="0" r="0" b="0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42" name="scoreVal0">
            <a:extLst>
              <a:ext uri="{FF2B5EF4-FFF2-40B4-BE49-F238E27FC236}">
                <a16:creationId xmlns:a16="http://schemas.microsoft.com/office/drawing/2014/main" id="{71E0E3E8-7E42-4F59-8A0C-420B88BA7C2E}"/>
              </a:ext>
            </a:extLst>
          </p:cNvPr>
          <p:cNvSpPr>
            <a:spLocks noGrp="1"/>
          </p:cNvSpPr>
          <p:nvPr/>
        </p:nvSpPr>
        <p:spPr>
          <a:xfrm>
            <a:off x="10772775" y="2914650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9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43" name="scoreLabel1">
            <a:extLst>
              <a:ext uri="{FF2B5EF4-FFF2-40B4-BE49-F238E27FC236}">
                <a16:creationId xmlns:a16="http://schemas.microsoft.com/office/drawing/2014/main" id="{40D662D3-560C-4CFA-88C1-A64D56EBAFAC}"/>
              </a:ext>
            </a:extLst>
          </p:cNvPr>
          <p:cNvSpPr>
            <a:spLocks noGrp="1"/>
          </p:cNvSpPr>
          <p:nvPr/>
        </p:nvSpPr>
        <p:spPr>
          <a:xfrm>
            <a:off x="7724775" y="3590925"/>
            <a:ext cx="828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雪碧</a:t>
            </a:r>
          </a:p>
        </p:txBody>
      </p:sp>
      <p:sp>
        <p:nvSpPr>
          <p:cNvPr id="44" name="scoreTrack1">
            <a:extLst>
              <a:ext uri="{FF2B5EF4-FFF2-40B4-BE49-F238E27FC236}">
                <a16:creationId xmlns:a16="http://schemas.microsoft.com/office/drawing/2014/main" id="{20B10E0A-C4EE-436F-B51A-86A2EFA14B4F}"/>
              </a:ext>
            </a:extLst>
          </p:cNvPr>
          <p:cNvSpPr>
            <a:spLocks noGrp="1"/>
          </p:cNvSpPr>
          <p:nvPr/>
        </p:nvSpPr>
        <p:spPr>
          <a:xfrm>
            <a:off x="8667750" y="3790950"/>
            <a:ext cx="1905000" cy="9525"/>
          </a:xfrm>
          <a:custGeom>
            <a:avLst/>
            <a:gdLst/>
            <a:ahLst/>
            <a:cxnLst/>
            <a:rect l="0" t="0" r="0" b="0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45" name="scoreVal1">
            <a:extLst>
              <a:ext uri="{FF2B5EF4-FFF2-40B4-BE49-F238E27FC236}">
                <a16:creationId xmlns:a16="http://schemas.microsoft.com/office/drawing/2014/main" id="{E2B546B8-AD92-4CB0-B009-34E562A1A4F5}"/>
              </a:ext>
            </a:extLst>
          </p:cNvPr>
          <p:cNvSpPr>
            <a:spLocks noGrp="1"/>
          </p:cNvSpPr>
          <p:nvPr/>
        </p:nvSpPr>
        <p:spPr>
          <a:xfrm>
            <a:off x="10772775" y="3590925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9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46" name="scoreLabel2">
            <a:extLst>
              <a:ext uri="{FF2B5EF4-FFF2-40B4-BE49-F238E27FC236}">
                <a16:creationId xmlns:a16="http://schemas.microsoft.com/office/drawing/2014/main" id="{3643CD1D-F803-4490-B848-EC21D5F5DFA4}"/>
              </a:ext>
            </a:extLst>
          </p:cNvPr>
          <p:cNvSpPr>
            <a:spLocks noGrp="1"/>
          </p:cNvSpPr>
          <p:nvPr/>
        </p:nvSpPr>
        <p:spPr>
          <a:xfrm>
            <a:off x="7724775" y="4267200"/>
            <a:ext cx="828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芬达</a:t>
            </a:r>
          </a:p>
        </p:txBody>
      </p:sp>
      <p:sp>
        <p:nvSpPr>
          <p:cNvPr id="47" name="scoreTrack2">
            <a:extLst>
              <a:ext uri="{FF2B5EF4-FFF2-40B4-BE49-F238E27FC236}">
                <a16:creationId xmlns:a16="http://schemas.microsoft.com/office/drawing/2014/main" id="{CE582129-52B2-46F5-8BBE-4FAFD5AFCE1C}"/>
              </a:ext>
            </a:extLst>
          </p:cNvPr>
          <p:cNvSpPr>
            <a:spLocks noGrp="1"/>
          </p:cNvSpPr>
          <p:nvPr/>
        </p:nvSpPr>
        <p:spPr>
          <a:xfrm>
            <a:off x="8667750" y="4467225"/>
            <a:ext cx="1905000" cy="9525"/>
          </a:xfrm>
          <a:custGeom>
            <a:avLst/>
            <a:gdLst/>
            <a:ahLst/>
            <a:cxnLst/>
            <a:rect l="0" t="0" r="0" b="0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48" name="fantaBar">
            <a:extLst>
              <a:ext uri="{FF2B5EF4-FFF2-40B4-BE49-F238E27FC236}">
                <a16:creationId xmlns:a16="http://schemas.microsoft.com/office/drawing/2014/main" id="{72846E24-8549-4597-82A5-CB757EDB0FE3}"/>
              </a:ext>
            </a:extLst>
          </p:cNvPr>
          <p:cNvSpPr>
            <a:spLocks noGrp="1"/>
          </p:cNvSpPr>
          <p:nvPr/>
        </p:nvSpPr>
        <p:spPr>
          <a:xfrm>
            <a:off x="8667750" y="4333875"/>
            <a:ext cx="1905000" cy="266700"/>
          </a:xfrm>
          <a:prstGeom prst="rect">
            <a:avLst/>
          </a:prstGeom>
          <a:solidFill>
            <a:srgbClr val="C65D16"/>
          </a:solidFill>
          <a:ln w="0">
            <a:noFill/>
            <a:prstDash val="solid"/>
          </a:ln>
        </p:spPr>
      </p:sp>
      <p:sp>
        <p:nvSpPr>
          <p:cNvPr id="49" name="scoreVal2">
            <a:extLst>
              <a:ext uri="{FF2B5EF4-FFF2-40B4-BE49-F238E27FC236}">
                <a16:creationId xmlns:a16="http://schemas.microsoft.com/office/drawing/2014/main" id="{3F3B4BCC-E0E1-4D39-834F-17CCD073FB43}"/>
              </a:ext>
            </a:extLst>
          </p:cNvPr>
          <p:cNvSpPr>
            <a:spLocks noGrp="1"/>
          </p:cNvSpPr>
          <p:nvPr/>
        </p:nvSpPr>
        <p:spPr>
          <a:xfrm>
            <a:off x="10772775" y="4267200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950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50" name="C2_eraseParam">
            <a:extLst>
              <a:ext uri="{FF2B5EF4-FFF2-40B4-BE49-F238E27FC236}">
                <a16:creationId xmlns:a16="http://schemas.microsoft.com/office/drawing/2014/main" id="{0C3AFA2A-7E30-4D03-B4C6-E42247DC3687}"/>
              </a:ext>
            </a:extLst>
          </p:cNvPr>
          <p:cNvSpPr>
            <a:spLocks noGrp="1"/>
          </p:cNvSpPr>
          <p:nvPr/>
        </p:nvSpPr>
        <p:spPr>
          <a:xfrm>
            <a:off x="4086225" y="2914650"/>
            <a:ext cx="228600" cy="2857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51" name="C2_restoreTrack">
            <a:extLst>
              <a:ext uri="{FF2B5EF4-FFF2-40B4-BE49-F238E27FC236}">
                <a16:creationId xmlns:a16="http://schemas.microsoft.com/office/drawing/2014/main" id="{8FFD9CD6-BB0F-47CC-BF67-4EEA335710C8}"/>
              </a:ext>
            </a:extLst>
          </p:cNvPr>
          <p:cNvSpPr>
            <a:spLocks noGrp="1"/>
          </p:cNvSpPr>
          <p:nvPr/>
        </p:nvSpPr>
        <p:spPr>
          <a:xfrm>
            <a:off x="4086225" y="3057525"/>
            <a:ext cx="228600" cy="9525"/>
          </a:xfrm>
          <a:custGeom>
            <a:avLst/>
            <a:gdLst/>
            <a:ahLst/>
            <a:cxnLst/>
            <a:rect l="0" t="0" r="0" b="0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38100">
            <a:solidFill>
              <a:srgbClr val="CBD2DC"/>
            </a:solidFill>
            <a:prstDash val="solid"/>
          </a:ln>
        </p:spPr>
      </p:sp>
      <p:sp>
        <p:nvSpPr>
          <p:cNvPr id="52" name="C2_newParam">
            <a:extLst>
              <a:ext uri="{FF2B5EF4-FFF2-40B4-BE49-F238E27FC236}">
                <a16:creationId xmlns:a16="http://schemas.microsoft.com/office/drawing/2014/main" id="{F4127708-C161-4621-B2D8-2E9EB2C72F36}"/>
              </a:ext>
            </a:extLst>
          </p:cNvPr>
          <p:cNvSpPr>
            <a:spLocks noGrp="1"/>
          </p:cNvSpPr>
          <p:nvPr/>
        </p:nvSpPr>
        <p:spPr>
          <a:xfrm>
            <a:off x="5095875" y="2943225"/>
            <a:ext cx="66675" cy="2286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3" name="C2_wipe_cola">
            <a:extLst>
              <a:ext uri="{FF2B5EF4-FFF2-40B4-BE49-F238E27FC236}">
                <a16:creationId xmlns:a16="http://schemas.microsoft.com/office/drawing/2014/main" id="{CB360E4B-BE5F-41A1-8EAE-B822ADB3379A}"/>
              </a:ext>
            </a:extLst>
          </p:cNvPr>
          <p:cNvSpPr>
            <a:spLocks noGrp="1"/>
          </p:cNvSpPr>
          <p:nvPr/>
        </p:nvSpPr>
        <p:spPr>
          <a:xfrm>
            <a:off x="8667750" y="2981325"/>
            <a:ext cx="952500" cy="2667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4" name="C2_eraseScore">
            <a:extLst>
              <a:ext uri="{FF2B5EF4-FFF2-40B4-BE49-F238E27FC236}">
                <a16:creationId xmlns:a16="http://schemas.microsoft.com/office/drawing/2014/main" id="{D3DB3E5A-42E9-4548-9E76-57DF01672EAF}"/>
              </a:ext>
            </a:extLst>
          </p:cNvPr>
          <p:cNvSpPr>
            <a:spLocks noGrp="1"/>
          </p:cNvSpPr>
          <p:nvPr/>
        </p:nvSpPr>
        <p:spPr>
          <a:xfrm>
            <a:off x="10706100" y="2886075"/>
            <a:ext cx="857250" cy="409575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55" name="C2_newScore">
            <a:extLst>
              <a:ext uri="{FF2B5EF4-FFF2-40B4-BE49-F238E27FC236}">
                <a16:creationId xmlns:a16="http://schemas.microsoft.com/office/drawing/2014/main" id="{E6941120-973E-4DA4-A722-5974C5E5F2BB}"/>
              </a:ext>
            </a:extLst>
          </p:cNvPr>
          <p:cNvSpPr>
            <a:spLocks noGrp="1"/>
          </p:cNvSpPr>
          <p:nvPr/>
        </p:nvSpPr>
        <p:spPr>
          <a:xfrm>
            <a:off x="10772775" y="2914650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56" name="C2_stillWrong">
            <a:extLst>
              <a:ext uri="{FF2B5EF4-FFF2-40B4-BE49-F238E27FC236}">
                <a16:creationId xmlns:a16="http://schemas.microsoft.com/office/drawing/2014/main" id="{7FEB9B18-76FB-474F-BFB9-168969E46F41}"/>
              </a:ext>
            </a:extLst>
          </p:cNvPr>
          <p:cNvSpPr>
            <a:spLocks noGrp="1"/>
          </p:cNvSpPr>
          <p:nvPr/>
        </p:nvSpPr>
        <p:spPr>
          <a:xfrm>
            <a:off x="7743825" y="5019675"/>
            <a:ext cx="3495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2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仍然选芬达</a:t>
            </a:r>
          </a:p>
        </p:txBody>
      </p:sp>
      <p:sp>
        <p:nvSpPr>
          <p:cNvPr id="57" name="C3_conclusion">
            <a:extLst>
              <a:ext uri="{FF2B5EF4-FFF2-40B4-BE49-F238E27FC236}">
                <a16:creationId xmlns:a16="http://schemas.microsoft.com/office/drawing/2014/main" id="{71B604E0-B135-44F2-BEFB-9686B59E8EC2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训练通过数据调整参数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0606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5" grpId="0"/>
      <p:bldP spid="56" grpId="0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">
            <a:extLst>
              <a:ext uri="{FF2B5EF4-FFF2-40B4-BE49-F238E27FC236}">
                <a16:creationId xmlns:a16="http://schemas.microsoft.com/office/drawing/2014/main" id="{D2960DD8-867F-4979-8C98-D21452D2440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Loss 记录改进程度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8C167BA-9641-450E-9C7A-D142C5387CF8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DE9C39B-B966-44F9-AEE3-6109302B9B78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目标分数：可乐 1，雪碧 0，芬达 0</a:t>
            </a:r>
          </a:p>
        </p:txBody>
      </p:sp>
      <p:sp>
        <p:nvSpPr>
          <p:cNvPr id="4" name="side0">
            <a:extLst>
              <a:ext uri="{FF2B5EF4-FFF2-40B4-BE49-F238E27FC236}">
                <a16:creationId xmlns:a16="http://schemas.microsoft.com/office/drawing/2014/main" id="{9A502D85-41A3-4CB8-B7DB-EF2914F2DB0B}"/>
              </a:ext>
            </a:extLst>
          </p:cNvPr>
          <p:cNvSpPr>
            <a:spLocks noGrp="1"/>
          </p:cNvSpPr>
          <p:nvPr/>
        </p:nvSpPr>
        <p:spPr>
          <a:xfrm>
            <a:off x="790575" y="189547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调整前</a:t>
            </a:r>
          </a:p>
        </p:txBody>
      </p:sp>
      <p:sp>
        <p:nvSpPr>
          <p:cNvPr id="5" name="label00">
            <a:extLst>
              <a:ext uri="{FF2B5EF4-FFF2-40B4-BE49-F238E27FC236}">
                <a16:creationId xmlns:a16="http://schemas.microsoft.com/office/drawing/2014/main" id="{D6A8A4ED-3AC3-41CE-951F-7F74400DC948}"/>
              </a:ext>
            </a:extLst>
          </p:cNvPr>
          <p:cNvSpPr>
            <a:spLocks noGrp="1"/>
          </p:cNvSpPr>
          <p:nvPr/>
        </p:nvSpPr>
        <p:spPr>
          <a:xfrm>
            <a:off x="790575" y="2438400"/>
            <a:ext cx="76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可乐</a:t>
            </a:r>
          </a:p>
        </p:txBody>
      </p:sp>
      <p:sp>
        <p:nvSpPr>
          <p:cNvPr id="6" name="track00">
            <a:extLst>
              <a:ext uri="{FF2B5EF4-FFF2-40B4-BE49-F238E27FC236}">
                <a16:creationId xmlns:a16="http://schemas.microsoft.com/office/drawing/2014/main" id="{73F920B2-3753-4239-ADD6-39FD1F211446}"/>
              </a:ext>
            </a:extLst>
          </p:cNvPr>
          <p:cNvSpPr>
            <a:spLocks noGrp="1"/>
          </p:cNvSpPr>
          <p:nvPr/>
        </p:nvSpPr>
        <p:spPr>
          <a:xfrm>
            <a:off x="1676400" y="2628900"/>
            <a:ext cx="2095500" cy="9525"/>
          </a:xfrm>
          <a:custGeom>
            <a:avLst/>
            <a:gdLst/>
            <a:ahLst/>
            <a:cxnLst/>
            <a:rect l="0" t="0" r="0" b="0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7" name="value00">
            <a:extLst>
              <a:ext uri="{FF2B5EF4-FFF2-40B4-BE49-F238E27FC236}">
                <a16:creationId xmlns:a16="http://schemas.microsoft.com/office/drawing/2014/main" id="{B5823739-13F2-4703-8D40-EE94D961F718}"/>
              </a:ext>
            </a:extLst>
          </p:cNvPr>
          <p:cNvSpPr>
            <a:spLocks noGrp="1"/>
          </p:cNvSpPr>
          <p:nvPr/>
        </p:nvSpPr>
        <p:spPr>
          <a:xfrm>
            <a:off x="4057650" y="2438400"/>
            <a:ext cx="904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8" name="label01">
            <a:extLst>
              <a:ext uri="{FF2B5EF4-FFF2-40B4-BE49-F238E27FC236}">
                <a16:creationId xmlns:a16="http://schemas.microsoft.com/office/drawing/2014/main" id="{AD5811D6-B42D-4756-B5B7-CF3D406E7D1C}"/>
              </a:ext>
            </a:extLst>
          </p:cNvPr>
          <p:cNvSpPr>
            <a:spLocks noGrp="1"/>
          </p:cNvSpPr>
          <p:nvPr/>
        </p:nvSpPr>
        <p:spPr>
          <a:xfrm>
            <a:off x="790575" y="2971800"/>
            <a:ext cx="76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雪碧</a:t>
            </a:r>
          </a:p>
        </p:txBody>
      </p:sp>
      <p:sp>
        <p:nvSpPr>
          <p:cNvPr id="9" name="track01">
            <a:extLst>
              <a:ext uri="{FF2B5EF4-FFF2-40B4-BE49-F238E27FC236}">
                <a16:creationId xmlns:a16="http://schemas.microsoft.com/office/drawing/2014/main" id="{F4DFFF04-94CB-453F-A7FA-3ED4116B90BE}"/>
              </a:ext>
            </a:extLst>
          </p:cNvPr>
          <p:cNvSpPr>
            <a:spLocks noGrp="1"/>
          </p:cNvSpPr>
          <p:nvPr/>
        </p:nvSpPr>
        <p:spPr>
          <a:xfrm>
            <a:off x="1676400" y="3162300"/>
            <a:ext cx="2095500" cy="9525"/>
          </a:xfrm>
          <a:custGeom>
            <a:avLst/>
            <a:gdLst/>
            <a:ahLst/>
            <a:cxnLst/>
            <a:rect l="0" t="0" r="0" b="0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0" name="value01">
            <a:extLst>
              <a:ext uri="{FF2B5EF4-FFF2-40B4-BE49-F238E27FC236}">
                <a16:creationId xmlns:a16="http://schemas.microsoft.com/office/drawing/2014/main" id="{8459987F-5273-4E42-BBA0-55C4C393921E}"/>
              </a:ext>
            </a:extLst>
          </p:cNvPr>
          <p:cNvSpPr>
            <a:spLocks noGrp="1"/>
          </p:cNvSpPr>
          <p:nvPr/>
        </p:nvSpPr>
        <p:spPr>
          <a:xfrm>
            <a:off x="4057650" y="2971800"/>
            <a:ext cx="904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11" name="label02">
            <a:extLst>
              <a:ext uri="{FF2B5EF4-FFF2-40B4-BE49-F238E27FC236}">
                <a16:creationId xmlns:a16="http://schemas.microsoft.com/office/drawing/2014/main" id="{21A91FA1-5CB4-4892-85CC-B9243B386850}"/>
              </a:ext>
            </a:extLst>
          </p:cNvPr>
          <p:cNvSpPr>
            <a:spLocks noGrp="1"/>
          </p:cNvSpPr>
          <p:nvPr/>
        </p:nvSpPr>
        <p:spPr>
          <a:xfrm>
            <a:off x="790575" y="3505200"/>
            <a:ext cx="76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芬达</a:t>
            </a:r>
          </a:p>
        </p:txBody>
      </p:sp>
      <p:sp>
        <p:nvSpPr>
          <p:cNvPr id="12" name="track02">
            <a:extLst>
              <a:ext uri="{FF2B5EF4-FFF2-40B4-BE49-F238E27FC236}">
                <a16:creationId xmlns:a16="http://schemas.microsoft.com/office/drawing/2014/main" id="{A177E3EB-1287-438A-9F04-E1B30D25628D}"/>
              </a:ext>
            </a:extLst>
          </p:cNvPr>
          <p:cNvSpPr>
            <a:spLocks noGrp="1"/>
          </p:cNvSpPr>
          <p:nvPr/>
        </p:nvSpPr>
        <p:spPr>
          <a:xfrm>
            <a:off x="1676400" y="3695700"/>
            <a:ext cx="2095500" cy="9525"/>
          </a:xfrm>
          <a:custGeom>
            <a:avLst/>
            <a:gdLst/>
            <a:ahLst/>
            <a:cxnLst/>
            <a:rect l="0" t="0" r="0" b="0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3" name="bar02">
            <a:extLst>
              <a:ext uri="{FF2B5EF4-FFF2-40B4-BE49-F238E27FC236}">
                <a16:creationId xmlns:a16="http://schemas.microsoft.com/office/drawing/2014/main" id="{977572A1-8266-4630-B5E3-017BDF701597}"/>
              </a:ext>
            </a:extLst>
          </p:cNvPr>
          <p:cNvSpPr>
            <a:spLocks noGrp="1"/>
          </p:cNvSpPr>
          <p:nvPr/>
        </p:nvSpPr>
        <p:spPr>
          <a:xfrm>
            <a:off x="1676400" y="3571875"/>
            <a:ext cx="2095500" cy="238125"/>
          </a:xfrm>
          <a:prstGeom prst="rect">
            <a:avLst/>
          </a:prstGeom>
          <a:solidFill>
            <a:srgbClr val="C65D16"/>
          </a:solidFill>
          <a:ln w="0">
            <a:noFill/>
            <a:prstDash val="solid"/>
          </a:ln>
        </p:spPr>
      </p:sp>
      <p:sp>
        <p:nvSpPr>
          <p:cNvPr id="14" name="value02">
            <a:extLst>
              <a:ext uri="{FF2B5EF4-FFF2-40B4-BE49-F238E27FC236}">
                <a16:creationId xmlns:a16="http://schemas.microsoft.com/office/drawing/2014/main" id="{916B58FA-6425-48C5-9B40-3F792220B827}"/>
              </a:ext>
            </a:extLst>
          </p:cNvPr>
          <p:cNvSpPr>
            <a:spLocks noGrp="1"/>
          </p:cNvSpPr>
          <p:nvPr/>
        </p:nvSpPr>
        <p:spPr>
          <a:xfrm>
            <a:off x="4057650" y="3505200"/>
            <a:ext cx="904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15" name="C1_wrong0">
            <a:extLst>
              <a:ext uri="{FF2B5EF4-FFF2-40B4-BE49-F238E27FC236}">
                <a16:creationId xmlns:a16="http://schemas.microsoft.com/office/drawing/2014/main" id="{A6FD47D5-46DC-4F95-B265-450FB61B8015}"/>
              </a:ext>
            </a:extLst>
          </p:cNvPr>
          <p:cNvSpPr>
            <a:spLocks noGrp="1"/>
          </p:cNvSpPr>
          <p:nvPr/>
        </p:nvSpPr>
        <p:spPr>
          <a:xfrm>
            <a:off x="790575" y="4048125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仍选芬达</a:t>
            </a:r>
          </a:p>
        </p:txBody>
      </p:sp>
      <p:sp>
        <p:nvSpPr>
          <p:cNvPr id="16" name="C2_rule0">
            <a:extLst>
              <a:ext uri="{FF2B5EF4-FFF2-40B4-BE49-F238E27FC236}">
                <a16:creationId xmlns:a16="http://schemas.microsoft.com/office/drawing/2014/main" id="{666012A7-D2EF-40AA-8D31-16627191B205}"/>
              </a:ext>
            </a:extLst>
          </p:cNvPr>
          <p:cNvSpPr>
            <a:spLocks noGrp="1"/>
          </p:cNvSpPr>
          <p:nvPr/>
        </p:nvSpPr>
        <p:spPr>
          <a:xfrm>
            <a:off x="790575" y="45339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各项差距平方，再相加</a:t>
            </a:r>
          </a:p>
        </p:txBody>
      </p:sp>
      <p:sp>
        <p:nvSpPr>
          <p:cNvPr id="17" name="C2_math0">
            <a:extLst>
              <a:ext uri="{FF2B5EF4-FFF2-40B4-BE49-F238E27FC236}">
                <a16:creationId xmlns:a16="http://schemas.microsoft.com/office/drawing/2014/main" id="{1E3A58B8-BD13-4189-AB6D-887FEBD964E3}"/>
              </a:ext>
            </a:extLst>
          </p:cNvPr>
          <p:cNvSpPr>
            <a:spLocks noGrp="1"/>
          </p:cNvSpPr>
          <p:nvPr/>
        </p:nvSpPr>
        <p:spPr>
          <a:xfrm>
            <a:off x="790575" y="4867275"/>
            <a:ext cx="4524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1 + 0 + 1 = 2</a:t>
            </a:r>
          </a:p>
        </p:txBody>
      </p:sp>
      <p:sp>
        <p:nvSpPr>
          <p:cNvPr id="18" name="C2_colaLoss0">
            <a:extLst>
              <a:ext uri="{FF2B5EF4-FFF2-40B4-BE49-F238E27FC236}">
                <a16:creationId xmlns:a16="http://schemas.microsoft.com/office/drawing/2014/main" id="{AC68E9AA-B91F-42F1-B89A-5F28D4990D72}"/>
              </a:ext>
            </a:extLst>
          </p:cNvPr>
          <p:cNvSpPr>
            <a:spLocks noGrp="1"/>
          </p:cNvSpPr>
          <p:nvPr/>
        </p:nvSpPr>
        <p:spPr>
          <a:xfrm>
            <a:off x="790575" y="5467350"/>
            <a:ext cx="1619250" cy="2286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C2_fantaLoss0">
            <a:extLst>
              <a:ext uri="{FF2B5EF4-FFF2-40B4-BE49-F238E27FC236}">
                <a16:creationId xmlns:a16="http://schemas.microsoft.com/office/drawing/2014/main" id="{3A29DF5F-C7E4-4AC3-A1CD-97652A96D2AC}"/>
              </a:ext>
            </a:extLst>
          </p:cNvPr>
          <p:cNvSpPr>
            <a:spLocks noGrp="1"/>
          </p:cNvSpPr>
          <p:nvPr/>
        </p:nvSpPr>
        <p:spPr>
          <a:xfrm>
            <a:off x="2409825" y="5467350"/>
            <a:ext cx="1619250" cy="228600"/>
          </a:xfrm>
          <a:prstGeom prst="rect">
            <a:avLst/>
          </a:prstGeom>
          <a:solidFill>
            <a:srgbClr val="C65D16"/>
          </a:solidFill>
          <a:ln w="0">
            <a:noFill/>
            <a:prstDash val="solid"/>
          </a:ln>
        </p:spPr>
      </p:sp>
      <p:sp>
        <p:nvSpPr>
          <p:cNvPr id="20" name="C2_loss0">
            <a:extLst>
              <a:ext uri="{FF2B5EF4-FFF2-40B4-BE49-F238E27FC236}">
                <a16:creationId xmlns:a16="http://schemas.microsoft.com/office/drawing/2014/main" id="{89592429-8022-4376-B02C-7F495B12727A}"/>
              </a:ext>
            </a:extLst>
          </p:cNvPr>
          <p:cNvSpPr>
            <a:spLocks noGrp="1"/>
          </p:cNvSpPr>
          <p:nvPr/>
        </p:nvSpPr>
        <p:spPr>
          <a:xfrm>
            <a:off x="4143375" y="5381625"/>
            <a:ext cx="1714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 2</a:t>
            </a:r>
          </a:p>
        </p:txBody>
      </p:sp>
      <p:sp>
        <p:nvSpPr>
          <p:cNvPr id="21" name="side1">
            <a:extLst>
              <a:ext uri="{FF2B5EF4-FFF2-40B4-BE49-F238E27FC236}">
                <a16:creationId xmlns:a16="http://schemas.microsoft.com/office/drawing/2014/main" id="{76C9C26D-1BE2-46E4-B145-91ECD4B7DFA5}"/>
              </a:ext>
            </a:extLst>
          </p:cNvPr>
          <p:cNvSpPr>
            <a:spLocks noGrp="1"/>
          </p:cNvSpPr>
          <p:nvPr/>
        </p:nvSpPr>
        <p:spPr>
          <a:xfrm>
            <a:off x="6610350" y="189547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调整后</a:t>
            </a:r>
          </a:p>
        </p:txBody>
      </p:sp>
      <p:sp>
        <p:nvSpPr>
          <p:cNvPr id="22" name="label10">
            <a:extLst>
              <a:ext uri="{FF2B5EF4-FFF2-40B4-BE49-F238E27FC236}">
                <a16:creationId xmlns:a16="http://schemas.microsoft.com/office/drawing/2014/main" id="{30F92756-0E65-4B70-B796-3CA83B48C307}"/>
              </a:ext>
            </a:extLst>
          </p:cNvPr>
          <p:cNvSpPr>
            <a:spLocks noGrp="1"/>
          </p:cNvSpPr>
          <p:nvPr/>
        </p:nvSpPr>
        <p:spPr>
          <a:xfrm>
            <a:off x="6610350" y="2438400"/>
            <a:ext cx="76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可乐</a:t>
            </a:r>
          </a:p>
        </p:txBody>
      </p:sp>
      <p:sp>
        <p:nvSpPr>
          <p:cNvPr id="23" name="track10">
            <a:extLst>
              <a:ext uri="{FF2B5EF4-FFF2-40B4-BE49-F238E27FC236}">
                <a16:creationId xmlns:a16="http://schemas.microsoft.com/office/drawing/2014/main" id="{BFC62410-010C-4F83-BC7D-25BE1BCABB02}"/>
              </a:ext>
            </a:extLst>
          </p:cNvPr>
          <p:cNvSpPr>
            <a:spLocks noGrp="1"/>
          </p:cNvSpPr>
          <p:nvPr/>
        </p:nvSpPr>
        <p:spPr>
          <a:xfrm>
            <a:off x="7496175" y="2628900"/>
            <a:ext cx="2095500" cy="9525"/>
          </a:xfrm>
          <a:custGeom>
            <a:avLst/>
            <a:gdLst/>
            <a:ahLst/>
            <a:cxnLst/>
            <a:rect l="0" t="0" r="0" b="0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4" name="bar10">
            <a:extLst>
              <a:ext uri="{FF2B5EF4-FFF2-40B4-BE49-F238E27FC236}">
                <a16:creationId xmlns:a16="http://schemas.microsoft.com/office/drawing/2014/main" id="{61FAC39C-5E2F-4645-87F6-A81049765C54}"/>
              </a:ext>
            </a:extLst>
          </p:cNvPr>
          <p:cNvSpPr>
            <a:spLocks noGrp="1"/>
          </p:cNvSpPr>
          <p:nvPr/>
        </p:nvSpPr>
        <p:spPr>
          <a:xfrm>
            <a:off x="7496175" y="2505075"/>
            <a:ext cx="1047750" cy="2381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5" name="value10">
            <a:extLst>
              <a:ext uri="{FF2B5EF4-FFF2-40B4-BE49-F238E27FC236}">
                <a16:creationId xmlns:a16="http://schemas.microsoft.com/office/drawing/2014/main" id="{36D59965-CD57-4233-81BA-67506DBBD6F8}"/>
              </a:ext>
            </a:extLst>
          </p:cNvPr>
          <p:cNvSpPr>
            <a:spLocks noGrp="1"/>
          </p:cNvSpPr>
          <p:nvPr/>
        </p:nvSpPr>
        <p:spPr>
          <a:xfrm>
            <a:off x="9877425" y="2438400"/>
            <a:ext cx="904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26" name="label11">
            <a:extLst>
              <a:ext uri="{FF2B5EF4-FFF2-40B4-BE49-F238E27FC236}">
                <a16:creationId xmlns:a16="http://schemas.microsoft.com/office/drawing/2014/main" id="{EA338445-FEBF-4640-98EB-69542A762E39}"/>
              </a:ext>
            </a:extLst>
          </p:cNvPr>
          <p:cNvSpPr>
            <a:spLocks noGrp="1"/>
          </p:cNvSpPr>
          <p:nvPr/>
        </p:nvSpPr>
        <p:spPr>
          <a:xfrm>
            <a:off x="6610350" y="2971800"/>
            <a:ext cx="76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雪碧</a:t>
            </a:r>
          </a:p>
        </p:txBody>
      </p:sp>
      <p:sp>
        <p:nvSpPr>
          <p:cNvPr id="27" name="track11">
            <a:extLst>
              <a:ext uri="{FF2B5EF4-FFF2-40B4-BE49-F238E27FC236}">
                <a16:creationId xmlns:a16="http://schemas.microsoft.com/office/drawing/2014/main" id="{339A2BD0-D742-4F7F-9181-738BCE2EEB42}"/>
              </a:ext>
            </a:extLst>
          </p:cNvPr>
          <p:cNvSpPr>
            <a:spLocks noGrp="1"/>
          </p:cNvSpPr>
          <p:nvPr/>
        </p:nvSpPr>
        <p:spPr>
          <a:xfrm>
            <a:off x="7496175" y="3162300"/>
            <a:ext cx="2095500" cy="9525"/>
          </a:xfrm>
          <a:custGeom>
            <a:avLst/>
            <a:gdLst/>
            <a:ahLst/>
            <a:cxnLst/>
            <a:rect l="0" t="0" r="0" b="0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8" name="value11">
            <a:extLst>
              <a:ext uri="{FF2B5EF4-FFF2-40B4-BE49-F238E27FC236}">
                <a16:creationId xmlns:a16="http://schemas.microsoft.com/office/drawing/2014/main" id="{B636459B-7BC8-45A2-A387-EE048C563C61}"/>
              </a:ext>
            </a:extLst>
          </p:cNvPr>
          <p:cNvSpPr>
            <a:spLocks noGrp="1"/>
          </p:cNvSpPr>
          <p:nvPr/>
        </p:nvSpPr>
        <p:spPr>
          <a:xfrm>
            <a:off x="9877425" y="2971800"/>
            <a:ext cx="904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29" name="label12">
            <a:extLst>
              <a:ext uri="{FF2B5EF4-FFF2-40B4-BE49-F238E27FC236}">
                <a16:creationId xmlns:a16="http://schemas.microsoft.com/office/drawing/2014/main" id="{2DA751D6-8C49-4408-87B1-4C061991BA14}"/>
              </a:ext>
            </a:extLst>
          </p:cNvPr>
          <p:cNvSpPr>
            <a:spLocks noGrp="1"/>
          </p:cNvSpPr>
          <p:nvPr/>
        </p:nvSpPr>
        <p:spPr>
          <a:xfrm>
            <a:off x="6610350" y="3505200"/>
            <a:ext cx="76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芬达</a:t>
            </a:r>
          </a:p>
        </p:txBody>
      </p:sp>
      <p:sp>
        <p:nvSpPr>
          <p:cNvPr id="30" name="track12">
            <a:extLst>
              <a:ext uri="{FF2B5EF4-FFF2-40B4-BE49-F238E27FC236}">
                <a16:creationId xmlns:a16="http://schemas.microsoft.com/office/drawing/2014/main" id="{587AEF10-91BB-4C69-B9C7-3A02454DC8F6}"/>
              </a:ext>
            </a:extLst>
          </p:cNvPr>
          <p:cNvSpPr>
            <a:spLocks noGrp="1"/>
          </p:cNvSpPr>
          <p:nvPr/>
        </p:nvSpPr>
        <p:spPr>
          <a:xfrm>
            <a:off x="7496175" y="3695700"/>
            <a:ext cx="2095500" cy="9525"/>
          </a:xfrm>
          <a:custGeom>
            <a:avLst/>
            <a:gdLst/>
            <a:ahLst/>
            <a:cxnLst/>
            <a:rect l="0" t="0" r="0" b="0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31" name="bar12">
            <a:extLst>
              <a:ext uri="{FF2B5EF4-FFF2-40B4-BE49-F238E27FC236}">
                <a16:creationId xmlns:a16="http://schemas.microsoft.com/office/drawing/2014/main" id="{18B1B183-5402-4EE4-92E2-70DB3289498A}"/>
              </a:ext>
            </a:extLst>
          </p:cNvPr>
          <p:cNvSpPr>
            <a:spLocks noGrp="1"/>
          </p:cNvSpPr>
          <p:nvPr/>
        </p:nvSpPr>
        <p:spPr>
          <a:xfrm>
            <a:off x="7496175" y="3571875"/>
            <a:ext cx="2095500" cy="238125"/>
          </a:xfrm>
          <a:prstGeom prst="rect">
            <a:avLst/>
          </a:prstGeom>
          <a:solidFill>
            <a:srgbClr val="C65D16"/>
          </a:solidFill>
          <a:ln w="0">
            <a:noFill/>
            <a:prstDash val="solid"/>
          </a:ln>
        </p:spPr>
      </p:sp>
      <p:sp>
        <p:nvSpPr>
          <p:cNvPr id="32" name="value12">
            <a:extLst>
              <a:ext uri="{FF2B5EF4-FFF2-40B4-BE49-F238E27FC236}">
                <a16:creationId xmlns:a16="http://schemas.microsoft.com/office/drawing/2014/main" id="{2AAE5337-A6FC-4D10-A38C-7924B7C3CAA4}"/>
              </a:ext>
            </a:extLst>
          </p:cNvPr>
          <p:cNvSpPr>
            <a:spLocks noGrp="1"/>
          </p:cNvSpPr>
          <p:nvPr/>
        </p:nvSpPr>
        <p:spPr>
          <a:xfrm>
            <a:off x="9877425" y="3505200"/>
            <a:ext cx="904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33" name="C1_wrong1">
            <a:extLst>
              <a:ext uri="{FF2B5EF4-FFF2-40B4-BE49-F238E27FC236}">
                <a16:creationId xmlns:a16="http://schemas.microsoft.com/office/drawing/2014/main" id="{9CDB0305-9A28-492B-8174-63CAC21E2FA9}"/>
              </a:ext>
            </a:extLst>
          </p:cNvPr>
          <p:cNvSpPr>
            <a:spLocks noGrp="1"/>
          </p:cNvSpPr>
          <p:nvPr/>
        </p:nvSpPr>
        <p:spPr>
          <a:xfrm>
            <a:off x="6610350" y="4048125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仍选芬达</a:t>
            </a:r>
          </a:p>
        </p:txBody>
      </p:sp>
      <p:sp>
        <p:nvSpPr>
          <p:cNvPr id="34" name="C3_rule1">
            <a:extLst>
              <a:ext uri="{FF2B5EF4-FFF2-40B4-BE49-F238E27FC236}">
                <a16:creationId xmlns:a16="http://schemas.microsoft.com/office/drawing/2014/main" id="{02759894-2B05-4E39-BE68-3E760FECFF78}"/>
              </a:ext>
            </a:extLst>
          </p:cNvPr>
          <p:cNvSpPr>
            <a:spLocks noGrp="1"/>
          </p:cNvSpPr>
          <p:nvPr/>
        </p:nvSpPr>
        <p:spPr>
          <a:xfrm>
            <a:off x="6610350" y="45339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各项差距平方，再相加</a:t>
            </a:r>
          </a:p>
        </p:txBody>
      </p:sp>
      <p:sp>
        <p:nvSpPr>
          <p:cNvPr id="35" name="C3_math1">
            <a:extLst>
              <a:ext uri="{FF2B5EF4-FFF2-40B4-BE49-F238E27FC236}">
                <a16:creationId xmlns:a16="http://schemas.microsoft.com/office/drawing/2014/main" id="{898C6CB5-D640-45C5-81DA-AA606E2BE061}"/>
              </a:ext>
            </a:extLst>
          </p:cNvPr>
          <p:cNvSpPr>
            <a:spLocks noGrp="1"/>
          </p:cNvSpPr>
          <p:nvPr/>
        </p:nvSpPr>
        <p:spPr>
          <a:xfrm>
            <a:off x="6610350" y="4867275"/>
            <a:ext cx="4524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0.25 + 0 + 1 = 1.25</a:t>
            </a:r>
          </a:p>
        </p:txBody>
      </p:sp>
      <p:sp>
        <p:nvSpPr>
          <p:cNvPr id="36" name="C3_colaLoss1">
            <a:extLst>
              <a:ext uri="{FF2B5EF4-FFF2-40B4-BE49-F238E27FC236}">
                <a16:creationId xmlns:a16="http://schemas.microsoft.com/office/drawing/2014/main" id="{9BCBF6CB-709E-4BD3-8F22-796EA69ED0B7}"/>
              </a:ext>
            </a:extLst>
          </p:cNvPr>
          <p:cNvSpPr>
            <a:spLocks noGrp="1"/>
          </p:cNvSpPr>
          <p:nvPr/>
        </p:nvSpPr>
        <p:spPr>
          <a:xfrm>
            <a:off x="6610350" y="5467350"/>
            <a:ext cx="404813" cy="2286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7" name="C3_fantaLoss1">
            <a:extLst>
              <a:ext uri="{FF2B5EF4-FFF2-40B4-BE49-F238E27FC236}">
                <a16:creationId xmlns:a16="http://schemas.microsoft.com/office/drawing/2014/main" id="{945523D0-A050-457B-8784-F8B765FBF14D}"/>
              </a:ext>
            </a:extLst>
          </p:cNvPr>
          <p:cNvSpPr>
            <a:spLocks noGrp="1"/>
          </p:cNvSpPr>
          <p:nvPr/>
        </p:nvSpPr>
        <p:spPr>
          <a:xfrm>
            <a:off x="7015163" y="5467350"/>
            <a:ext cx="1619250" cy="228600"/>
          </a:xfrm>
          <a:prstGeom prst="rect">
            <a:avLst/>
          </a:prstGeom>
          <a:solidFill>
            <a:srgbClr val="C65D16"/>
          </a:solidFill>
          <a:ln w="0">
            <a:noFill/>
            <a:prstDash val="solid"/>
          </a:ln>
        </p:spPr>
      </p:sp>
      <p:sp>
        <p:nvSpPr>
          <p:cNvPr id="38" name="C3_loss1">
            <a:extLst>
              <a:ext uri="{FF2B5EF4-FFF2-40B4-BE49-F238E27FC236}">
                <a16:creationId xmlns:a16="http://schemas.microsoft.com/office/drawing/2014/main" id="{CD184796-1189-4D9A-863C-D06C3A42DFDF}"/>
              </a:ext>
            </a:extLst>
          </p:cNvPr>
          <p:cNvSpPr>
            <a:spLocks noGrp="1"/>
          </p:cNvSpPr>
          <p:nvPr/>
        </p:nvSpPr>
        <p:spPr>
          <a:xfrm>
            <a:off x="9963150" y="5381625"/>
            <a:ext cx="1714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 1.25</a:t>
            </a:r>
          </a:p>
        </p:txBody>
      </p:sp>
      <p:sp>
        <p:nvSpPr>
          <p:cNvPr id="39" name="divider">
            <a:extLst>
              <a:ext uri="{FF2B5EF4-FFF2-40B4-BE49-F238E27FC236}">
                <a16:creationId xmlns:a16="http://schemas.microsoft.com/office/drawing/2014/main" id="{2410F6B1-E0FC-4BED-A268-CCFBD7FBEA12}"/>
              </a:ext>
            </a:extLst>
          </p:cNvPr>
          <p:cNvSpPr>
            <a:spLocks noGrp="1"/>
          </p:cNvSpPr>
          <p:nvPr/>
        </p:nvSpPr>
        <p:spPr>
          <a:xfrm>
            <a:off x="6010275" y="1943100"/>
            <a:ext cx="9525" cy="3714750"/>
          </a:xfrm>
          <a:custGeom>
            <a:avLst/>
            <a:gdLst/>
            <a:ahLst/>
            <a:cxnLst/>
            <a:rect l="0" t="0" r="0" b="0"/>
            <a:pathLst>
              <a:path w="952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40" name="C4_conclusion">
            <a:extLst>
              <a:ext uri="{FF2B5EF4-FFF2-40B4-BE49-F238E27FC236}">
                <a16:creationId xmlns:a16="http://schemas.microsoft.com/office/drawing/2014/main" id="{30F0506C-262A-4AFD-87F4-EC61577B0917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还没答对，也可以有所改进</a:t>
            </a:r>
          </a:p>
        </p:txBody>
      </p:sp>
    </p:spTree>
    <p:extLst>
      <p:ext uri="{BB962C8B-B14F-4D97-AF65-F5344CB8AC3E}">
        <p14:creationId xmlns:p14="http://schemas.microsoft.com/office/powerpoint/2010/main" val="179016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33" grpId="0"/>
      <p:bldP spid="34" grpId="0"/>
      <p:bldP spid="35" grpId="0"/>
      <p:bldP spid="38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>
            <a:extLst>
              <a:ext uri="{FF2B5EF4-FFF2-40B4-BE49-F238E27FC236}">
                <a16:creationId xmlns:a16="http://schemas.microsoft.com/office/drawing/2014/main" id="{BA77F655-E341-46A4-A1E6-6D1B04A8FB6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从单张 Loss 到 batch Loss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625CA03C-AF16-4A6E-B10D-593B7C87D13F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DA6DA8C-431E-44E6-AD6B-5642897DD24D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同一组参数，分别给这一批图片评分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base_photo0" descr="用户提供的饮料图片">
            <a:extLst>
              <a:ext uri="{FF2B5EF4-FFF2-40B4-BE49-F238E27FC236}">
                <a16:creationId xmlns:a16="http://schemas.microsoft.com/office/drawing/2014/main" id="{FE73D83E-9D85-4D3C-8EC3-DBE39A2F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2245519"/>
            <a:ext cx="2171700" cy="1357313"/>
          </a:xfrm>
          <a:prstGeom prst="rect">
            <a:avLst/>
          </a:prstGeom>
        </p:spPr>
      </p:pic>
      <p:sp>
        <p:nvSpPr>
          <p:cNvPr id="6" name="base_loss0">
            <a:extLst>
              <a:ext uri="{FF2B5EF4-FFF2-40B4-BE49-F238E27FC236}">
                <a16:creationId xmlns:a16="http://schemas.microsoft.com/office/drawing/2014/main" id="{69CD1240-987C-489D-AA43-99E029495C63}"/>
              </a:ext>
            </a:extLst>
          </p:cNvPr>
          <p:cNvSpPr>
            <a:spLocks noGrp="1"/>
          </p:cNvSpPr>
          <p:nvPr/>
        </p:nvSpPr>
        <p:spPr>
          <a:xfrm>
            <a:off x="742950" y="4371975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 = 2</a:t>
            </a:r>
          </a:p>
        </p:txBody>
      </p:sp>
      <p:pic>
        <p:nvPicPr>
          <p:cNvPr id="7" name="C1_photo1" descr="用户提供的饮料图片">
            <a:extLst>
              <a:ext uri="{FF2B5EF4-FFF2-40B4-BE49-F238E27FC236}">
                <a16:creationId xmlns:a16="http://schemas.microsoft.com/office/drawing/2014/main" id="{35BA1AF7-9C06-4039-94E9-54EAD885F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915301" y="2009775"/>
            <a:ext cx="1522949" cy="1828800"/>
          </a:xfrm>
          <a:prstGeom prst="rect">
            <a:avLst/>
          </a:prstGeom>
        </p:spPr>
      </p:pic>
      <p:sp>
        <p:nvSpPr>
          <p:cNvPr id="9" name="C1_loss1">
            <a:extLst>
              <a:ext uri="{FF2B5EF4-FFF2-40B4-BE49-F238E27FC236}">
                <a16:creationId xmlns:a16="http://schemas.microsoft.com/office/drawing/2014/main" id="{57299DA8-66A0-48C0-AAE5-2F434823D44F}"/>
              </a:ext>
            </a:extLst>
          </p:cNvPr>
          <p:cNvSpPr>
            <a:spLocks noGrp="1"/>
          </p:cNvSpPr>
          <p:nvPr/>
        </p:nvSpPr>
        <p:spPr>
          <a:xfrm>
            <a:off x="3590925" y="4371975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 = 1.25</a:t>
            </a:r>
          </a:p>
        </p:txBody>
      </p:sp>
      <p:pic>
        <p:nvPicPr>
          <p:cNvPr id="10" name="C1_photo2" descr="用户提供的饮料图片">
            <a:extLst>
              <a:ext uri="{FF2B5EF4-FFF2-40B4-BE49-F238E27FC236}">
                <a16:creationId xmlns:a16="http://schemas.microsoft.com/office/drawing/2014/main" id="{EE9AB5E3-4330-455F-8CA6-E2939AF35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38900" y="2200558"/>
            <a:ext cx="2171700" cy="1447234"/>
          </a:xfrm>
          <a:prstGeom prst="rect">
            <a:avLst/>
          </a:prstGeom>
        </p:spPr>
      </p:pic>
      <p:sp>
        <p:nvSpPr>
          <p:cNvPr id="12" name="C1_loss2">
            <a:extLst>
              <a:ext uri="{FF2B5EF4-FFF2-40B4-BE49-F238E27FC236}">
                <a16:creationId xmlns:a16="http://schemas.microsoft.com/office/drawing/2014/main" id="{8830A308-BEC6-40A0-9F57-70CD7B4AC493}"/>
              </a:ext>
            </a:extLst>
          </p:cNvPr>
          <p:cNvSpPr>
            <a:spLocks noGrp="1"/>
          </p:cNvSpPr>
          <p:nvPr/>
        </p:nvSpPr>
        <p:spPr>
          <a:xfrm>
            <a:off x="6438900" y="4371975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 = 0.75</a:t>
            </a:r>
          </a:p>
        </p:txBody>
      </p:sp>
      <p:pic>
        <p:nvPicPr>
          <p:cNvPr id="13" name="C1_photo3" descr="用户提供的饮料图片">
            <a:extLst>
              <a:ext uri="{FF2B5EF4-FFF2-40B4-BE49-F238E27FC236}">
                <a16:creationId xmlns:a16="http://schemas.microsoft.com/office/drawing/2014/main" id="{1543547E-7E41-4672-8E3C-21056171B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458325" y="2009775"/>
            <a:ext cx="1828800" cy="1828800"/>
          </a:xfrm>
          <a:prstGeom prst="rect">
            <a:avLst/>
          </a:prstGeom>
        </p:spPr>
      </p:pic>
      <p:sp>
        <p:nvSpPr>
          <p:cNvPr id="15" name="C1_loss3">
            <a:extLst>
              <a:ext uri="{FF2B5EF4-FFF2-40B4-BE49-F238E27FC236}">
                <a16:creationId xmlns:a16="http://schemas.microsoft.com/office/drawing/2014/main" id="{11E17ED0-71C2-4A37-9BDD-06D09D5EF6BD}"/>
              </a:ext>
            </a:extLst>
          </p:cNvPr>
          <p:cNvSpPr>
            <a:spLocks noGrp="1"/>
          </p:cNvSpPr>
          <p:nvPr/>
        </p:nvSpPr>
        <p:spPr>
          <a:xfrm>
            <a:off x="9286875" y="4371975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 = 4</a:t>
            </a:r>
          </a:p>
        </p:txBody>
      </p:sp>
      <p:sp>
        <p:nvSpPr>
          <p:cNvPr id="16" name="C1_bracket">
            <a:extLst>
              <a:ext uri="{FF2B5EF4-FFF2-40B4-BE49-F238E27FC236}">
                <a16:creationId xmlns:a16="http://schemas.microsoft.com/office/drawing/2014/main" id="{36E76BCD-D237-47CC-B2B5-D0BE2C071C04}"/>
              </a:ext>
            </a:extLst>
          </p:cNvPr>
          <p:cNvSpPr>
            <a:spLocks noGrp="1"/>
          </p:cNvSpPr>
          <p:nvPr/>
        </p:nvSpPr>
        <p:spPr>
          <a:xfrm>
            <a:off x="819150" y="5019675"/>
            <a:ext cx="10391775" cy="9525"/>
          </a:xfrm>
          <a:custGeom>
            <a:avLst/>
            <a:gdLst/>
            <a:ahLst/>
            <a:cxnLst/>
            <a:rect l="0" t="0" r="0" b="0"/>
            <a:pathLst>
              <a:path w="10391775" h="9525">
                <a:moveTo>
                  <a:pt x="0" y="0"/>
                </a:moveTo>
                <a:lnTo>
                  <a:pt x="1039177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7" name="C1_bracketL">
            <a:extLst>
              <a:ext uri="{FF2B5EF4-FFF2-40B4-BE49-F238E27FC236}">
                <a16:creationId xmlns:a16="http://schemas.microsoft.com/office/drawing/2014/main" id="{DA83904F-96E0-4C00-86F5-73A70FEE42A0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9525" cy="85725"/>
          </a:xfrm>
          <a:custGeom>
            <a:avLst/>
            <a:gdLst/>
            <a:ahLst/>
            <a:cxnLst/>
            <a:rect l="0" t="0" r="0" b="0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8" name="C1_bracketR">
            <a:extLst>
              <a:ext uri="{FF2B5EF4-FFF2-40B4-BE49-F238E27FC236}">
                <a16:creationId xmlns:a16="http://schemas.microsoft.com/office/drawing/2014/main" id="{8CAACB3F-82D7-48F0-B1DE-514F090461A6}"/>
              </a:ext>
            </a:extLst>
          </p:cNvPr>
          <p:cNvSpPr>
            <a:spLocks noGrp="1"/>
          </p:cNvSpPr>
          <p:nvPr/>
        </p:nvSpPr>
        <p:spPr>
          <a:xfrm>
            <a:off x="11210925" y="4933950"/>
            <a:ext cx="9525" cy="85725"/>
          </a:xfrm>
          <a:custGeom>
            <a:avLst/>
            <a:gdLst/>
            <a:ahLst/>
            <a:cxnLst/>
            <a:rect l="0" t="0" r="0" b="0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9" name="C2_mean">
            <a:extLst>
              <a:ext uri="{FF2B5EF4-FFF2-40B4-BE49-F238E27FC236}">
                <a16:creationId xmlns:a16="http://schemas.microsoft.com/office/drawing/2014/main" id="{8002BF61-6077-474C-BCC1-8A43F010AA2C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batch Loss = (2 + 1.25 + 0.75 + 4) ÷ 4 = 2</a:t>
            </a:r>
          </a:p>
        </p:txBody>
      </p:sp>
      <p:sp>
        <p:nvSpPr>
          <p:cNvPr id="20" name="C3_conclusion">
            <a:extLst>
              <a:ext uri="{FF2B5EF4-FFF2-40B4-BE49-F238E27FC236}">
                <a16:creationId xmlns:a16="http://schemas.microsoft.com/office/drawing/2014/main" id="{0E0E35BB-50AA-4D9F-8F2B-CCD085CEFBD7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这 4 </a:t>
            </a:r>
            <a:r>
              <a:rPr sz="24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张图片组成一个</a:t>
            </a:r>
            <a:r>
              <a:rPr sz="24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batch，batch</a:t>
            </a:r>
            <a:r>
              <a:rPr sz="24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size = 4</a:t>
            </a:r>
          </a:p>
        </p:txBody>
      </p:sp>
    </p:spTree>
    <p:extLst>
      <p:ext uri="{BB962C8B-B14F-4D97-AF65-F5344CB8AC3E}">
        <p14:creationId xmlns:p14="http://schemas.microsoft.com/office/powerpoint/2010/main" val="233003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>
            <a:extLst>
              <a:ext uri="{FF2B5EF4-FFF2-40B4-BE49-F238E27FC236}">
                <a16:creationId xmlns:a16="http://schemas.microsoft.com/office/drawing/2014/main" id="{3418429A-8877-44B4-849E-127C092ECF3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6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单</a:t>
            </a:r>
            <a:r>
              <a:rPr sz="36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参数的损失地图</a:t>
            </a:r>
            <a:endParaRPr sz="36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5EC1EA20-7721-43A3-A487-E654E0776C4F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base_xaxis">
            <a:extLst>
              <a:ext uri="{FF2B5EF4-FFF2-40B4-BE49-F238E27FC236}">
                <a16:creationId xmlns:a16="http://schemas.microsoft.com/office/drawing/2014/main" id="{E080F854-5B7C-4774-B607-B0B87F6FB362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6219825" cy="9525"/>
          </a:xfrm>
          <a:custGeom>
            <a:avLst/>
            <a:gdLst/>
            <a:ahLst/>
            <a:cxnLst/>
            <a:rect l="0" t="0" r="0" b="0"/>
            <a:pathLst>
              <a:path w="6219825" h="9525">
                <a:moveTo>
                  <a:pt x="0" y="0"/>
                </a:moveTo>
                <a:lnTo>
                  <a:pt x="62198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5" name="base_xaxis_a">
            <a:extLst>
              <a:ext uri="{FF2B5EF4-FFF2-40B4-BE49-F238E27FC236}">
                <a16:creationId xmlns:a16="http://schemas.microsoft.com/office/drawing/2014/main" id="{120985A9-A2B9-44F1-8DFA-77266FED9676}"/>
              </a:ext>
            </a:extLst>
          </p:cNvPr>
          <p:cNvSpPr>
            <a:spLocks noGrp="1"/>
          </p:cNvSpPr>
          <p:nvPr/>
        </p:nvSpPr>
        <p:spPr>
          <a:xfrm>
            <a:off x="6976767" y="5334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6" name="base_xaxis_b">
            <a:extLst>
              <a:ext uri="{FF2B5EF4-FFF2-40B4-BE49-F238E27FC236}">
                <a16:creationId xmlns:a16="http://schemas.microsoft.com/office/drawing/2014/main" id="{26AD8A56-C453-4609-8B01-59A6619D4CBB}"/>
              </a:ext>
            </a:extLst>
          </p:cNvPr>
          <p:cNvSpPr>
            <a:spLocks noGrp="1"/>
          </p:cNvSpPr>
          <p:nvPr/>
        </p:nvSpPr>
        <p:spPr>
          <a:xfrm>
            <a:off x="6976767" y="5279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" name="base_xtick1">
            <a:extLst>
              <a:ext uri="{FF2B5EF4-FFF2-40B4-BE49-F238E27FC236}">
                <a16:creationId xmlns:a16="http://schemas.microsoft.com/office/drawing/2014/main" id="{1EFF56BA-2783-4CCF-B2E2-0B7EC8E1F2C8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" name="base_xlabel1">
            <a:extLst>
              <a:ext uri="{FF2B5EF4-FFF2-40B4-BE49-F238E27FC236}">
                <a16:creationId xmlns:a16="http://schemas.microsoft.com/office/drawing/2014/main" id="{12A332F8-E3CE-4626-B5FC-E1012AB7D06E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ase_xtick2">
            <a:extLst>
              <a:ext uri="{FF2B5EF4-FFF2-40B4-BE49-F238E27FC236}">
                <a16:creationId xmlns:a16="http://schemas.microsoft.com/office/drawing/2014/main" id="{BF63FCE2-BF8F-41B1-9A1D-3EF311039EB6}"/>
              </a:ext>
            </a:extLst>
          </p:cNvPr>
          <p:cNvSpPr>
            <a:spLocks noGrp="1"/>
          </p:cNvSpPr>
          <p:nvPr/>
        </p:nvSpPr>
        <p:spPr>
          <a:xfrm>
            <a:off x="190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0" name="base_xlabel2">
            <a:extLst>
              <a:ext uri="{FF2B5EF4-FFF2-40B4-BE49-F238E27FC236}">
                <a16:creationId xmlns:a16="http://schemas.microsoft.com/office/drawing/2014/main" id="{92DC0C44-7972-4984-88C3-88C141562B11}"/>
              </a:ext>
            </a:extLst>
          </p:cNvPr>
          <p:cNvSpPr>
            <a:spLocks noGrp="1"/>
          </p:cNvSpPr>
          <p:nvPr/>
        </p:nvSpPr>
        <p:spPr>
          <a:xfrm>
            <a:off x="180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base_xtick3">
            <a:extLst>
              <a:ext uri="{FF2B5EF4-FFF2-40B4-BE49-F238E27FC236}">
                <a16:creationId xmlns:a16="http://schemas.microsoft.com/office/drawing/2014/main" id="{16A50574-D50B-4BB0-B0F0-39A5C6202C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2" name="base_xlabel3">
            <a:extLst>
              <a:ext uri="{FF2B5EF4-FFF2-40B4-BE49-F238E27FC236}">
                <a16:creationId xmlns:a16="http://schemas.microsoft.com/office/drawing/2014/main" id="{9E83C9E7-2CCF-4710-81E8-BC3F9EE7A1C6}"/>
              </a:ext>
            </a:extLst>
          </p:cNvPr>
          <p:cNvSpPr>
            <a:spLocks noGrp="1"/>
          </p:cNvSpPr>
          <p:nvPr/>
        </p:nvSpPr>
        <p:spPr>
          <a:xfrm>
            <a:off x="276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base_xtick4">
            <a:extLst>
              <a:ext uri="{FF2B5EF4-FFF2-40B4-BE49-F238E27FC236}">
                <a16:creationId xmlns:a16="http://schemas.microsoft.com/office/drawing/2014/main" id="{3BA9B47E-72C5-4B73-93B4-C7BE0516C1D1}"/>
              </a:ext>
            </a:extLst>
          </p:cNvPr>
          <p:cNvSpPr>
            <a:spLocks noGrp="1"/>
          </p:cNvSpPr>
          <p:nvPr/>
        </p:nvSpPr>
        <p:spPr>
          <a:xfrm>
            <a:off x="3810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4" name="base_xlabel4">
            <a:extLst>
              <a:ext uri="{FF2B5EF4-FFF2-40B4-BE49-F238E27FC236}">
                <a16:creationId xmlns:a16="http://schemas.microsoft.com/office/drawing/2014/main" id="{41394B16-51CF-4910-9603-5F645E06ED1B}"/>
              </a:ext>
            </a:extLst>
          </p:cNvPr>
          <p:cNvSpPr>
            <a:spLocks noGrp="1"/>
          </p:cNvSpPr>
          <p:nvPr/>
        </p:nvSpPr>
        <p:spPr>
          <a:xfrm>
            <a:off x="3714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base_xtick5">
            <a:extLst>
              <a:ext uri="{FF2B5EF4-FFF2-40B4-BE49-F238E27FC236}">
                <a16:creationId xmlns:a16="http://schemas.microsoft.com/office/drawing/2014/main" id="{4814009F-20C0-4D7F-ADB5-FFAA20E5BF89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6" name="base_xlabel5">
            <a:extLst>
              <a:ext uri="{FF2B5EF4-FFF2-40B4-BE49-F238E27FC236}">
                <a16:creationId xmlns:a16="http://schemas.microsoft.com/office/drawing/2014/main" id="{DBE78E9D-CE33-497C-AA40-0222682F6A5A}"/>
              </a:ext>
            </a:extLst>
          </p:cNvPr>
          <p:cNvSpPr>
            <a:spLocks noGrp="1"/>
          </p:cNvSpPr>
          <p:nvPr/>
        </p:nvSpPr>
        <p:spPr>
          <a:xfrm>
            <a:off x="466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base_xtick6">
            <a:extLst>
              <a:ext uri="{FF2B5EF4-FFF2-40B4-BE49-F238E27FC236}">
                <a16:creationId xmlns:a16="http://schemas.microsoft.com/office/drawing/2014/main" id="{81FC8E44-7A24-4FC3-B1D3-D7D9F4CE17AA}"/>
              </a:ext>
            </a:extLst>
          </p:cNvPr>
          <p:cNvSpPr>
            <a:spLocks noGrp="1"/>
          </p:cNvSpPr>
          <p:nvPr/>
        </p:nvSpPr>
        <p:spPr>
          <a:xfrm>
            <a:off x="571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8" name="base_xlabel6">
            <a:extLst>
              <a:ext uri="{FF2B5EF4-FFF2-40B4-BE49-F238E27FC236}">
                <a16:creationId xmlns:a16="http://schemas.microsoft.com/office/drawing/2014/main" id="{88160EDF-5B1B-400C-84E6-1C5097C4A41B}"/>
              </a:ext>
            </a:extLst>
          </p:cNvPr>
          <p:cNvSpPr>
            <a:spLocks noGrp="1"/>
          </p:cNvSpPr>
          <p:nvPr/>
        </p:nvSpPr>
        <p:spPr>
          <a:xfrm>
            <a:off x="561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base_xtick7">
            <a:extLst>
              <a:ext uri="{FF2B5EF4-FFF2-40B4-BE49-F238E27FC236}">
                <a16:creationId xmlns:a16="http://schemas.microsoft.com/office/drawing/2014/main" id="{5A245762-FDFC-4E3B-B420-C273ED6DA6B1}"/>
              </a:ext>
            </a:extLst>
          </p:cNvPr>
          <p:cNvSpPr>
            <a:spLocks noGrp="1"/>
          </p:cNvSpPr>
          <p:nvPr/>
        </p:nvSpPr>
        <p:spPr>
          <a:xfrm>
            <a:off x="666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0" name="base_xlabel7">
            <a:extLst>
              <a:ext uri="{FF2B5EF4-FFF2-40B4-BE49-F238E27FC236}">
                <a16:creationId xmlns:a16="http://schemas.microsoft.com/office/drawing/2014/main" id="{26AD7FE2-417C-422D-ABB4-D98BC0F32BF6}"/>
              </a:ext>
            </a:extLst>
          </p:cNvPr>
          <p:cNvSpPr>
            <a:spLocks noGrp="1"/>
          </p:cNvSpPr>
          <p:nvPr/>
        </p:nvSpPr>
        <p:spPr>
          <a:xfrm>
            <a:off x="657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base_xname">
            <a:extLst>
              <a:ext uri="{FF2B5EF4-FFF2-40B4-BE49-F238E27FC236}">
                <a16:creationId xmlns:a16="http://schemas.microsoft.com/office/drawing/2014/main" id="{376AD0B9-650F-4F48-9623-206B961FE958}"/>
              </a:ext>
            </a:extLst>
          </p:cNvPr>
          <p:cNvSpPr>
            <a:spLocks noGrp="1"/>
          </p:cNvSpPr>
          <p:nvPr/>
        </p:nvSpPr>
        <p:spPr>
          <a:xfrm>
            <a:off x="6143625" y="5695950"/>
            <a:ext cx="128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参数 w</a:t>
            </a:r>
          </a:p>
        </p:txBody>
      </p:sp>
      <p:sp>
        <p:nvSpPr>
          <p:cNvPr id="22" name="C1_yaxis">
            <a:extLst>
              <a:ext uri="{FF2B5EF4-FFF2-40B4-BE49-F238E27FC236}">
                <a16:creationId xmlns:a16="http://schemas.microsoft.com/office/drawing/2014/main" id="{E6B1C70F-F529-46B1-8980-2CBAC3DEA052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9525" cy="3228975"/>
          </a:xfrm>
          <a:custGeom>
            <a:avLst/>
            <a:gdLst/>
            <a:ahLst/>
            <a:cxnLst/>
            <a:rect l="0" t="0" r="0" b="0"/>
            <a:pathLst>
              <a:path w="9525" h="3228975">
                <a:moveTo>
                  <a:pt x="0" y="32289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3" name="C1_yaxis_a">
            <a:extLst>
              <a:ext uri="{FF2B5EF4-FFF2-40B4-BE49-F238E27FC236}">
                <a16:creationId xmlns:a16="http://schemas.microsoft.com/office/drawing/2014/main" id="{57813A6B-94EC-404F-BD7F-660A35435582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4" name="C1_yaxis_b">
            <a:extLst>
              <a:ext uri="{FF2B5EF4-FFF2-40B4-BE49-F238E27FC236}">
                <a16:creationId xmlns:a16="http://schemas.microsoft.com/office/drawing/2014/main" id="{45CE865C-A9C5-4D53-B99C-2FCFB3E430EC}"/>
              </a:ext>
            </a:extLst>
          </p:cNvPr>
          <p:cNvSpPr>
            <a:spLocks noGrp="1"/>
          </p:cNvSpPr>
          <p:nvPr/>
        </p:nvSpPr>
        <p:spPr>
          <a:xfrm>
            <a:off x="897702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5" name="C1_ytick0">
            <a:extLst>
              <a:ext uri="{FF2B5EF4-FFF2-40B4-BE49-F238E27FC236}">
                <a16:creationId xmlns:a16="http://schemas.microsoft.com/office/drawing/2014/main" id="{BAF044AB-DD71-4933-BE96-20718539211B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6" name="C1_ylabel0">
            <a:extLst>
              <a:ext uri="{FF2B5EF4-FFF2-40B4-BE49-F238E27FC236}">
                <a16:creationId xmlns:a16="http://schemas.microsoft.com/office/drawing/2014/main" id="{74707532-A32A-4874-917D-852C3CF29F53}"/>
              </a:ext>
            </a:extLst>
          </p:cNvPr>
          <p:cNvSpPr>
            <a:spLocks noGrp="1"/>
          </p:cNvSpPr>
          <p:nvPr/>
        </p:nvSpPr>
        <p:spPr>
          <a:xfrm>
            <a:off x="533400" y="5200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C1_ytick2">
            <a:extLst>
              <a:ext uri="{FF2B5EF4-FFF2-40B4-BE49-F238E27FC236}">
                <a16:creationId xmlns:a16="http://schemas.microsoft.com/office/drawing/2014/main" id="{9D439916-DB78-48B7-A7D2-FA1B62C34BDA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8" name="C1_ylabel2">
            <a:extLst>
              <a:ext uri="{FF2B5EF4-FFF2-40B4-BE49-F238E27FC236}">
                <a16:creationId xmlns:a16="http://schemas.microsoft.com/office/drawing/2014/main" id="{C8505A71-602C-4F9B-8C5D-DD112828FD21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C1_ytick4">
            <a:extLst>
              <a:ext uri="{FF2B5EF4-FFF2-40B4-BE49-F238E27FC236}">
                <a16:creationId xmlns:a16="http://schemas.microsoft.com/office/drawing/2014/main" id="{D305E2D2-A09C-4D13-AC0F-A496A7757D71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0" name="C1_ylabel4">
            <a:extLst>
              <a:ext uri="{FF2B5EF4-FFF2-40B4-BE49-F238E27FC236}">
                <a16:creationId xmlns:a16="http://schemas.microsoft.com/office/drawing/2014/main" id="{7A85B18B-8D49-4D83-9D6A-A2B51F8C5E81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C1_ytick6">
            <a:extLst>
              <a:ext uri="{FF2B5EF4-FFF2-40B4-BE49-F238E27FC236}">
                <a16:creationId xmlns:a16="http://schemas.microsoft.com/office/drawing/2014/main" id="{36D25EC2-9D9D-4F51-9F59-B2E6796AB0C1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2" name="C1_ylabel6">
            <a:extLst>
              <a:ext uri="{FF2B5EF4-FFF2-40B4-BE49-F238E27FC236}">
                <a16:creationId xmlns:a16="http://schemas.microsoft.com/office/drawing/2014/main" id="{60F1EAC7-4AB7-44FA-BF28-11A2FBEA6038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C1_ytick8">
            <a:extLst>
              <a:ext uri="{FF2B5EF4-FFF2-40B4-BE49-F238E27FC236}">
                <a16:creationId xmlns:a16="http://schemas.microsoft.com/office/drawing/2014/main" id="{62D83E96-276D-4F03-A721-0B9B11770EA0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4" name="C1_ylabel8">
            <a:extLst>
              <a:ext uri="{FF2B5EF4-FFF2-40B4-BE49-F238E27FC236}">
                <a16:creationId xmlns:a16="http://schemas.microsoft.com/office/drawing/2014/main" id="{CF0F02AD-18D6-4A49-A157-F679E739D883}"/>
              </a:ext>
            </a:extLst>
          </p:cNvPr>
          <p:cNvSpPr>
            <a:spLocks noGrp="1"/>
          </p:cNvSpPr>
          <p:nvPr/>
        </p:nvSpPr>
        <p:spPr>
          <a:xfrm>
            <a:off x="533400" y="2914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C1_ytick10">
            <a:extLst>
              <a:ext uri="{FF2B5EF4-FFF2-40B4-BE49-F238E27FC236}">
                <a16:creationId xmlns:a16="http://schemas.microsoft.com/office/drawing/2014/main" id="{F81CD893-45BD-4986-910E-FC7118420CE9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6" name="C1_ylabel10">
            <a:extLst>
              <a:ext uri="{FF2B5EF4-FFF2-40B4-BE49-F238E27FC236}">
                <a16:creationId xmlns:a16="http://schemas.microsoft.com/office/drawing/2014/main" id="{FDD09705-BAEC-4F6A-9AEA-8333D23A6D38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7" name="C1_yname">
            <a:extLst>
              <a:ext uri="{FF2B5EF4-FFF2-40B4-BE49-F238E27FC236}">
                <a16:creationId xmlns:a16="http://schemas.microsoft.com/office/drawing/2014/main" id="{CF5E079B-B857-43B0-B5AA-4C63AD69AA4B}"/>
              </a:ext>
            </a:extLst>
          </p:cNvPr>
          <p:cNvSpPr>
            <a:spLocks noGrp="1"/>
          </p:cNvSpPr>
          <p:nvPr/>
        </p:nvSpPr>
        <p:spPr>
          <a:xfrm>
            <a:off x="571500" y="1771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 L</a:t>
            </a:r>
          </a:p>
        </p:txBody>
      </p:sp>
      <p:sp>
        <p:nvSpPr>
          <p:cNvPr id="38" name="C1_curve">
            <a:extLst>
              <a:ext uri="{FF2B5EF4-FFF2-40B4-BE49-F238E27FC236}">
                <a16:creationId xmlns:a16="http://schemas.microsoft.com/office/drawing/2014/main" id="{0F628EDB-EB9F-4D81-9290-6979C682FF38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5715000" cy="2571750"/>
          </a:xfrm>
          <a:custGeom>
            <a:avLst/>
            <a:gdLst/>
            <a:ahLst/>
            <a:cxnLst/>
            <a:rect l="0" t="0" r="0" b="0"/>
            <a:pathLst>
              <a:path w="5715000" h="2571750">
                <a:moveTo>
                  <a:pt x="0" y="0"/>
                </a:moveTo>
                <a:lnTo>
                  <a:pt x="47625" y="85011"/>
                </a:lnTo>
                <a:lnTo>
                  <a:pt x="95250" y="168592"/>
                </a:lnTo>
                <a:lnTo>
                  <a:pt x="142875" y="250746"/>
                </a:lnTo>
                <a:lnTo>
                  <a:pt x="190500" y="331470"/>
                </a:lnTo>
                <a:lnTo>
                  <a:pt x="238125" y="410766"/>
                </a:lnTo>
                <a:lnTo>
                  <a:pt x="285750" y="488632"/>
                </a:lnTo>
                <a:lnTo>
                  <a:pt x="333375" y="565071"/>
                </a:lnTo>
                <a:lnTo>
                  <a:pt x="381000" y="640080"/>
                </a:lnTo>
                <a:lnTo>
                  <a:pt x="428625" y="713661"/>
                </a:lnTo>
                <a:lnTo>
                  <a:pt x="476250" y="785813"/>
                </a:lnTo>
                <a:lnTo>
                  <a:pt x="523875" y="856536"/>
                </a:lnTo>
                <a:lnTo>
                  <a:pt x="571500" y="925830"/>
                </a:lnTo>
                <a:lnTo>
                  <a:pt x="619125" y="993696"/>
                </a:lnTo>
                <a:lnTo>
                  <a:pt x="666750" y="1060133"/>
                </a:lnTo>
                <a:lnTo>
                  <a:pt x="714375" y="1125141"/>
                </a:lnTo>
                <a:lnTo>
                  <a:pt x="762000" y="1188720"/>
                </a:lnTo>
                <a:lnTo>
                  <a:pt x="809625" y="1250871"/>
                </a:lnTo>
                <a:lnTo>
                  <a:pt x="857250" y="1311593"/>
                </a:lnTo>
                <a:lnTo>
                  <a:pt x="904875" y="1370886"/>
                </a:lnTo>
                <a:lnTo>
                  <a:pt x="952500" y="1428750"/>
                </a:lnTo>
                <a:lnTo>
                  <a:pt x="1000125" y="1485186"/>
                </a:lnTo>
                <a:lnTo>
                  <a:pt x="1047750" y="1540193"/>
                </a:lnTo>
                <a:lnTo>
                  <a:pt x="1095375" y="1593771"/>
                </a:lnTo>
                <a:lnTo>
                  <a:pt x="1143000" y="1645920"/>
                </a:lnTo>
                <a:lnTo>
                  <a:pt x="1190625" y="1696641"/>
                </a:lnTo>
                <a:lnTo>
                  <a:pt x="1238250" y="1745932"/>
                </a:lnTo>
                <a:lnTo>
                  <a:pt x="1285875" y="1793796"/>
                </a:lnTo>
                <a:lnTo>
                  <a:pt x="1333500" y="1840230"/>
                </a:lnTo>
                <a:lnTo>
                  <a:pt x="1381125" y="1885236"/>
                </a:lnTo>
                <a:lnTo>
                  <a:pt x="1428750" y="1928813"/>
                </a:lnTo>
                <a:lnTo>
                  <a:pt x="1476375" y="1970961"/>
                </a:lnTo>
                <a:lnTo>
                  <a:pt x="1524000" y="2011680"/>
                </a:lnTo>
                <a:lnTo>
                  <a:pt x="1571625" y="2050971"/>
                </a:lnTo>
                <a:lnTo>
                  <a:pt x="1619250" y="2088833"/>
                </a:lnTo>
                <a:lnTo>
                  <a:pt x="1666875" y="2125266"/>
                </a:lnTo>
                <a:lnTo>
                  <a:pt x="1714500" y="2160270"/>
                </a:lnTo>
                <a:lnTo>
                  <a:pt x="1762125" y="2193846"/>
                </a:lnTo>
                <a:lnTo>
                  <a:pt x="1809750" y="2225993"/>
                </a:lnTo>
                <a:lnTo>
                  <a:pt x="1857375" y="2256711"/>
                </a:lnTo>
                <a:lnTo>
                  <a:pt x="1905000" y="2286000"/>
                </a:lnTo>
                <a:lnTo>
                  <a:pt x="1952625" y="2313861"/>
                </a:lnTo>
                <a:lnTo>
                  <a:pt x="2000250" y="2340293"/>
                </a:lnTo>
                <a:lnTo>
                  <a:pt x="2047875" y="2365296"/>
                </a:lnTo>
                <a:lnTo>
                  <a:pt x="2095500" y="2388870"/>
                </a:lnTo>
                <a:lnTo>
                  <a:pt x="2143125" y="2411016"/>
                </a:lnTo>
                <a:lnTo>
                  <a:pt x="2190750" y="2431732"/>
                </a:lnTo>
                <a:lnTo>
                  <a:pt x="2238375" y="2451021"/>
                </a:lnTo>
                <a:lnTo>
                  <a:pt x="2286000" y="2468880"/>
                </a:lnTo>
                <a:lnTo>
                  <a:pt x="2333625" y="2485311"/>
                </a:lnTo>
                <a:lnTo>
                  <a:pt x="2381250" y="2500313"/>
                </a:lnTo>
                <a:lnTo>
                  <a:pt x="2428875" y="2513886"/>
                </a:lnTo>
                <a:lnTo>
                  <a:pt x="2476500" y="2526030"/>
                </a:lnTo>
                <a:lnTo>
                  <a:pt x="2524125" y="2536746"/>
                </a:lnTo>
                <a:lnTo>
                  <a:pt x="2571750" y="2546032"/>
                </a:lnTo>
                <a:lnTo>
                  <a:pt x="2619375" y="2553891"/>
                </a:lnTo>
                <a:lnTo>
                  <a:pt x="2667000" y="2560320"/>
                </a:lnTo>
                <a:lnTo>
                  <a:pt x="2714625" y="2565321"/>
                </a:lnTo>
                <a:lnTo>
                  <a:pt x="2762250" y="2568893"/>
                </a:lnTo>
                <a:lnTo>
                  <a:pt x="2809875" y="2571036"/>
                </a:lnTo>
                <a:lnTo>
                  <a:pt x="2857500" y="2571750"/>
                </a:lnTo>
                <a:lnTo>
                  <a:pt x="2905125" y="2571036"/>
                </a:lnTo>
                <a:lnTo>
                  <a:pt x="2952750" y="2568893"/>
                </a:lnTo>
                <a:lnTo>
                  <a:pt x="3000375" y="2565321"/>
                </a:lnTo>
                <a:lnTo>
                  <a:pt x="3048000" y="2560320"/>
                </a:lnTo>
                <a:lnTo>
                  <a:pt x="3095625" y="2553891"/>
                </a:lnTo>
                <a:lnTo>
                  <a:pt x="3143250" y="2546032"/>
                </a:lnTo>
                <a:lnTo>
                  <a:pt x="3190875" y="2536746"/>
                </a:lnTo>
                <a:lnTo>
                  <a:pt x="3238500" y="2526030"/>
                </a:lnTo>
                <a:lnTo>
                  <a:pt x="3286125" y="2513886"/>
                </a:lnTo>
                <a:lnTo>
                  <a:pt x="3333750" y="2500313"/>
                </a:lnTo>
                <a:lnTo>
                  <a:pt x="3381375" y="2485311"/>
                </a:lnTo>
                <a:lnTo>
                  <a:pt x="3429000" y="2468880"/>
                </a:lnTo>
                <a:lnTo>
                  <a:pt x="3476625" y="2451021"/>
                </a:lnTo>
                <a:lnTo>
                  <a:pt x="3524250" y="2431732"/>
                </a:lnTo>
                <a:lnTo>
                  <a:pt x="3571875" y="2411016"/>
                </a:lnTo>
                <a:lnTo>
                  <a:pt x="3619500" y="2388870"/>
                </a:lnTo>
                <a:lnTo>
                  <a:pt x="3667125" y="2365296"/>
                </a:lnTo>
                <a:lnTo>
                  <a:pt x="3714750" y="2340292"/>
                </a:lnTo>
                <a:lnTo>
                  <a:pt x="3762375" y="2313861"/>
                </a:lnTo>
                <a:lnTo>
                  <a:pt x="3810000" y="2286000"/>
                </a:lnTo>
                <a:lnTo>
                  <a:pt x="3857625" y="2256711"/>
                </a:lnTo>
                <a:lnTo>
                  <a:pt x="3905250" y="2225992"/>
                </a:lnTo>
                <a:lnTo>
                  <a:pt x="3952875" y="2193846"/>
                </a:lnTo>
                <a:lnTo>
                  <a:pt x="4000500" y="2160270"/>
                </a:lnTo>
                <a:lnTo>
                  <a:pt x="4048125" y="2125266"/>
                </a:lnTo>
                <a:lnTo>
                  <a:pt x="4095750" y="2088833"/>
                </a:lnTo>
                <a:lnTo>
                  <a:pt x="4143375" y="2050971"/>
                </a:lnTo>
                <a:lnTo>
                  <a:pt x="4191000" y="2011680"/>
                </a:lnTo>
                <a:lnTo>
                  <a:pt x="4238625" y="1970961"/>
                </a:lnTo>
                <a:lnTo>
                  <a:pt x="4286250" y="1928813"/>
                </a:lnTo>
                <a:lnTo>
                  <a:pt x="4333875" y="1885236"/>
                </a:lnTo>
                <a:lnTo>
                  <a:pt x="4381500" y="1840230"/>
                </a:lnTo>
                <a:lnTo>
                  <a:pt x="4429125" y="1793796"/>
                </a:lnTo>
                <a:lnTo>
                  <a:pt x="4476750" y="1745932"/>
                </a:lnTo>
                <a:lnTo>
                  <a:pt x="4524375" y="1696641"/>
                </a:lnTo>
                <a:lnTo>
                  <a:pt x="4572000" y="1645920"/>
                </a:lnTo>
                <a:lnTo>
                  <a:pt x="4619625" y="1593771"/>
                </a:lnTo>
                <a:lnTo>
                  <a:pt x="4667250" y="1540192"/>
                </a:lnTo>
                <a:lnTo>
                  <a:pt x="4714875" y="1485186"/>
                </a:lnTo>
                <a:lnTo>
                  <a:pt x="4762500" y="1428750"/>
                </a:lnTo>
                <a:lnTo>
                  <a:pt x="4810125" y="1370886"/>
                </a:lnTo>
                <a:lnTo>
                  <a:pt x="4857750" y="1311592"/>
                </a:lnTo>
                <a:lnTo>
                  <a:pt x="4905375" y="1250871"/>
                </a:lnTo>
                <a:lnTo>
                  <a:pt x="4953000" y="1188720"/>
                </a:lnTo>
                <a:lnTo>
                  <a:pt x="5000625" y="1125141"/>
                </a:lnTo>
                <a:lnTo>
                  <a:pt x="5048250" y="1060132"/>
                </a:lnTo>
                <a:lnTo>
                  <a:pt x="5095875" y="993696"/>
                </a:lnTo>
                <a:lnTo>
                  <a:pt x="5143500" y="925830"/>
                </a:lnTo>
                <a:lnTo>
                  <a:pt x="5191125" y="856536"/>
                </a:lnTo>
                <a:lnTo>
                  <a:pt x="5238750" y="785813"/>
                </a:lnTo>
                <a:lnTo>
                  <a:pt x="5286375" y="713661"/>
                </a:lnTo>
                <a:lnTo>
                  <a:pt x="5334000" y="640080"/>
                </a:lnTo>
                <a:lnTo>
                  <a:pt x="5381625" y="565071"/>
                </a:lnTo>
                <a:lnTo>
                  <a:pt x="5429250" y="488632"/>
                </a:lnTo>
                <a:lnTo>
                  <a:pt x="5476875" y="410766"/>
                </a:lnTo>
                <a:lnTo>
                  <a:pt x="5524500" y="331470"/>
                </a:lnTo>
                <a:lnTo>
                  <a:pt x="5572125" y="250746"/>
                </a:lnTo>
                <a:lnTo>
                  <a:pt x="5619750" y="168592"/>
                </a:lnTo>
                <a:lnTo>
                  <a:pt x="5667375" y="85011"/>
                </a:lnTo>
                <a:lnTo>
                  <a:pt x="5715000" y="0"/>
                </a:lnTo>
              </a:path>
            </a:pathLst>
          </a:custGeom>
          <a:noFill/>
          <a:ln w="30480">
            <a:solidFill>
              <a:srgbClr val="202938"/>
            </a:solidFill>
            <a:prstDash val="solid"/>
          </a:ln>
        </p:spPr>
      </p:sp>
      <p:sp>
        <p:nvSpPr>
          <p:cNvPr id="39" name="C2_height">
            <a:extLst>
              <a:ext uri="{FF2B5EF4-FFF2-40B4-BE49-F238E27FC236}">
                <a16:creationId xmlns:a16="http://schemas.microsoft.com/office/drawing/2014/main" id="{2DE7454E-DD00-4ED7-B472-9CAF6153E7B8}"/>
              </a:ext>
            </a:extLst>
          </p:cNvPr>
          <p:cNvSpPr>
            <a:spLocks noGrp="1"/>
          </p:cNvSpPr>
          <p:nvPr/>
        </p:nvSpPr>
        <p:spPr>
          <a:xfrm>
            <a:off x="5715000" y="4191000"/>
            <a:ext cx="9525" cy="1143000"/>
          </a:xfrm>
          <a:custGeom>
            <a:avLst/>
            <a:gdLst/>
            <a:ahLst/>
            <a:cxnLst/>
            <a:rect l="0" t="0" r="0" b="0"/>
            <a:pathLst>
              <a:path w="9525" h="1143000">
                <a:moveTo>
                  <a:pt x="0" y="11430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65D16"/>
            </a:solidFill>
            <a:prstDash val="solid"/>
          </a:ln>
        </p:spPr>
      </p:sp>
      <p:sp>
        <p:nvSpPr>
          <p:cNvPr id="40" name="C2_point">
            <a:extLst>
              <a:ext uri="{FF2B5EF4-FFF2-40B4-BE49-F238E27FC236}">
                <a16:creationId xmlns:a16="http://schemas.microsoft.com/office/drawing/2014/main" id="{9D3659C8-FD33-4514-AAF0-EF224B6D7705}"/>
              </a:ext>
            </a:extLst>
          </p:cNvPr>
          <p:cNvSpPr>
            <a:spLocks noGrp="1"/>
          </p:cNvSpPr>
          <p:nvPr/>
        </p:nvSpPr>
        <p:spPr>
          <a:xfrm>
            <a:off x="5648325" y="412432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1" name="C2_pointLabel">
            <a:extLst>
              <a:ext uri="{FF2B5EF4-FFF2-40B4-BE49-F238E27FC236}">
                <a16:creationId xmlns:a16="http://schemas.microsoft.com/office/drawing/2014/main" id="{BD710FB9-9739-4D1E-BE4A-7E9815FC3F4C}"/>
              </a:ext>
            </a:extLst>
          </p:cNvPr>
          <p:cNvSpPr>
            <a:spLocks noGrp="1"/>
          </p:cNvSpPr>
          <p:nvPr/>
        </p:nvSpPr>
        <p:spPr>
          <a:xfrm>
            <a:off x="5048250" y="370522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(6, 4)</a:t>
            </a:r>
          </a:p>
        </p:txBody>
      </p:sp>
      <p:sp>
        <p:nvSpPr>
          <p:cNvPr id="42" name="C2_where">
            <a:extLst>
              <a:ext uri="{FF2B5EF4-FFF2-40B4-BE49-F238E27FC236}">
                <a16:creationId xmlns:a16="http://schemas.microsoft.com/office/drawing/2014/main" id="{1402AA91-6023-4802-9DA7-D39601728981}"/>
              </a:ext>
            </a:extLst>
          </p:cNvPr>
          <p:cNvSpPr>
            <a:spLocks noGrp="1"/>
          </p:cNvSpPr>
          <p:nvPr/>
        </p:nvSpPr>
        <p:spPr>
          <a:xfrm>
            <a:off x="7715250" y="2333625"/>
            <a:ext cx="34766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当前位置</a:t>
            </a:r>
          </a:p>
        </p:txBody>
      </p:sp>
      <p:sp>
        <p:nvSpPr>
          <p:cNvPr id="43" name="C2_w">
            <a:extLst>
              <a:ext uri="{FF2B5EF4-FFF2-40B4-BE49-F238E27FC236}">
                <a16:creationId xmlns:a16="http://schemas.microsoft.com/office/drawing/2014/main" id="{A38C5A46-00BD-4534-8811-3A18F63CA473}"/>
              </a:ext>
            </a:extLst>
          </p:cNvPr>
          <p:cNvSpPr>
            <a:spLocks noGrp="1"/>
          </p:cNvSpPr>
          <p:nvPr/>
        </p:nvSpPr>
        <p:spPr>
          <a:xfrm>
            <a:off x="7715250" y="2886075"/>
            <a:ext cx="34766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 = 6</a:t>
            </a:r>
          </a:p>
        </p:txBody>
      </p:sp>
      <p:sp>
        <p:nvSpPr>
          <p:cNvPr id="44" name="C2_loss">
            <a:extLst>
              <a:ext uri="{FF2B5EF4-FFF2-40B4-BE49-F238E27FC236}">
                <a16:creationId xmlns:a16="http://schemas.microsoft.com/office/drawing/2014/main" id="{92ED13E6-4615-4D07-9242-0E74A0722215}"/>
              </a:ext>
            </a:extLst>
          </p:cNvPr>
          <p:cNvSpPr>
            <a:spLocks noGrp="1"/>
          </p:cNvSpPr>
          <p:nvPr/>
        </p:nvSpPr>
        <p:spPr>
          <a:xfrm>
            <a:off x="7715250" y="3581400"/>
            <a:ext cx="34766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3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 = 4</a:t>
            </a:r>
          </a:p>
        </p:txBody>
      </p:sp>
      <p:sp>
        <p:nvSpPr>
          <p:cNvPr id="45" name="C3_bottom">
            <a:extLst>
              <a:ext uri="{FF2B5EF4-FFF2-40B4-BE49-F238E27FC236}">
                <a16:creationId xmlns:a16="http://schemas.microsoft.com/office/drawing/2014/main" id="{EA45D8E5-8914-4DF9-A3D0-F044BE081E0F}"/>
              </a:ext>
            </a:extLst>
          </p:cNvPr>
          <p:cNvSpPr>
            <a:spLocks noGrp="1"/>
          </p:cNvSpPr>
          <p:nvPr/>
        </p:nvSpPr>
        <p:spPr>
          <a:xfrm>
            <a:off x="3743325" y="5267325"/>
            <a:ext cx="133350" cy="133350"/>
          </a:xfrm>
          <a:prstGeom prst="ellipse">
            <a:avLst/>
          </a:prstGeom>
          <a:solidFill>
            <a:srgbClr val="087F72"/>
          </a:solidFill>
          <a:ln w="19050">
            <a:solidFill>
              <a:srgbClr val="087F72"/>
            </a:solidFill>
            <a:prstDash val="solid"/>
          </a:ln>
        </p:spPr>
      </p:sp>
      <p:sp>
        <p:nvSpPr>
          <p:cNvPr id="47" name="C3_conclusion">
            <a:extLst>
              <a:ext uri="{FF2B5EF4-FFF2-40B4-BE49-F238E27FC236}">
                <a16:creationId xmlns:a16="http://schemas.microsoft.com/office/drawing/2014/main" id="{A6BD62FC-9788-4BD1-906C-51DEDF170545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参数的位置，决定这个例子的损失高度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A5872C18-8248-3883-7733-8A31C6666542}"/>
              </a:ext>
            </a:extLst>
          </p:cNvPr>
          <p:cNvSpPr>
            <a:spLocks noGrp="1"/>
          </p:cNvSpPr>
          <p:nvPr/>
        </p:nvSpPr>
        <p:spPr>
          <a:xfrm>
            <a:off x="628650" y="122872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暂时固定其他参数，观察一个参数的局部影响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3624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>
            <a:extLst>
              <a:ext uri="{FF2B5EF4-FFF2-40B4-BE49-F238E27FC236}">
                <a16:creationId xmlns:a16="http://schemas.microsoft.com/office/drawing/2014/main" id="{3CA8E722-F817-40B2-AB06-E45EBD06EC3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当前损失与局部坡度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2107BF9-144F-43A6-986D-4240C7B89283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81B6CBA-6FB2-4BCF-88C0-43DC8A0A5A6A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同一个位置，两种不同的信息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base_xaxis">
            <a:extLst>
              <a:ext uri="{FF2B5EF4-FFF2-40B4-BE49-F238E27FC236}">
                <a16:creationId xmlns:a16="http://schemas.microsoft.com/office/drawing/2014/main" id="{FB7822B5-C0CE-46E7-AC79-1866B1C62AD5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6219825" cy="9525"/>
          </a:xfrm>
          <a:custGeom>
            <a:avLst/>
            <a:gdLst/>
            <a:ahLst/>
            <a:cxnLst/>
            <a:rect l="0" t="0" r="0" b="0"/>
            <a:pathLst>
              <a:path w="6219825" h="9525">
                <a:moveTo>
                  <a:pt x="0" y="0"/>
                </a:moveTo>
                <a:lnTo>
                  <a:pt x="62198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5" name="base_xaxis_a">
            <a:extLst>
              <a:ext uri="{FF2B5EF4-FFF2-40B4-BE49-F238E27FC236}">
                <a16:creationId xmlns:a16="http://schemas.microsoft.com/office/drawing/2014/main" id="{B2FF1AA9-C4AA-48C0-B6F9-EB789C0F4251}"/>
              </a:ext>
            </a:extLst>
          </p:cNvPr>
          <p:cNvSpPr>
            <a:spLocks noGrp="1"/>
          </p:cNvSpPr>
          <p:nvPr/>
        </p:nvSpPr>
        <p:spPr>
          <a:xfrm>
            <a:off x="6976767" y="5334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6" name="base_xaxis_b">
            <a:extLst>
              <a:ext uri="{FF2B5EF4-FFF2-40B4-BE49-F238E27FC236}">
                <a16:creationId xmlns:a16="http://schemas.microsoft.com/office/drawing/2014/main" id="{D1E8CAFB-CD8A-48EF-B880-D3F040E2828F}"/>
              </a:ext>
            </a:extLst>
          </p:cNvPr>
          <p:cNvSpPr>
            <a:spLocks noGrp="1"/>
          </p:cNvSpPr>
          <p:nvPr/>
        </p:nvSpPr>
        <p:spPr>
          <a:xfrm>
            <a:off x="6976767" y="5279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" name="base_xtick1">
            <a:extLst>
              <a:ext uri="{FF2B5EF4-FFF2-40B4-BE49-F238E27FC236}">
                <a16:creationId xmlns:a16="http://schemas.microsoft.com/office/drawing/2014/main" id="{8E59039B-C692-4BEF-A4A5-70F2153BA1DD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" name="base_xlabel1">
            <a:extLst>
              <a:ext uri="{FF2B5EF4-FFF2-40B4-BE49-F238E27FC236}">
                <a16:creationId xmlns:a16="http://schemas.microsoft.com/office/drawing/2014/main" id="{A1220FA7-1237-46D9-BA24-7658166BC8CD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ase_xtick2">
            <a:extLst>
              <a:ext uri="{FF2B5EF4-FFF2-40B4-BE49-F238E27FC236}">
                <a16:creationId xmlns:a16="http://schemas.microsoft.com/office/drawing/2014/main" id="{A5009C92-AC12-4622-937D-0B64A4AF103D}"/>
              </a:ext>
            </a:extLst>
          </p:cNvPr>
          <p:cNvSpPr>
            <a:spLocks noGrp="1"/>
          </p:cNvSpPr>
          <p:nvPr/>
        </p:nvSpPr>
        <p:spPr>
          <a:xfrm>
            <a:off x="190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0" name="base_xlabel2">
            <a:extLst>
              <a:ext uri="{FF2B5EF4-FFF2-40B4-BE49-F238E27FC236}">
                <a16:creationId xmlns:a16="http://schemas.microsoft.com/office/drawing/2014/main" id="{B3E6EF76-8AAB-4953-8B8C-E87441356FE7}"/>
              </a:ext>
            </a:extLst>
          </p:cNvPr>
          <p:cNvSpPr>
            <a:spLocks noGrp="1"/>
          </p:cNvSpPr>
          <p:nvPr/>
        </p:nvSpPr>
        <p:spPr>
          <a:xfrm>
            <a:off x="180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base_xtick3">
            <a:extLst>
              <a:ext uri="{FF2B5EF4-FFF2-40B4-BE49-F238E27FC236}">
                <a16:creationId xmlns:a16="http://schemas.microsoft.com/office/drawing/2014/main" id="{B4620F51-CC6B-4E42-B94B-615D11E45383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2" name="base_xlabel3">
            <a:extLst>
              <a:ext uri="{FF2B5EF4-FFF2-40B4-BE49-F238E27FC236}">
                <a16:creationId xmlns:a16="http://schemas.microsoft.com/office/drawing/2014/main" id="{4CC827BF-DBE0-4DDA-A685-754874414B60}"/>
              </a:ext>
            </a:extLst>
          </p:cNvPr>
          <p:cNvSpPr>
            <a:spLocks noGrp="1"/>
          </p:cNvSpPr>
          <p:nvPr/>
        </p:nvSpPr>
        <p:spPr>
          <a:xfrm>
            <a:off x="276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base_xtick4">
            <a:extLst>
              <a:ext uri="{FF2B5EF4-FFF2-40B4-BE49-F238E27FC236}">
                <a16:creationId xmlns:a16="http://schemas.microsoft.com/office/drawing/2014/main" id="{CBC9F82F-C739-47FB-A1B8-0A988D16A6CF}"/>
              </a:ext>
            </a:extLst>
          </p:cNvPr>
          <p:cNvSpPr>
            <a:spLocks noGrp="1"/>
          </p:cNvSpPr>
          <p:nvPr/>
        </p:nvSpPr>
        <p:spPr>
          <a:xfrm>
            <a:off x="3810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4" name="base_xlabel4">
            <a:extLst>
              <a:ext uri="{FF2B5EF4-FFF2-40B4-BE49-F238E27FC236}">
                <a16:creationId xmlns:a16="http://schemas.microsoft.com/office/drawing/2014/main" id="{D5A8423E-8F98-4390-8699-B3C7CA843986}"/>
              </a:ext>
            </a:extLst>
          </p:cNvPr>
          <p:cNvSpPr>
            <a:spLocks noGrp="1"/>
          </p:cNvSpPr>
          <p:nvPr/>
        </p:nvSpPr>
        <p:spPr>
          <a:xfrm>
            <a:off x="3714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base_xtick5">
            <a:extLst>
              <a:ext uri="{FF2B5EF4-FFF2-40B4-BE49-F238E27FC236}">
                <a16:creationId xmlns:a16="http://schemas.microsoft.com/office/drawing/2014/main" id="{A7206932-81B2-42DF-B701-9262184E88C8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6" name="base_xlabel5">
            <a:extLst>
              <a:ext uri="{FF2B5EF4-FFF2-40B4-BE49-F238E27FC236}">
                <a16:creationId xmlns:a16="http://schemas.microsoft.com/office/drawing/2014/main" id="{FC7941E4-DBE5-456C-A35A-F0D869CCD405}"/>
              </a:ext>
            </a:extLst>
          </p:cNvPr>
          <p:cNvSpPr>
            <a:spLocks noGrp="1"/>
          </p:cNvSpPr>
          <p:nvPr/>
        </p:nvSpPr>
        <p:spPr>
          <a:xfrm>
            <a:off x="466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base_xtick6">
            <a:extLst>
              <a:ext uri="{FF2B5EF4-FFF2-40B4-BE49-F238E27FC236}">
                <a16:creationId xmlns:a16="http://schemas.microsoft.com/office/drawing/2014/main" id="{50379A80-7592-4E54-AAD9-2AD99E8286B3}"/>
              </a:ext>
            </a:extLst>
          </p:cNvPr>
          <p:cNvSpPr>
            <a:spLocks noGrp="1"/>
          </p:cNvSpPr>
          <p:nvPr/>
        </p:nvSpPr>
        <p:spPr>
          <a:xfrm>
            <a:off x="571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8" name="base_xlabel6">
            <a:extLst>
              <a:ext uri="{FF2B5EF4-FFF2-40B4-BE49-F238E27FC236}">
                <a16:creationId xmlns:a16="http://schemas.microsoft.com/office/drawing/2014/main" id="{1B6FB3E4-508D-4D6D-9C28-F163BBCFD82F}"/>
              </a:ext>
            </a:extLst>
          </p:cNvPr>
          <p:cNvSpPr>
            <a:spLocks noGrp="1"/>
          </p:cNvSpPr>
          <p:nvPr/>
        </p:nvSpPr>
        <p:spPr>
          <a:xfrm>
            <a:off x="561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base_xtick7">
            <a:extLst>
              <a:ext uri="{FF2B5EF4-FFF2-40B4-BE49-F238E27FC236}">
                <a16:creationId xmlns:a16="http://schemas.microsoft.com/office/drawing/2014/main" id="{4F89F820-5275-472D-9F2E-B0EC15E269A3}"/>
              </a:ext>
            </a:extLst>
          </p:cNvPr>
          <p:cNvSpPr>
            <a:spLocks noGrp="1"/>
          </p:cNvSpPr>
          <p:nvPr/>
        </p:nvSpPr>
        <p:spPr>
          <a:xfrm>
            <a:off x="666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0" name="base_xlabel7">
            <a:extLst>
              <a:ext uri="{FF2B5EF4-FFF2-40B4-BE49-F238E27FC236}">
                <a16:creationId xmlns:a16="http://schemas.microsoft.com/office/drawing/2014/main" id="{6A1AAD5B-EB45-4DF5-AE36-9B574B2FD51A}"/>
              </a:ext>
            </a:extLst>
          </p:cNvPr>
          <p:cNvSpPr>
            <a:spLocks noGrp="1"/>
          </p:cNvSpPr>
          <p:nvPr/>
        </p:nvSpPr>
        <p:spPr>
          <a:xfrm>
            <a:off x="657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base_xname">
            <a:extLst>
              <a:ext uri="{FF2B5EF4-FFF2-40B4-BE49-F238E27FC236}">
                <a16:creationId xmlns:a16="http://schemas.microsoft.com/office/drawing/2014/main" id="{06D490E8-3322-4615-9EA3-A7C560701A50}"/>
              </a:ext>
            </a:extLst>
          </p:cNvPr>
          <p:cNvSpPr>
            <a:spLocks noGrp="1"/>
          </p:cNvSpPr>
          <p:nvPr/>
        </p:nvSpPr>
        <p:spPr>
          <a:xfrm>
            <a:off x="6143625" y="5695950"/>
            <a:ext cx="128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参数 w</a:t>
            </a:r>
          </a:p>
        </p:txBody>
      </p:sp>
      <p:sp>
        <p:nvSpPr>
          <p:cNvPr id="22" name="base_yaxis">
            <a:extLst>
              <a:ext uri="{FF2B5EF4-FFF2-40B4-BE49-F238E27FC236}">
                <a16:creationId xmlns:a16="http://schemas.microsoft.com/office/drawing/2014/main" id="{9D37B84D-D1EF-45BF-9F84-30E20938133A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9525" cy="3228975"/>
          </a:xfrm>
          <a:custGeom>
            <a:avLst/>
            <a:gdLst/>
            <a:ahLst/>
            <a:cxnLst/>
            <a:rect l="0" t="0" r="0" b="0"/>
            <a:pathLst>
              <a:path w="9525" h="3228975">
                <a:moveTo>
                  <a:pt x="0" y="32289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3" name="base_yaxis_a">
            <a:extLst>
              <a:ext uri="{FF2B5EF4-FFF2-40B4-BE49-F238E27FC236}">
                <a16:creationId xmlns:a16="http://schemas.microsoft.com/office/drawing/2014/main" id="{D905CB4D-DCD4-4A0F-AC07-3C12F1068F6F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4" name="base_yaxis_b">
            <a:extLst>
              <a:ext uri="{FF2B5EF4-FFF2-40B4-BE49-F238E27FC236}">
                <a16:creationId xmlns:a16="http://schemas.microsoft.com/office/drawing/2014/main" id="{41E99D7D-28E3-4D35-ADEE-AB0DD033C2D1}"/>
              </a:ext>
            </a:extLst>
          </p:cNvPr>
          <p:cNvSpPr>
            <a:spLocks noGrp="1"/>
          </p:cNvSpPr>
          <p:nvPr/>
        </p:nvSpPr>
        <p:spPr>
          <a:xfrm>
            <a:off x="897702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5" name="base_ytick0">
            <a:extLst>
              <a:ext uri="{FF2B5EF4-FFF2-40B4-BE49-F238E27FC236}">
                <a16:creationId xmlns:a16="http://schemas.microsoft.com/office/drawing/2014/main" id="{5E103410-F38B-45C1-B2AB-A337AAC8E95A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6" name="base_ylabel0">
            <a:extLst>
              <a:ext uri="{FF2B5EF4-FFF2-40B4-BE49-F238E27FC236}">
                <a16:creationId xmlns:a16="http://schemas.microsoft.com/office/drawing/2014/main" id="{B0F2A53A-F351-4CAA-AE92-50AA9579BE4B}"/>
              </a:ext>
            </a:extLst>
          </p:cNvPr>
          <p:cNvSpPr>
            <a:spLocks noGrp="1"/>
          </p:cNvSpPr>
          <p:nvPr/>
        </p:nvSpPr>
        <p:spPr>
          <a:xfrm>
            <a:off x="533400" y="5200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base_ytick2">
            <a:extLst>
              <a:ext uri="{FF2B5EF4-FFF2-40B4-BE49-F238E27FC236}">
                <a16:creationId xmlns:a16="http://schemas.microsoft.com/office/drawing/2014/main" id="{46D887A6-6D0E-42CF-8B9F-151869212996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8" name="base_ylabel2">
            <a:extLst>
              <a:ext uri="{FF2B5EF4-FFF2-40B4-BE49-F238E27FC236}">
                <a16:creationId xmlns:a16="http://schemas.microsoft.com/office/drawing/2014/main" id="{4BBA57C8-5CF0-4B8F-8EE4-B57C4A5BC950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base_ytick4">
            <a:extLst>
              <a:ext uri="{FF2B5EF4-FFF2-40B4-BE49-F238E27FC236}">
                <a16:creationId xmlns:a16="http://schemas.microsoft.com/office/drawing/2014/main" id="{C41F0AAA-7100-4F4C-AD74-118EA02BEF87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0" name="base_ylabel4">
            <a:extLst>
              <a:ext uri="{FF2B5EF4-FFF2-40B4-BE49-F238E27FC236}">
                <a16:creationId xmlns:a16="http://schemas.microsoft.com/office/drawing/2014/main" id="{E816809C-14F2-435D-8AA4-283EA477347C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base_ytick6">
            <a:extLst>
              <a:ext uri="{FF2B5EF4-FFF2-40B4-BE49-F238E27FC236}">
                <a16:creationId xmlns:a16="http://schemas.microsoft.com/office/drawing/2014/main" id="{AF19CEA4-C0E3-484F-9BF2-A4559FBBB486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2" name="base_ylabel6">
            <a:extLst>
              <a:ext uri="{FF2B5EF4-FFF2-40B4-BE49-F238E27FC236}">
                <a16:creationId xmlns:a16="http://schemas.microsoft.com/office/drawing/2014/main" id="{0288969C-E048-4271-A71F-5D5BE04F1729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base_ytick8">
            <a:extLst>
              <a:ext uri="{FF2B5EF4-FFF2-40B4-BE49-F238E27FC236}">
                <a16:creationId xmlns:a16="http://schemas.microsoft.com/office/drawing/2014/main" id="{85800B21-6490-4270-9760-E4D4B931B6EC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4" name="base_ylabel8">
            <a:extLst>
              <a:ext uri="{FF2B5EF4-FFF2-40B4-BE49-F238E27FC236}">
                <a16:creationId xmlns:a16="http://schemas.microsoft.com/office/drawing/2014/main" id="{CCDBD72F-6D7C-4ACB-8F19-7A14E2E5367D}"/>
              </a:ext>
            </a:extLst>
          </p:cNvPr>
          <p:cNvSpPr>
            <a:spLocks noGrp="1"/>
          </p:cNvSpPr>
          <p:nvPr/>
        </p:nvSpPr>
        <p:spPr>
          <a:xfrm>
            <a:off x="533400" y="2914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base_ytick10">
            <a:extLst>
              <a:ext uri="{FF2B5EF4-FFF2-40B4-BE49-F238E27FC236}">
                <a16:creationId xmlns:a16="http://schemas.microsoft.com/office/drawing/2014/main" id="{2A4E8CCA-ABE0-4534-860D-8696E278586E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6" name="base_ylabel10">
            <a:extLst>
              <a:ext uri="{FF2B5EF4-FFF2-40B4-BE49-F238E27FC236}">
                <a16:creationId xmlns:a16="http://schemas.microsoft.com/office/drawing/2014/main" id="{18054A8D-BCDC-4D5B-8459-7EF218C1D8ED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7" name="base_yname">
            <a:extLst>
              <a:ext uri="{FF2B5EF4-FFF2-40B4-BE49-F238E27FC236}">
                <a16:creationId xmlns:a16="http://schemas.microsoft.com/office/drawing/2014/main" id="{8705B238-CFCC-4161-A452-432EAE91DEDF}"/>
              </a:ext>
            </a:extLst>
          </p:cNvPr>
          <p:cNvSpPr>
            <a:spLocks noGrp="1"/>
          </p:cNvSpPr>
          <p:nvPr/>
        </p:nvSpPr>
        <p:spPr>
          <a:xfrm>
            <a:off x="571500" y="1771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 L</a:t>
            </a:r>
          </a:p>
        </p:txBody>
      </p:sp>
      <p:sp>
        <p:nvSpPr>
          <p:cNvPr id="38" name="base_curve">
            <a:extLst>
              <a:ext uri="{FF2B5EF4-FFF2-40B4-BE49-F238E27FC236}">
                <a16:creationId xmlns:a16="http://schemas.microsoft.com/office/drawing/2014/main" id="{DD7670BD-461D-45F9-A119-E28B9678B290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5715000" cy="2571750"/>
          </a:xfrm>
          <a:custGeom>
            <a:avLst/>
            <a:gdLst/>
            <a:ahLst/>
            <a:cxnLst/>
            <a:rect l="0" t="0" r="0" b="0"/>
            <a:pathLst>
              <a:path w="5715000" h="2571750">
                <a:moveTo>
                  <a:pt x="0" y="0"/>
                </a:moveTo>
                <a:lnTo>
                  <a:pt x="47625" y="85011"/>
                </a:lnTo>
                <a:lnTo>
                  <a:pt x="95250" y="168592"/>
                </a:lnTo>
                <a:lnTo>
                  <a:pt x="142875" y="250746"/>
                </a:lnTo>
                <a:lnTo>
                  <a:pt x="190500" y="331470"/>
                </a:lnTo>
                <a:lnTo>
                  <a:pt x="238125" y="410766"/>
                </a:lnTo>
                <a:lnTo>
                  <a:pt x="285750" y="488632"/>
                </a:lnTo>
                <a:lnTo>
                  <a:pt x="333375" y="565071"/>
                </a:lnTo>
                <a:lnTo>
                  <a:pt x="381000" y="640080"/>
                </a:lnTo>
                <a:lnTo>
                  <a:pt x="428625" y="713661"/>
                </a:lnTo>
                <a:lnTo>
                  <a:pt x="476250" y="785813"/>
                </a:lnTo>
                <a:lnTo>
                  <a:pt x="523875" y="856536"/>
                </a:lnTo>
                <a:lnTo>
                  <a:pt x="571500" y="925830"/>
                </a:lnTo>
                <a:lnTo>
                  <a:pt x="619125" y="993696"/>
                </a:lnTo>
                <a:lnTo>
                  <a:pt x="666750" y="1060133"/>
                </a:lnTo>
                <a:lnTo>
                  <a:pt x="714375" y="1125141"/>
                </a:lnTo>
                <a:lnTo>
                  <a:pt x="762000" y="1188720"/>
                </a:lnTo>
                <a:lnTo>
                  <a:pt x="809625" y="1250871"/>
                </a:lnTo>
                <a:lnTo>
                  <a:pt x="857250" y="1311593"/>
                </a:lnTo>
                <a:lnTo>
                  <a:pt x="904875" y="1370886"/>
                </a:lnTo>
                <a:lnTo>
                  <a:pt x="952500" y="1428750"/>
                </a:lnTo>
                <a:lnTo>
                  <a:pt x="1000125" y="1485186"/>
                </a:lnTo>
                <a:lnTo>
                  <a:pt x="1047750" y="1540193"/>
                </a:lnTo>
                <a:lnTo>
                  <a:pt x="1095375" y="1593771"/>
                </a:lnTo>
                <a:lnTo>
                  <a:pt x="1143000" y="1645920"/>
                </a:lnTo>
                <a:lnTo>
                  <a:pt x="1190625" y="1696641"/>
                </a:lnTo>
                <a:lnTo>
                  <a:pt x="1238250" y="1745932"/>
                </a:lnTo>
                <a:lnTo>
                  <a:pt x="1285875" y="1793796"/>
                </a:lnTo>
                <a:lnTo>
                  <a:pt x="1333500" y="1840230"/>
                </a:lnTo>
                <a:lnTo>
                  <a:pt x="1381125" y="1885236"/>
                </a:lnTo>
                <a:lnTo>
                  <a:pt x="1428750" y="1928813"/>
                </a:lnTo>
                <a:lnTo>
                  <a:pt x="1476375" y="1970961"/>
                </a:lnTo>
                <a:lnTo>
                  <a:pt x="1524000" y="2011680"/>
                </a:lnTo>
                <a:lnTo>
                  <a:pt x="1571625" y="2050971"/>
                </a:lnTo>
                <a:lnTo>
                  <a:pt x="1619250" y="2088833"/>
                </a:lnTo>
                <a:lnTo>
                  <a:pt x="1666875" y="2125266"/>
                </a:lnTo>
                <a:lnTo>
                  <a:pt x="1714500" y="2160270"/>
                </a:lnTo>
                <a:lnTo>
                  <a:pt x="1762125" y="2193846"/>
                </a:lnTo>
                <a:lnTo>
                  <a:pt x="1809750" y="2225993"/>
                </a:lnTo>
                <a:lnTo>
                  <a:pt x="1857375" y="2256711"/>
                </a:lnTo>
                <a:lnTo>
                  <a:pt x="1905000" y="2286000"/>
                </a:lnTo>
                <a:lnTo>
                  <a:pt x="1952625" y="2313861"/>
                </a:lnTo>
                <a:lnTo>
                  <a:pt x="2000250" y="2340293"/>
                </a:lnTo>
                <a:lnTo>
                  <a:pt x="2047875" y="2365296"/>
                </a:lnTo>
                <a:lnTo>
                  <a:pt x="2095500" y="2388870"/>
                </a:lnTo>
                <a:lnTo>
                  <a:pt x="2143125" y="2411016"/>
                </a:lnTo>
                <a:lnTo>
                  <a:pt x="2190750" y="2431732"/>
                </a:lnTo>
                <a:lnTo>
                  <a:pt x="2238375" y="2451021"/>
                </a:lnTo>
                <a:lnTo>
                  <a:pt x="2286000" y="2468880"/>
                </a:lnTo>
                <a:lnTo>
                  <a:pt x="2333625" y="2485311"/>
                </a:lnTo>
                <a:lnTo>
                  <a:pt x="2381250" y="2500313"/>
                </a:lnTo>
                <a:lnTo>
                  <a:pt x="2428875" y="2513886"/>
                </a:lnTo>
                <a:lnTo>
                  <a:pt x="2476500" y="2526030"/>
                </a:lnTo>
                <a:lnTo>
                  <a:pt x="2524125" y="2536746"/>
                </a:lnTo>
                <a:lnTo>
                  <a:pt x="2571750" y="2546032"/>
                </a:lnTo>
                <a:lnTo>
                  <a:pt x="2619375" y="2553891"/>
                </a:lnTo>
                <a:lnTo>
                  <a:pt x="2667000" y="2560320"/>
                </a:lnTo>
                <a:lnTo>
                  <a:pt x="2714625" y="2565321"/>
                </a:lnTo>
                <a:lnTo>
                  <a:pt x="2762250" y="2568893"/>
                </a:lnTo>
                <a:lnTo>
                  <a:pt x="2809875" y="2571036"/>
                </a:lnTo>
                <a:lnTo>
                  <a:pt x="2857500" y="2571750"/>
                </a:lnTo>
                <a:lnTo>
                  <a:pt x="2905125" y="2571036"/>
                </a:lnTo>
                <a:lnTo>
                  <a:pt x="2952750" y="2568893"/>
                </a:lnTo>
                <a:lnTo>
                  <a:pt x="3000375" y="2565321"/>
                </a:lnTo>
                <a:lnTo>
                  <a:pt x="3048000" y="2560320"/>
                </a:lnTo>
                <a:lnTo>
                  <a:pt x="3095625" y="2553891"/>
                </a:lnTo>
                <a:lnTo>
                  <a:pt x="3143250" y="2546032"/>
                </a:lnTo>
                <a:lnTo>
                  <a:pt x="3190875" y="2536746"/>
                </a:lnTo>
                <a:lnTo>
                  <a:pt x="3238500" y="2526030"/>
                </a:lnTo>
                <a:lnTo>
                  <a:pt x="3286125" y="2513886"/>
                </a:lnTo>
                <a:lnTo>
                  <a:pt x="3333750" y="2500313"/>
                </a:lnTo>
                <a:lnTo>
                  <a:pt x="3381375" y="2485311"/>
                </a:lnTo>
                <a:lnTo>
                  <a:pt x="3429000" y="2468880"/>
                </a:lnTo>
                <a:lnTo>
                  <a:pt x="3476625" y="2451021"/>
                </a:lnTo>
                <a:lnTo>
                  <a:pt x="3524250" y="2431732"/>
                </a:lnTo>
                <a:lnTo>
                  <a:pt x="3571875" y="2411016"/>
                </a:lnTo>
                <a:lnTo>
                  <a:pt x="3619500" y="2388870"/>
                </a:lnTo>
                <a:lnTo>
                  <a:pt x="3667125" y="2365296"/>
                </a:lnTo>
                <a:lnTo>
                  <a:pt x="3714750" y="2340292"/>
                </a:lnTo>
                <a:lnTo>
                  <a:pt x="3762375" y="2313861"/>
                </a:lnTo>
                <a:lnTo>
                  <a:pt x="3810000" y="2286000"/>
                </a:lnTo>
                <a:lnTo>
                  <a:pt x="3857625" y="2256711"/>
                </a:lnTo>
                <a:lnTo>
                  <a:pt x="3905250" y="2225992"/>
                </a:lnTo>
                <a:lnTo>
                  <a:pt x="3952875" y="2193846"/>
                </a:lnTo>
                <a:lnTo>
                  <a:pt x="4000500" y="2160270"/>
                </a:lnTo>
                <a:lnTo>
                  <a:pt x="4048125" y="2125266"/>
                </a:lnTo>
                <a:lnTo>
                  <a:pt x="4095750" y="2088833"/>
                </a:lnTo>
                <a:lnTo>
                  <a:pt x="4143375" y="2050971"/>
                </a:lnTo>
                <a:lnTo>
                  <a:pt x="4191000" y="2011680"/>
                </a:lnTo>
                <a:lnTo>
                  <a:pt x="4238625" y="1970961"/>
                </a:lnTo>
                <a:lnTo>
                  <a:pt x="4286250" y="1928813"/>
                </a:lnTo>
                <a:lnTo>
                  <a:pt x="4333875" y="1885236"/>
                </a:lnTo>
                <a:lnTo>
                  <a:pt x="4381500" y="1840230"/>
                </a:lnTo>
                <a:lnTo>
                  <a:pt x="4429125" y="1793796"/>
                </a:lnTo>
                <a:lnTo>
                  <a:pt x="4476750" y="1745932"/>
                </a:lnTo>
                <a:lnTo>
                  <a:pt x="4524375" y="1696641"/>
                </a:lnTo>
                <a:lnTo>
                  <a:pt x="4572000" y="1645920"/>
                </a:lnTo>
                <a:lnTo>
                  <a:pt x="4619625" y="1593771"/>
                </a:lnTo>
                <a:lnTo>
                  <a:pt x="4667250" y="1540192"/>
                </a:lnTo>
                <a:lnTo>
                  <a:pt x="4714875" y="1485186"/>
                </a:lnTo>
                <a:lnTo>
                  <a:pt x="4762500" y="1428750"/>
                </a:lnTo>
                <a:lnTo>
                  <a:pt x="4810125" y="1370886"/>
                </a:lnTo>
                <a:lnTo>
                  <a:pt x="4857750" y="1311592"/>
                </a:lnTo>
                <a:lnTo>
                  <a:pt x="4905375" y="1250871"/>
                </a:lnTo>
                <a:lnTo>
                  <a:pt x="4953000" y="1188720"/>
                </a:lnTo>
                <a:lnTo>
                  <a:pt x="5000625" y="1125141"/>
                </a:lnTo>
                <a:lnTo>
                  <a:pt x="5048250" y="1060132"/>
                </a:lnTo>
                <a:lnTo>
                  <a:pt x="5095875" y="993696"/>
                </a:lnTo>
                <a:lnTo>
                  <a:pt x="5143500" y="925830"/>
                </a:lnTo>
                <a:lnTo>
                  <a:pt x="5191125" y="856536"/>
                </a:lnTo>
                <a:lnTo>
                  <a:pt x="5238750" y="785813"/>
                </a:lnTo>
                <a:lnTo>
                  <a:pt x="5286375" y="713661"/>
                </a:lnTo>
                <a:lnTo>
                  <a:pt x="5334000" y="640080"/>
                </a:lnTo>
                <a:lnTo>
                  <a:pt x="5381625" y="565071"/>
                </a:lnTo>
                <a:lnTo>
                  <a:pt x="5429250" y="488632"/>
                </a:lnTo>
                <a:lnTo>
                  <a:pt x="5476875" y="410766"/>
                </a:lnTo>
                <a:lnTo>
                  <a:pt x="5524500" y="331470"/>
                </a:lnTo>
                <a:lnTo>
                  <a:pt x="5572125" y="250746"/>
                </a:lnTo>
                <a:lnTo>
                  <a:pt x="5619750" y="168592"/>
                </a:lnTo>
                <a:lnTo>
                  <a:pt x="5667375" y="85011"/>
                </a:lnTo>
                <a:lnTo>
                  <a:pt x="5715000" y="0"/>
                </a:lnTo>
              </a:path>
            </a:pathLst>
          </a:custGeom>
          <a:noFill/>
          <a:ln w="30480">
            <a:solidFill>
              <a:srgbClr val="202938"/>
            </a:solidFill>
            <a:prstDash val="solid"/>
          </a:ln>
        </p:spPr>
      </p:sp>
      <p:sp>
        <p:nvSpPr>
          <p:cNvPr id="39" name="base_point">
            <a:extLst>
              <a:ext uri="{FF2B5EF4-FFF2-40B4-BE49-F238E27FC236}">
                <a16:creationId xmlns:a16="http://schemas.microsoft.com/office/drawing/2014/main" id="{62B70D32-04A2-4375-8F6D-728C1555781E}"/>
              </a:ext>
            </a:extLst>
          </p:cNvPr>
          <p:cNvSpPr>
            <a:spLocks noGrp="1"/>
          </p:cNvSpPr>
          <p:nvPr/>
        </p:nvSpPr>
        <p:spPr>
          <a:xfrm>
            <a:off x="5648325" y="412432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0" name="base_pointLabel">
            <a:extLst>
              <a:ext uri="{FF2B5EF4-FFF2-40B4-BE49-F238E27FC236}">
                <a16:creationId xmlns:a16="http://schemas.microsoft.com/office/drawing/2014/main" id="{8F2A3469-31CF-4DFB-8B9C-90106E1B7537}"/>
              </a:ext>
            </a:extLst>
          </p:cNvPr>
          <p:cNvSpPr>
            <a:spLocks noGrp="1"/>
          </p:cNvSpPr>
          <p:nvPr/>
        </p:nvSpPr>
        <p:spPr>
          <a:xfrm>
            <a:off x="5048250" y="370522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(6, 4)</a:t>
            </a:r>
          </a:p>
        </p:txBody>
      </p:sp>
      <p:sp>
        <p:nvSpPr>
          <p:cNvPr id="41" name="C1_height">
            <a:extLst>
              <a:ext uri="{FF2B5EF4-FFF2-40B4-BE49-F238E27FC236}">
                <a16:creationId xmlns:a16="http://schemas.microsoft.com/office/drawing/2014/main" id="{4F9469A8-B64A-4911-BF12-6F95F33328D0}"/>
              </a:ext>
            </a:extLst>
          </p:cNvPr>
          <p:cNvSpPr>
            <a:spLocks noGrp="1"/>
          </p:cNvSpPr>
          <p:nvPr/>
        </p:nvSpPr>
        <p:spPr>
          <a:xfrm>
            <a:off x="5715000" y="4191000"/>
            <a:ext cx="9525" cy="1143000"/>
          </a:xfrm>
          <a:custGeom>
            <a:avLst/>
            <a:gdLst/>
            <a:ahLst/>
            <a:cxnLst/>
            <a:rect l="0" t="0" r="0" b="0"/>
            <a:pathLst>
              <a:path w="9525" h="1143000">
                <a:moveTo>
                  <a:pt x="0" y="11430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65D16"/>
            </a:solidFill>
            <a:prstDash val="solid"/>
          </a:ln>
        </p:spPr>
      </p:sp>
      <p:sp>
        <p:nvSpPr>
          <p:cNvPr id="42" name="C1_loss">
            <a:extLst>
              <a:ext uri="{FF2B5EF4-FFF2-40B4-BE49-F238E27FC236}">
                <a16:creationId xmlns:a16="http://schemas.microsoft.com/office/drawing/2014/main" id="{F914A90A-D8C8-4D27-A499-F73B265A3B1D}"/>
              </a:ext>
            </a:extLst>
          </p:cNvPr>
          <p:cNvSpPr>
            <a:spLocks noGrp="1"/>
          </p:cNvSpPr>
          <p:nvPr/>
        </p:nvSpPr>
        <p:spPr>
          <a:xfrm>
            <a:off x="7629525" y="2381250"/>
            <a:ext cx="37242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9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9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Loss = 4</a:t>
            </a:r>
          </a:p>
        </p:txBody>
      </p:sp>
      <p:sp>
        <p:nvSpPr>
          <p:cNvPr id="43" name="C1_lossMeaning">
            <a:extLst>
              <a:ext uri="{FF2B5EF4-FFF2-40B4-BE49-F238E27FC236}">
                <a16:creationId xmlns:a16="http://schemas.microsoft.com/office/drawing/2014/main" id="{A06D811A-5B3A-4CF9-BABB-8C72F1377E07}"/>
              </a:ext>
            </a:extLst>
          </p:cNvPr>
          <p:cNvSpPr>
            <a:spLocks noGrp="1"/>
          </p:cNvSpPr>
          <p:nvPr/>
        </p:nvSpPr>
        <p:spPr>
          <a:xfrm>
            <a:off x="7629525" y="2943225"/>
            <a:ext cx="3724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现在的错误评分</a:t>
            </a:r>
          </a:p>
        </p:txBody>
      </p:sp>
      <p:sp>
        <p:nvSpPr>
          <p:cNvPr id="44" name="C2_tangent">
            <a:extLst>
              <a:ext uri="{FF2B5EF4-FFF2-40B4-BE49-F238E27FC236}">
                <a16:creationId xmlns:a16="http://schemas.microsoft.com/office/drawing/2014/main" id="{33933B4A-E01C-4DA5-8B51-034A852AD641}"/>
              </a:ext>
            </a:extLst>
          </p:cNvPr>
          <p:cNvSpPr>
            <a:spLocks noGrp="1"/>
          </p:cNvSpPr>
          <p:nvPr/>
        </p:nvSpPr>
        <p:spPr>
          <a:xfrm>
            <a:off x="5238750" y="3619500"/>
            <a:ext cx="952500" cy="1143000"/>
          </a:xfrm>
          <a:custGeom>
            <a:avLst/>
            <a:gdLst/>
            <a:ahLst/>
            <a:cxnLst/>
            <a:rect l="0" t="0" r="0" b="0"/>
            <a:pathLst>
              <a:path w="952500" h="1143000">
                <a:moveTo>
                  <a:pt x="0" y="114300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45" name="C2_derivative">
            <a:extLst>
              <a:ext uri="{FF2B5EF4-FFF2-40B4-BE49-F238E27FC236}">
                <a16:creationId xmlns:a16="http://schemas.microsoft.com/office/drawing/2014/main" id="{0FE9EF3E-38B2-4BA6-9464-AE359ACC69A2}"/>
              </a:ext>
            </a:extLst>
          </p:cNvPr>
          <p:cNvSpPr>
            <a:spLocks noGrp="1"/>
          </p:cNvSpPr>
          <p:nvPr/>
        </p:nvSpPr>
        <p:spPr>
          <a:xfrm>
            <a:off x="7629525" y="3848100"/>
            <a:ext cx="37242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9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9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导数 = +4</a:t>
            </a:r>
          </a:p>
        </p:txBody>
      </p:sp>
      <p:sp>
        <p:nvSpPr>
          <p:cNvPr id="46" name="C2_meaning">
            <a:extLst>
              <a:ext uri="{FF2B5EF4-FFF2-40B4-BE49-F238E27FC236}">
                <a16:creationId xmlns:a16="http://schemas.microsoft.com/office/drawing/2014/main" id="{242DB613-9892-4A7F-875C-B15D97BB1FAE}"/>
              </a:ext>
            </a:extLst>
          </p:cNvPr>
          <p:cNvSpPr>
            <a:spLocks noGrp="1"/>
          </p:cNvSpPr>
          <p:nvPr/>
        </p:nvSpPr>
        <p:spPr>
          <a:xfrm>
            <a:off x="7629525" y="4429125"/>
            <a:ext cx="3886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往右微调，Loss 局部上升</a:t>
            </a:r>
          </a:p>
        </p:txBody>
      </p:sp>
      <p:sp>
        <p:nvSpPr>
          <p:cNvPr id="47" name="C3_conclusion">
            <a:extLst>
              <a:ext uri="{FF2B5EF4-FFF2-40B4-BE49-F238E27FC236}">
                <a16:creationId xmlns:a16="http://schemas.microsoft.com/office/drawing/2014/main" id="{C39CEE4B-7868-4901-8F48-E2F677593E0F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高度和坡度，描述不同的信息</a:t>
            </a:r>
          </a:p>
        </p:txBody>
      </p:sp>
    </p:spTree>
    <p:extLst>
      <p:ext uri="{BB962C8B-B14F-4D97-AF65-F5344CB8AC3E}">
        <p14:creationId xmlns:p14="http://schemas.microsoft.com/office/powerpoint/2010/main" val="33896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5" grpId="0"/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">
            <a:extLst>
              <a:ext uri="{FF2B5EF4-FFF2-40B4-BE49-F238E27FC236}">
                <a16:creationId xmlns:a16="http://schemas.microsoft.com/office/drawing/2014/main" id="{52D31732-C695-44CB-A7F5-F92C7EA667B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导数的局部含义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B4D97FC2-C7D3-4A59-944C-FB41FD7B36C3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58C5256-EFE1-467F-B6CF-EEE2BDA0B287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在 w = 6 附近，轻轻向右移动一点</a:t>
            </a:r>
          </a:p>
        </p:txBody>
      </p:sp>
      <p:sp>
        <p:nvSpPr>
          <p:cNvPr id="4" name="base_xaxis">
            <a:extLst>
              <a:ext uri="{FF2B5EF4-FFF2-40B4-BE49-F238E27FC236}">
                <a16:creationId xmlns:a16="http://schemas.microsoft.com/office/drawing/2014/main" id="{C03C335A-DFBE-4791-B434-D02D5189EDE5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6219825" cy="9525"/>
          </a:xfrm>
          <a:custGeom>
            <a:avLst/>
            <a:gdLst/>
            <a:ahLst/>
            <a:cxnLst/>
            <a:rect l="0" t="0" r="0" b="0"/>
            <a:pathLst>
              <a:path w="6219825" h="9525">
                <a:moveTo>
                  <a:pt x="0" y="0"/>
                </a:moveTo>
                <a:lnTo>
                  <a:pt x="62198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5" name="base_xaxis_a">
            <a:extLst>
              <a:ext uri="{FF2B5EF4-FFF2-40B4-BE49-F238E27FC236}">
                <a16:creationId xmlns:a16="http://schemas.microsoft.com/office/drawing/2014/main" id="{2C1BC681-FC6F-4D9C-9A27-474A6382090F}"/>
              </a:ext>
            </a:extLst>
          </p:cNvPr>
          <p:cNvSpPr>
            <a:spLocks noGrp="1"/>
          </p:cNvSpPr>
          <p:nvPr/>
        </p:nvSpPr>
        <p:spPr>
          <a:xfrm>
            <a:off x="6976767" y="5334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6" name="base_xaxis_b">
            <a:extLst>
              <a:ext uri="{FF2B5EF4-FFF2-40B4-BE49-F238E27FC236}">
                <a16:creationId xmlns:a16="http://schemas.microsoft.com/office/drawing/2014/main" id="{7E2CE79D-3A0B-4D14-8041-556C0228FE71}"/>
              </a:ext>
            </a:extLst>
          </p:cNvPr>
          <p:cNvSpPr>
            <a:spLocks noGrp="1"/>
          </p:cNvSpPr>
          <p:nvPr/>
        </p:nvSpPr>
        <p:spPr>
          <a:xfrm>
            <a:off x="6976767" y="5279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" name="base_xtick1">
            <a:extLst>
              <a:ext uri="{FF2B5EF4-FFF2-40B4-BE49-F238E27FC236}">
                <a16:creationId xmlns:a16="http://schemas.microsoft.com/office/drawing/2014/main" id="{59D8675C-EC3F-49B1-85CD-C0BEC609B2AC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" name="base_xlabel1">
            <a:extLst>
              <a:ext uri="{FF2B5EF4-FFF2-40B4-BE49-F238E27FC236}">
                <a16:creationId xmlns:a16="http://schemas.microsoft.com/office/drawing/2014/main" id="{DE84E9D9-3838-4A31-B24B-7C236B51301F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ase_xtick2">
            <a:extLst>
              <a:ext uri="{FF2B5EF4-FFF2-40B4-BE49-F238E27FC236}">
                <a16:creationId xmlns:a16="http://schemas.microsoft.com/office/drawing/2014/main" id="{8DA884CD-90BF-45B9-9584-EB323A5A6AED}"/>
              </a:ext>
            </a:extLst>
          </p:cNvPr>
          <p:cNvSpPr>
            <a:spLocks noGrp="1"/>
          </p:cNvSpPr>
          <p:nvPr/>
        </p:nvSpPr>
        <p:spPr>
          <a:xfrm>
            <a:off x="190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0" name="base_xlabel2">
            <a:extLst>
              <a:ext uri="{FF2B5EF4-FFF2-40B4-BE49-F238E27FC236}">
                <a16:creationId xmlns:a16="http://schemas.microsoft.com/office/drawing/2014/main" id="{D367730B-258C-4394-83A4-1321DF9E1F9E}"/>
              </a:ext>
            </a:extLst>
          </p:cNvPr>
          <p:cNvSpPr>
            <a:spLocks noGrp="1"/>
          </p:cNvSpPr>
          <p:nvPr/>
        </p:nvSpPr>
        <p:spPr>
          <a:xfrm>
            <a:off x="180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base_xtick3">
            <a:extLst>
              <a:ext uri="{FF2B5EF4-FFF2-40B4-BE49-F238E27FC236}">
                <a16:creationId xmlns:a16="http://schemas.microsoft.com/office/drawing/2014/main" id="{0AFF103B-FF48-4257-83BD-33BD97AE322A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2" name="base_xlabel3">
            <a:extLst>
              <a:ext uri="{FF2B5EF4-FFF2-40B4-BE49-F238E27FC236}">
                <a16:creationId xmlns:a16="http://schemas.microsoft.com/office/drawing/2014/main" id="{5ECC26B3-070F-4169-8F9A-8862BE883C65}"/>
              </a:ext>
            </a:extLst>
          </p:cNvPr>
          <p:cNvSpPr>
            <a:spLocks noGrp="1"/>
          </p:cNvSpPr>
          <p:nvPr/>
        </p:nvSpPr>
        <p:spPr>
          <a:xfrm>
            <a:off x="276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base_xtick4">
            <a:extLst>
              <a:ext uri="{FF2B5EF4-FFF2-40B4-BE49-F238E27FC236}">
                <a16:creationId xmlns:a16="http://schemas.microsoft.com/office/drawing/2014/main" id="{68EE7530-7037-4530-A18F-3BFB2520B112}"/>
              </a:ext>
            </a:extLst>
          </p:cNvPr>
          <p:cNvSpPr>
            <a:spLocks noGrp="1"/>
          </p:cNvSpPr>
          <p:nvPr/>
        </p:nvSpPr>
        <p:spPr>
          <a:xfrm>
            <a:off x="3810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4" name="base_xlabel4">
            <a:extLst>
              <a:ext uri="{FF2B5EF4-FFF2-40B4-BE49-F238E27FC236}">
                <a16:creationId xmlns:a16="http://schemas.microsoft.com/office/drawing/2014/main" id="{CBC7F105-431C-4F4E-B440-BE1A609F46DF}"/>
              </a:ext>
            </a:extLst>
          </p:cNvPr>
          <p:cNvSpPr>
            <a:spLocks noGrp="1"/>
          </p:cNvSpPr>
          <p:nvPr/>
        </p:nvSpPr>
        <p:spPr>
          <a:xfrm>
            <a:off x="3714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base_xtick5">
            <a:extLst>
              <a:ext uri="{FF2B5EF4-FFF2-40B4-BE49-F238E27FC236}">
                <a16:creationId xmlns:a16="http://schemas.microsoft.com/office/drawing/2014/main" id="{F832B1FF-740A-4314-9A6D-1DD1D2D3B267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6" name="base_xlabel5">
            <a:extLst>
              <a:ext uri="{FF2B5EF4-FFF2-40B4-BE49-F238E27FC236}">
                <a16:creationId xmlns:a16="http://schemas.microsoft.com/office/drawing/2014/main" id="{C7B9612B-7389-4AEC-91A7-695B3AC8949F}"/>
              </a:ext>
            </a:extLst>
          </p:cNvPr>
          <p:cNvSpPr>
            <a:spLocks noGrp="1"/>
          </p:cNvSpPr>
          <p:nvPr/>
        </p:nvSpPr>
        <p:spPr>
          <a:xfrm>
            <a:off x="466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base_xtick6">
            <a:extLst>
              <a:ext uri="{FF2B5EF4-FFF2-40B4-BE49-F238E27FC236}">
                <a16:creationId xmlns:a16="http://schemas.microsoft.com/office/drawing/2014/main" id="{A58BADCA-2C54-46B9-A74D-61900EF50CD3}"/>
              </a:ext>
            </a:extLst>
          </p:cNvPr>
          <p:cNvSpPr>
            <a:spLocks noGrp="1"/>
          </p:cNvSpPr>
          <p:nvPr/>
        </p:nvSpPr>
        <p:spPr>
          <a:xfrm>
            <a:off x="571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8" name="base_xlabel6">
            <a:extLst>
              <a:ext uri="{FF2B5EF4-FFF2-40B4-BE49-F238E27FC236}">
                <a16:creationId xmlns:a16="http://schemas.microsoft.com/office/drawing/2014/main" id="{0574CCD8-AEDB-4C93-957F-5FAE5EA54BC2}"/>
              </a:ext>
            </a:extLst>
          </p:cNvPr>
          <p:cNvSpPr>
            <a:spLocks noGrp="1"/>
          </p:cNvSpPr>
          <p:nvPr/>
        </p:nvSpPr>
        <p:spPr>
          <a:xfrm>
            <a:off x="561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base_xtick7">
            <a:extLst>
              <a:ext uri="{FF2B5EF4-FFF2-40B4-BE49-F238E27FC236}">
                <a16:creationId xmlns:a16="http://schemas.microsoft.com/office/drawing/2014/main" id="{7472D6EA-1BC7-4123-95D0-604FF20ABC02}"/>
              </a:ext>
            </a:extLst>
          </p:cNvPr>
          <p:cNvSpPr>
            <a:spLocks noGrp="1"/>
          </p:cNvSpPr>
          <p:nvPr/>
        </p:nvSpPr>
        <p:spPr>
          <a:xfrm>
            <a:off x="666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0" name="base_xlabel7">
            <a:extLst>
              <a:ext uri="{FF2B5EF4-FFF2-40B4-BE49-F238E27FC236}">
                <a16:creationId xmlns:a16="http://schemas.microsoft.com/office/drawing/2014/main" id="{9A11AB5C-501F-4619-A0ED-25BF72102329}"/>
              </a:ext>
            </a:extLst>
          </p:cNvPr>
          <p:cNvSpPr>
            <a:spLocks noGrp="1"/>
          </p:cNvSpPr>
          <p:nvPr/>
        </p:nvSpPr>
        <p:spPr>
          <a:xfrm>
            <a:off x="657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base_xname">
            <a:extLst>
              <a:ext uri="{FF2B5EF4-FFF2-40B4-BE49-F238E27FC236}">
                <a16:creationId xmlns:a16="http://schemas.microsoft.com/office/drawing/2014/main" id="{857A46C8-8758-45B9-BE5E-7B83A5CAF905}"/>
              </a:ext>
            </a:extLst>
          </p:cNvPr>
          <p:cNvSpPr>
            <a:spLocks noGrp="1"/>
          </p:cNvSpPr>
          <p:nvPr/>
        </p:nvSpPr>
        <p:spPr>
          <a:xfrm>
            <a:off x="6143625" y="5695950"/>
            <a:ext cx="128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参数 w</a:t>
            </a:r>
          </a:p>
        </p:txBody>
      </p:sp>
      <p:sp>
        <p:nvSpPr>
          <p:cNvPr id="22" name="base_yaxis">
            <a:extLst>
              <a:ext uri="{FF2B5EF4-FFF2-40B4-BE49-F238E27FC236}">
                <a16:creationId xmlns:a16="http://schemas.microsoft.com/office/drawing/2014/main" id="{5104EA1B-02F1-4CD2-B9BE-AE36620E782E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9525" cy="3228975"/>
          </a:xfrm>
          <a:custGeom>
            <a:avLst/>
            <a:gdLst/>
            <a:ahLst/>
            <a:cxnLst/>
            <a:rect l="0" t="0" r="0" b="0"/>
            <a:pathLst>
              <a:path w="9525" h="3228975">
                <a:moveTo>
                  <a:pt x="0" y="32289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3" name="base_yaxis_a">
            <a:extLst>
              <a:ext uri="{FF2B5EF4-FFF2-40B4-BE49-F238E27FC236}">
                <a16:creationId xmlns:a16="http://schemas.microsoft.com/office/drawing/2014/main" id="{832D6A9D-6BB7-480E-8495-1E11550B88D1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4" name="base_yaxis_b">
            <a:extLst>
              <a:ext uri="{FF2B5EF4-FFF2-40B4-BE49-F238E27FC236}">
                <a16:creationId xmlns:a16="http://schemas.microsoft.com/office/drawing/2014/main" id="{E1652684-F069-4FF2-B11A-11DB804230E7}"/>
              </a:ext>
            </a:extLst>
          </p:cNvPr>
          <p:cNvSpPr>
            <a:spLocks noGrp="1"/>
          </p:cNvSpPr>
          <p:nvPr/>
        </p:nvSpPr>
        <p:spPr>
          <a:xfrm>
            <a:off x="897702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5" name="base_ytick0">
            <a:extLst>
              <a:ext uri="{FF2B5EF4-FFF2-40B4-BE49-F238E27FC236}">
                <a16:creationId xmlns:a16="http://schemas.microsoft.com/office/drawing/2014/main" id="{240C5B54-1C22-4F61-A1DC-993591C8080F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6" name="base_ylabel0">
            <a:extLst>
              <a:ext uri="{FF2B5EF4-FFF2-40B4-BE49-F238E27FC236}">
                <a16:creationId xmlns:a16="http://schemas.microsoft.com/office/drawing/2014/main" id="{AE2BC416-239F-4209-B036-49E5D246A589}"/>
              </a:ext>
            </a:extLst>
          </p:cNvPr>
          <p:cNvSpPr>
            <a:spLocks noGrp="1"/>
          </p:cNvSpPr>
          <p:nvPr/>
        </p:nvSpPr>
        <p:spPr>
          <a:xfrm>
            <a:off x="533400" y="5200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base_ytick2">
            <a:extLst>
              <a:ext uri="{FF2B5EF4-FFF2-40B4-BE49-F238E27FC236}">
                <a16:creationId xmlns:a16="http://schemas.microsoft.com/office/drawing/2014/main" id="{13687651-E075-47DC-8E05-8407D2A31C9F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8" name="base_ylabel2">
            <a:extLst>
              <a:ext uri="{FF2B5EF4-FFF2-40B4-BE49-F238E27FC236}">
                <a16:creationId xmlns:a16="http://schemas.microsoft.com/office/drawing/2014/main" id="{584B3876-9033-4F08-9BA1-3DBF9402C69A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base_ytick4">
            <a:extLst>
              <a:ext uri="{FF2B5EF4-FFF2-40B4-BE49-F238E27FC236}">
                <a16:creationId xmlns:a16="http://schemas.microsoft.com/office/drawing/2014/main" id="{FF8655E5-F87C-4FEF-B1D8-A8A7411EF18D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0" name="base_ylabel4">
            <a:extLst>
              <a:ext uri="{FF2B5EF4-FFF2-40B4-BE49-F238E27FC236}">
                <a16:creationId xmlns:a16="http://schemas.microsoft.com/office/drawing/2014/main" id="{BC27F742-D2E3-4BAC-BE5B-0E5354FFE77C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base_ytick6">
            <a:extLst>
              <a:ext uri="{FF2B5EF4-FFF2-40B4-BE49-F238E27FC236}">
                <a16:creationId xmlns:a16="http://schemas.microsoft.com/office/drawing/2014/main" id="{3259E81F-BC04-4DE0-8154-DC1E8C45CF3F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2" name="base_ylabel6">
            <a:extLst>
              <a:ext uri="{FF2B5EF4-FFF2-40B4-BE49-F238E27FC236}">
                <a16:creationId xmlns:a16="http://schemas.microsoft.com/office/drawing/2014/main" id="{06DD2DE2-FF93-43DE-B3A2-9D76EAC701B1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base_ytick8">
            <a:extLst>
              <a:ext uri="{FF2B5EF4-FFF2-40B4-BE49-F238E27FC236}">
                <a16:creationId xmlns:a16="http://schemas.microsoft.com/office/drawing/2014/main" id="{E62CAB33-2624-4CBD-9C50-13BE83B4AF35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4" name="base_ylabel8">
            <a:extLst>
              <a:ext uri="{FF2B5EF4-FFF2-40B4-BE49-F238E27FC236}">
                <a16:creationId xmlns:a16="http://schemas.microsoft.com/office/drawing/2014/main" id="{E2AAE383-3B6F-4A2E-95F6-57B418B7D583}"/>
              </a:ext>
            </a:extLst>
          </p:cNvPr>
          <p:cNvSpPr>
            <a:spLocks noGrp="1"/>
          </p:cNvSpPr>
          <p:nvPr/>
        </p:nvSpPr>
        <p:spPr>
          <a:xfrm>
            <a:off x="533400" y="2914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base_ytick10">
            <a:extLst>
              <a:ext uri="{FF2B5EF4-FFF2-40B4-BE49-F238E27FC236}">
                <a16:creationId xmlns:a16="http://schemas.microsoft.com/office/drawing/2014/main" id="{01F85328-E0FF-41F5-82B7-A7DE74077662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6" name="base_ylabel10">
            <a:extLst>
              <a:ext uri="{FF2B5EF4-FFF2-40B4-BE49-F238E27FC236}">
                <a16:creationId xmlns:a16="http://schemas.microsoft.com/office/drawing/2014/main" id="{E5435111-EB03-4404-9CE5-D4CC0D53F6DD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7" name="base_yname">
            <a:extLst>
              <a:ext uri="{FF2B5EF4-FFF2-40B4-BE49-F238E27FC236}">
                <a16:creationId xmlns:a16="http://schemas.microsoft.com/office/drawing/2014/main" id="{52017488-6B21-4034-A6DE-A1F7C608FB9B}"/>
              </a:ext>
            </a:extLst>
          </p:cNvPr>
          <p:cNvSpPr>
            <a:spLocks noGrp="1"/>
          </p:cNvSpPr>
          <p:nvPr/>
        </p:nvSpPr>
        <p:spPr>
          <a:xfrm>
            <a:off x="571500" y="1771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 L</a:t>
            </a:r>
          </a:p>
        </p:txBody>
      </p:sp>
      <p:sp>
        <p:nvSpPr>
          <p:cNvPr id="38" name="base_curve">
            <a:extLst>
              <a:ext uri="{FF2B5EF4-FFF2-40B4-BE49-F238E27FC236}">
                <a16:creationId xmlns:a16="http://schemas.microsoft.com/office/drawing/2014/main" id="{B107C37F-5D06-436D-845F-9C9F161611FF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5715000" cy="2571750"/>
          </a:xfrm>
          <a:custGeom>
            <a:avLst/>
            <a:gdLst/>
            <a:ahLst/>
            <a:cxnLst/>
            <a:rect l="0" t="0" r="0" b="0"/>
            <a:pathLst>
              <a:path w="5715000" h="2571750">
                <a:moveTo>
                  <a:pt x="0" y="0"/>
                </a:moveTo>
                <a:lnTo>
                  <a:pt x="47625" y="85011"/>
                </a:lnTo>
                <a:lnTo>
                  <a:pt x="95250" y="168592"/>
                </a:lnTo>
                <a:lnTo>
                  <a:pt x="142875" y="250746"/>
                </a:lnTo>
                <a:lnTo>
                  <a:pt x="190500" y="331470"/>
                </a:lnTo>
                <a:lnTo>
                  <a:pt x="238125" y="410766"/>
                </a:lnTo>
                <a:lnTo>
                  <a:pt x="285750" y="488632"/>
                </a:lnTo>
                <a:lnTo>
                  <a:pt x="333375" y="565071"/>
                </a:lnTo>
                <a:lnTo>
                  <a:pt x="381000" y="640080"/>
                </a:lnTo>
                <a:lnTo>
                  <a:pt x="428625" y="713661"/>
                </a:lnTo>
                <a:lnTo>
                  <a:pt x="476250" y="785813"/>
                </a:lnTo>
                <a:lnTo>
                  <a:pt x="523875" y="856536"/>
                </a:lnTo>
                <a:lnTo>
                  <a:pt x="571500" y="925830"/>
                </a:lnTo>
                <a:lnTo>
                  <a:pt x="619125" y="993696"/>
                </a:lnTo>
                <a:lnTo>
                  <a:pt x="666750" y="1060133"/>
                </a:lnTo>
                <a:lnTo>
                  <a:pt x="714375" y="1125141"/>
                </a:lnTo>
                <a:lnTo>
                  <a:pt x="762000" y="1188720"/>
                </a:lnTo>
                <a:lnTo>
                  <a:pt x="809625" y="1250871"/>
                </a:lnTo>
                <a:lnTo>
                  <a:pt x="857250" y="1311593"/>
                </a:lnTo>
                <a:lnTo>
                  <a:pt x="904875" y="1370886"/>
                </a:lnTo>
                <a:lnTo>
                  <a:pt x="952500" y="1428750"/>
                </a:lnTo>
                <a:lnTo>
                  <a:pt x="1000125" y="1485186"/>
                </a:lnTo>
                <a:lnTo>
                  <a:pt x="1047750" y="1540193"/>
                </a:lnTo>
                <a:lnTo>
                  <a:pt x="1095375" y="1593771"/>
                </a:lnTo>
                <a:lnTo>
                  <a:pt x="1143000" y="1645920"/>
                </a:lnTo>
                <a:lnTo>
                  <a:pt x="1190625" y="1696641"/>
                </a:lnTo>
                <a:lnTo>
                  <a:pt x="1238250" y="1745932"/>
                </a:lnTo>
                <a:lnTo>
                  <a:pt x="1285875" y="1793796"/>
                </a:lnTo>
                <a:lnTo>
                  <a:pt x="1333500" y="1840230"/>
                </a:lnTo>
                <a:lnTo>
                  <a:pt x="1381125" y="1885236"/>
                </a:lnTo>
                <a:lnTo>
                  <a:pt x="1428750" y="1928813"/>
                </a:lnTo>
                <a:lnTo>
                  <a:pt x="1476375" y="1970961"/>
                </a:lnTo>
                <a:lnTo>
                  <a:pt x="1524000" y="2011680"/>
                </a:lnTo>
                <a:lnTo>
                  <a:pt x="1571625" y="2050971"/>
                </a:lnTo>
                <a:lnTo>
                  <a:pt x="1619250" y="2088833"/>
                </a:lnTo>
                <a:lnTo>
                  <a:pt x="1666875" y="2125266"/>
                </a:lnTo>
                <a:lnTo>
                  <a:pt x="1714500" y="2160270"/>
                </a:lnTo>
                <a:lnTo>
                  <a:pt x="1762125" y="2193846"/>
                </a:lnTo>
                <a:lnTo>
                  <a:pt x="1809750" y="2225993"/>
                </a:lnTo>
                <a:lnTo>
                  <a:pt x="1857375" y="2256711"/>
                </a:lnTo>
                <a:lnTo>
                  <a:pt x="1905000" y="2286000"/>
                </a:lnTo>
                <a:lnTo>
                  <a:pt x="1952625" y="2313861"/>
                </a:lnTo>
                <a:lnTo>
                  <a:pt x="2000250" y="2340293"/>
                </a:lnTo>
                <a:lnTo>
                  <a:pt x="2047875" y="2365296"/>
                </a:lnTo>
                <a:lnTo>
                  <a:pt x="2095500" y="2388870"/>
                </a:lnTo>
                <a:lnTo>
                  <a:pt x="2143125" y="2411016"/>
                </a:lnTo>
                <a:lnTo>
                  <a:pt x="2190750" y="2431732"/>
                </a:lnTo>
                <a:lnTo>
                  <a:pt x="2238375" y="2451021"/>
                </a:lnTo>
                <a:lnTo>
                  <a:pt x="2286000" y="2468880"/>
                </a:lnTo>
                <a:lnTo>
                  <a:pt x="2333625" y="2485311"/>
                </a:lnTo>
                <a:lnTo>
                  <a:pt x="2381250" y="2500313"/>
                </a:lnTo>
                <a:lnTo>
                  <a:pt x="2428875" y="2513886"/>
                </a:lnTo>
                <a:lnTo>
                  <a:pt x="2476500" y="2526030"/>
                </a:lnTo>
                <a:lnTo>
                  <a:pt x="2524125" y="2536746"/>
                </a:lnTo>
                <a:lnTo>
                  <a:pt x="2571750" y="2546032"/>
                </a:lnTo>
                <a:lnTo>
                  <a:pt x="2619375" y="2553891"/>
                </a:lnTo>
                <a:lnTo>
                  <a:pt x="2667000" y="2560320"/>
                </a:lnTo>
                <a:lnTo>
                  <a:pt x="2714625" y="2565321"/>
                </a:lnTo>
                <a:lnTo>
                  <a:pt x="2762250" y="2568893"/>
                </a:lnTo>
                <a:lnTo>
                  <a:pt x="2809875" y="2571036"/>
                </a:lnTo>
                <a:lnTo>
                  <a:pt x="2857500" y="2571750"/>
                </a:lnTo>
                <a:lnTo>
                  <a:pt x="2905125" y="2571036"/>
                </a:lnTo>
                <a:lnTo>
                  <a:pt x="2952750" y="2568893"/>
                </a:lnTo>
                <a:lnTo>
                  <a:pt x="3000375" y="2565321"/>
                </a:lnTo>
                <a:lnTo>
                  <a:pt x="3048000" y="2560320"/>
                </a:lnTo>
                <a:lnTo>
                  <a:pt x="3095625" y="2553891"/>
                </a:lnTo>
                <a:lnTo>
                  <a:pt x="3143250" y="2546032"/>
                </a:lnTo>
                <a:lnTo>
                  <a:pt x="3190875" y="2536746"/>
                </a:lnTo>
                <a:lnTo>
                  <a:pt x="3238500" y="2526030"/>
                </a:lnTo>
                <a:lnTo>
                  <a:pt x="3286125" y="2513886"/>
                </a:lnTo>
                <a:lnTo>
                  <a:pt x="3333750" y="2500313"/>
                </a:lnTo>
                <a:lnTo>
                  <a:pt x="3381375" y="2485311"/>
                </a:lnTo>
                <a:lnTo>
                  <a:pt x="3429000" y="2468880"/>
                </a:lnTo>
                <a:lnTo>
                  <a:pt x="3476625" y="2451021"/>
                </a:lnTo>
                <a:lnTo>
                  <a:pt x="3524250" y="2431732"/>
                </a:lnTo>
                <a:lnTo>
                  <a:pt x="3571875" y="2411016"/>
                </a:lnTo>
                <a:lnTo>
                  <a:pt x="3619500" y="2388870"/>
                </a:lnTo>
                <a:lnTo>
                  <a:pt x="3667125" y="2365296"/>
                </a:lnTo>
                <a:lnTo>
                  <a:pt x="3714750" y="2340292"/>
                </a:lnTo>
                <a:lnTo>
                  <a:pt x="3762375" y="2313861"/>
                </a:lnTo>
                <a:lnTo>
                  <a:pt x="3810000" y="2286000"/>
                </a:lnTo>
                <a:lnTo>
                  <a:pt x="3857625" y="2256711"/>
                </a:lnTo>
                <a:lnTo>
                  <a:pt x="3905250" y="2225992"/>
                </a:lnTo>
                <a:lnTo>
                  <a:pt x="3952875" y="2193846"/>
                </a:lnTo>
                <a:lnTo>
                  <a:pt x="4000500" y="2160270"/>
                </a:lnTo>
                <a:lnTo>
                  <a:pt x="4048125" y="2125266"/>
                </a:lnTo>
                <a:lnTo>
                  <a:pt x="4095750" y="2088833"/>
                </a:lnTo>
                <a:lnTo>
                  <a:pt x="4143375" y="2050971"/>
                </a:lnTo>
                <a:lnTo>
                  <a:pt x="4191000" y="2011680"/>
                </a:lnTo>
                <a:lnTo>
                  <a:pt x="4238625" y="1970961"/>
                </a:lnTo>
                <a:lnTo>
                  <a:pt x="4286250" y="1928813"/>
                </a:lnTo>
                <a:lnTo>
                  <a:pt x="4333875" y="1885236"/>
                </a:lnTo>
                <a:lnTo>
                  <a:pt x="4381500" y="1840230"/>
                </a:lnTo>
                <a:lnTo>
                  <a:pt x="4429125" y="1793796"/>
                </a:lnTo>
                <a:lnTo>
                  <a:pt x="4476750" y="1745932"/>
                </a:lnTo>
                <a:lnTo>
                  <a:pt x="4524375" y="1696641"/>
                </a:lnTo>
                <a:lnTo>
                  <a:pt x="4572000" y="1645920"/>
                </a:lnTo>
                <a:lnTo>
                  <a:pt x="4619625" y="1593771"/>
                </a:lnTo>
                <a:lnTo>
                  <a:pt x="4667250" y="1540192"/>
                </a:lnTo>
                <a:lnTo>
                  <a:pt x="4714875" y="1485186"/>
                </a:lnTo>
                <a:lnTo>
                  <a:pt x="4762500" y="1428750"/>
                </a:lnTo>
                <a:lnTo>
                  <a:pt x="4810125" y="1370886"/>
                </a:lnTo>
                <a:lnTo>
                  <a:pt x="4857750" y="1311592"/>
                </a:lnTo>
                <a:lnTo>
                  <a:pt x="4905375" y="1250871"/>
                </a:lnTo>
                <a:lnTo>
                  <a:pt x="4953000" y="1188720"/>
                </a:lnTo>
                <a:lnTo>
                  <a:pt x="5000625" y="1125141"/>
                </a:lnTo>
                <a:lnTo>
                  <a:pt x="5048250" y="1060132"/>
                </a:lnTo>
                <a:lnTo>
                  <a:pt x="5095875" y="993696"/>
                </a:lnTo>
                <a:lnTo>
                  <a:pt x="5143500" y="925830"/>
                </a:lnTo>
                <a:lnTo>
                  <a:pt x="5191125" y="856536"/>
                </a:lnTo>
                <a:lnTo>
                  <a:pt x="5238750" y="785813"/>
                </a:lnTo>
                <a:lnTo>
                  <a:pt x="5286375" y="713661"/>
                </a:lnTo>
                <a:lnTo>
                  <a:pt x="5334000" y="640080"/>
                </a:lnTo>
                <a:lnTo>
                  <a:pt x="5381625" y="565071"/>
                </a:lnTo>
                <a:lnTo>
                  <a:pt x="5429250" y="488632"/>
                </a:lnTo>
                <a:lnTo>
                  <a:pt x="5476875" y="410766"/>
                </a:lnTo>
                <a:lnTo>
                  <a:pt x="5524500" y="331470"/>
                </a:lnTo>
                <a:lnTo>
                  <a:pt x="5572125" y="250746"/>
                </a:lnTo>
                <a:lnTo>
                  <a:pt x="5619750" y="168592"/>
                </a:lnTo>
                <a:lnTo>
                  <a:pt x="5667375" y="85011"/>
                </a:lnTo>
                <a:lnTo>
                  <a:pt x="5715000" y="0"/>
                </a:lnTo>
              </a:path>
            </a:pathLst>
          </a:custGeom>
          <a:noFill/>
          <a:ln w="30480">
            <a:solidFill>
              <a:srgbClr val="202938"/>
            </a:solidFill>
            <a:prstDash val="solid"/>
          </a:ln>
        </p:spPr>
      </p:sp>
      <p:sp>
        <p:nvSpPr>
          <p:cNvPr id="39" name="base_point">
            <a:extLst>
              <a:ext uri="{FF2B5EF4-FFF2-40B4-BE49-F238E27FC236}">
                <a16:creationId xmlns:a16="http://schemas.microsoft.com/office/drawing/2014/main" id="{6061EE7F-3AE1-452B-A34E-C9C5C46BDA8F}"/>
              </a:ext>
            </a:extLst>
          </p:cNvPr>
          <p:cNvSpPr>
            <a:spLocks noGrp="1"/>
          </p:cNvSpPr>
          <p:nvPr/>
        </p:nvSpPr>
        <p:spPr>
          <a:xfrm>
            <a:off x="5648325" y="412432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0" name="base_pointLabel">
            <a:extLst>
              <a:ext uri="{FF2B5EF4-FFF2-40B4-BE49-F238E27FC236}">
                <a16:creationId xmlns:a16="http://schemas.microsoft.com/office/drawing/2014/main" id="{61E4A9D6-D0E9-4758-8611-C10ADAD21271}"/>
              </a:ext>
            </a:extLst>
          </p:cNvPr>
          <p:cNvSpPr>
            <a:spLocks noGrp="1"/>
          </p:cNvSpPr>
          <p:nvPr/>
        </p:nvSpPr>
        <p:spPr>
          <a:xfrm>
            <a:off x="5048250" y="370522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(6, 4)</a:t>
            </a:r>
          </a:p>
        </p:txBody>
      </p:sp>
      <p:sp>
        <p:nvSpPr>
          <p:cNvPr id="41" name="zoomBox">
            <a:extLst>
              <a:ext uri="{FF2B5EF4-FFF2-40B4-BE49-F238E27FC236}">
                <a16:creationId xmlns:a16="http://schemas.microsoft.com/office/drawing/2014/main" id="{FFD32AEE-1103-4FEE-AE06-5402C4957A78}"/>
              </a:ext>
            </a:extLst>
          </p:cNvPr>
          <p:cNvSpPr>
            <a:spLocks noGrp="1"/>
          </p:cNvSpPr>
          <p:nvPr/>
        </p:nvSpPr>
        <p:spPr>
          <a:xfrm>
            <a:off x="5553075" y="4029075"/>
            <a:ext cx="323850" cy="323850"/>
          </a:xfrm>
          <a:prstGeom prst="rect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2" name="C1_zoomTitle">
            <a:extLst>
              <a:ext uri="{FF2B5EF4-FFF2-40B4-BE49-F238E27FC236}">
                <a16:creationId xmlns:a16="http://schemas.microsoft.com/office/drawing/2014/main" id="{5506D7A2-D15F-4377-AEB9-EC28D5B4C30B}"/>
              </a:ext>
            </a:extLst>
          </p:cNvPr>
          <p:cNvSpPr>
            <a:spLocks noGrp="1"/>
          </p:cNvSpPr>
          <p:nvPr/>
        </p:nvSpPr>
        <p:spPr>
          <a:xfrm>
            <a:off x="7934325" y="2057400"/>
            <a:ext cx="3571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局部放大</a:t>
            </a:r>
          </a:p>
        </p:txBody>
      </p:sp>
      <p:sp>
        <p:nvSpPr>
          <p:cNvPr id="43" name="C1_zx">
            <a:extLst>
              <a:ext uri="{FF2B5EF4-FFF2-40B4-BE49-F238E27FC236}">
                <a16:creationId xmlns:a16="http://schemas.microsoft.com/office/drawing/2014/main" id="{554E99C4-DBEF-4C92-AEE6-48B7B8D8379C}"/>
              </a:ext>
            </a:extLst>
          </p:cNvPr>
          <p:cNvSpPr>
            <a:spLocks noGrp="1"/>
          </p:cNvSpPr>
          <p:nvPr/>
        </p:nvSpPr>
        <p:spPr>
          <a:xfrm>
            <a:off x="7943850" y="4867275"/>
            <a:ext cx="3505200" cy="9525"/>
          </a:xfrm>
          <a:custGeom>
            <a:avLst/>
            <a:gdLst/>
            <a:ahLst/>
            <a:cxnLst/>
            <a:rect l="0" t="0" r="0" b="0"/>
            <a:pathLst>
              <a:path w="3505200" h="9525">
                <a:moveTo>
                  <a:pt x="0" y="0"/>
                </a:moveTo>
                <a:lnTo>
                  <a:pt x="350520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4" name="C1_zx_a">
            <a:extLst>
              <a:ext uri="{FF2B5EF4-FFF2-40B4-BE49-F238E27FC236}">
                <a16:creationId xmlns:a16="http://schemas.microsoft.com/office/drawing/2014/main" id="{542A30EE-4354-48C9-867F-E0C846015D01}"/>
              </a:ext>
            </a:extLst>
          </p:cNvPr>
          <p:cNvSpPr>
            <a:spLocks noGrp="1"/>
          </p:cNvSpPr>
          <p:nvPr/>
        </p:nvSpPr>
        <p:spPr>
          <a:xfrm>
            <a:off x="11348742" y="48672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5" name="C1_zx_b">
            <a:extLst>
              <a:ext uri="{FF2B5EF4-FFF2-40B4-BE49-F238E27FC236}">
                <a16:creationId xmlns:a16="http://schemas.microsoft.com/office/drawing/2014/main" id="{323C01F5-E83F-4ED4-9ADE-BE97355D2821}"/>
              </a:ext>
            </a:extLst>
          </p:cNvPr>
          <p:cNvSpPr>
            <a:spLocks noGrp="1"/>
          </p:cNvSpPr>
          <p:nvPr/>
        </p:nvSpPr>
        <p:spPr>
          <a:xfrm>
            <a:off x="11348742" y="48124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6" name="C1_zy">
            <a:extLst>
              <a:ext uri="{FF2B5EF4-FFF2-40B4-BE49-F238E27FC236}">
                <a16:creationId xmlns:a16="http://schemas.microsoft.com/office/drawing/2014/main" id="{69814C06-2777-4377-A430-DA8BBBDD4462}"/>
              </a:ext>
            </a:extLst>
          </p:cNvPr>
          <p:cNvSpPr>
            <a:spLocks noGrp="1"/>
          </p:cNvSpPr>
          <p:nvPr/>
        </p:nvSpPr>
        <p:spPr>
          <a:xfrm>
            <a:off x="7943850" y="2628900"/>
            <a:ext cx="9525" cy="2238375"/>
          </a:xfrm>
          <a:custGeom>
            <a:avLst/>
            <a:gdLst/>
            <a:ahLst/>
            <a:cxnLst/>
            <a:rect l="0" t="0" r="0" b="0"/>
            <a:pathLst>
              <a:path w="9525" h="2238375">
                <a:moveTo>
                  <a:pt x="0" y="22383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7" name="C1_zy_a">
            <a:extLst>
              <a:ext uri="{FF2B5EF4-FFF2-40B4-BE49-F238E27FC236}">
                <a16:creationId xmlns:a16="http://schemas.microsoft.com/office/drawing/2014/main" id="{AD617E6A-9888-4A4A-8A99-C18E4FA95FD4}"/>
              </a:ext>
            </a:extLst>
          </p:cNvPr>
          <p:cNvSpPr>
            <a:spLocks noGrp="1"/>
          </p:cNvSpPr>
          <p:nvPr/>
        </p:nvSpPr>
        <p:spPr>
          <a:xfrm>
            <a:off x="7943850" y="26289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8" name="C1_zy_b">
            <a:extLst>
              <a:ext uri="{FF2B5EF4-FFF2-40B4-BE49-F238E27FC236}">
                <a16:creationId xmlns:a16="http://schemas.microsoft.com/office/drawing/2014/main" id="{E1D1DC07-D604-4B80-A801-2F9E0727A202}"/>
              </a:ext>
            </a:extLst>
          </p:cNvPr>
          <p:cNvSpPr>
            <a:spLocks noGrp="1"/>
          </p:cNvSpPr>
          <p:nvPr/>
        </p:nvSpPr>
        <p:spPr>
          <a:xfrm>
            <a:off x="7889052" y="26289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9" name="C1_zxtick5.995">
            <a:extLst>
              <a:ext uri="{FF2B5EF4-FFF2-40B4-BE49-F238E27FC236}">
                <a16:creationId xmlns:a16="http://schemas.microsoft.com/office/drawing/2014/main" id="{EBDF1EF8-C7DE-46BF-8BD1-A790B936DED0}"/>
              </a:ext>
            </a:extLst>
          </p:cNvPr>
          <p:cNvSpPr>
            <a:spLocks noGrp="1"/>
          </p:cNvSpPr>
          <p:nvPr/>
        </p:nvSpPr>
        <p:spPr>
          <a:xfrm>
            <a:off x="7943850" y="4867275"/>
            <a:ext cx="9525" cy="57150"/>
          </a:xfrm>
          <a:custGeom>
            <a:avLst/>
            <a:gdLst/>
            <a:ahLst/>
            <a:cxnLst/>
            <a:rect l="0" t="0" r="0" b="0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0" name="C1_zxlabel5.995">
            <a:extLst>
              <a:ext uri="{FF2B5EF4-FFF2-40B4-BE49-F238E27FC236}">
                <a16:creationId xmlns:a16="http://schemas.microsoft.com/office/drawing/2014/main" id="{B4EC1B89-6AD6-4075-8C36-C597C1EAB59B}"/>
              </a:ext>
            </a:extLst>
          </p:cNvPr>
          <p:cNvSpPr>
            <a:spLocks noGrp="1"/>
          </p:cNvSpPr>
          <p:nvPr/>
        </p:nvSpPr>
        <p:spPr>
          <a:xfrm>
            <a:off x="7648575" y="4953000"/>
            <a:ext cx="809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5.995</a:t>
            </a:r>
          </a:p>
        </p:txBody>
      </p:sp>
      <p:sp>
        <p:nvSpPr>
          <p:cNvPr id="51" name="C1_zxtick6">
            <a:extLst>
              <a:ext uri="{FF2B5EF4-FFF2-40B4-BE49-F238E27FC236}">
                <a16:creationId xmlns:a16="http://schemas.microsoft.com/office/drawing/2014/main" id="{8E756AF6-7541-4FA3-A08F-FE576B046B0A}"/>
              </a:ext>
            </a:extLst>
          </p:cNvPr>
          <p:cNvSpPr>
            <a:spLocks noGrp="1"/>
          </p:cNvSpPr>
          <p:nvPr/>
        </p:nvSpPr>
        <p:spPr>
          <a:xfrm>
            <a:off x="8777287" y="4867275"/>
            <a:ext cx="9525" cy="57150"/>
          </a:xfrm>
          <a:custGeom>
            <a:avLst/>
            <a:gdLst/>
            <a:ahLst/>
            <a:cxnLst/>
            <a:rect l="0" t="0" r="0" b="0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2" name="C1_zxlabel6">
            <a:extLst>
              <a:ext uri="{FF2B5EF4-FFF2-40B4-BE49-F238E27FC236}">
                <a16:creationId xmlns:a16="http://schemas.microsoft.com/office/drawing/2014/main" id="{50ADAD90-50DC-4D51-9700-28CD1550B527}"/>
              </a:ext>
            </a:extLst>
          </p:cNvPr>
          <p:cNvSpPr>
            <a:spLocks noGrp="1"/>
          </p:cNvSpPr>
          <p:nvPr/>
        </p:nvSpPr>
        <p:spPr>
          <a:xfrm>
            <a:off x="8482012" y="4953000"/>
            <a:ext cx="809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3" name="C1_zxtick6.01">
            <a:extLst>
              <a:ext uri="{FF2B5EF4-FFF2-40B4-BE49-F238E27FC236}">
                <a16:creationId xmlns:a16="http://schemas.microsoft.com/office/drawing/2014/main" id="{0F0BFE12-CB4E-4873-A02E-0531DBCDD441}"/>
              </a:ext>
            </a:extLst>
          </p:cNvPr>
          <p:cNvSpPr>
            <a:spLocks noGrp="1"/>
          </p:cNvSpPr>
          <p:nvPr/>
        </p:nvSpPr>
        <p:spPr>
          <a:xfrm>
            <a:off x="10444162" y="4867275"/>
            <a:ext cx="9525" cy="57150"/>
          </a:xfrm>
          <a:custGeom>
            <a:avLst/>
            <a:gdLst/>
            <a:ahLst/>
            <a:cxnLst/>
            <a:rect l="0" t="0" r="0" b="0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4" name="C1_zxlabel6.01">
            <a:extLst>
              <a:ext uri="{FF2B5EF4-FFF2-40B4-BE49-F238E27FC236}">
                <a16:creationId xmlns:a16="http://schemas.microsoft.com/office/drawing/2014/main" id="{566B998A-4E58-422A-B532-9A34F27BF27C}"/>
              </a:ext>
            </a:extLst>
          </p:cNvPr>
          <p:cNvSpPr>
            <a:spLocks noGrp="1"/>
          </p:cNvSpPr>
          <p:nvPr/>
        </p:nvSpPr>
        <p:spPr>
          <a:xfrm>
            <a:off x="10148887" y="4953000"/>
            <a:ext cx="809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6.01</a:t>
            </a:r>
          </a:p>
        </p:txBody>
      </p:sp>
      <p:sp>
        <p:nvSpPr>
          <p:cNvPr id="55" name="C1_zxtick6.015">
            <a:extLst>
              <a:ext uri="{FF2B5EF4-FFF2-40B4-BE49-F238E27FC236}">
                <a16:creationId xmlns:a16="http://schemas.microsoft.com/office/drawing/2014/main" id="{81B98880-040C-455A-BF93-D6CE42D705F8}"/>
              </a:ext>
            </a:extLst>
          </p:cNvPr>
          <p:cNvSpPr>
            <a:spLocks noGrp="1"/>
          </p:cNvSpPr>
          <p:nvPr/>
        </p:nvSpPr>
        <p:spPr>
          <a:xfrm>
            <a:off x="11277600" y="4867275"/>
            <a:ext cx="9525" cy="57150"/>
          </a:xfrm>
          <a:custGeom>
            <a:avLst/>
            <a:gdLst/>
            <a:ahLst/>
            <a:cxnLst/>
            <a:rect l="0" t="0" r="0" b="0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6" name="C1_zxlabel6.015">
            <a:extLst>
              <a:ext uri="{FF2B5EF4-FFF2-40B4-BE49-F238E27FC236}">
                <a16:creationId xmlns:a16="http://schemas.microsoft.com/office/drawing/2014/main" id="{292434E8-D20B-47CB-8F96-A456C11FE069}"/>
              </a:ext>
            </a:extLst>
          </p:cNvPr>
          <p:cNvSpPr>
            <a:spLocks noGrp="1"/>
          </p:cNvSpPr>
          <p:nvPr/>
        </p:nvSpPr>
        <p:spPr>
          <a:xfrm>
            <a:off x="10982325" y="4953000"/>
            <a:ext cx="809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6.015</a:t>
            </a:r>
          </a:p>
        </p:txBody>
      </p:sp>
      <p:sp>
        <p:nvSpPr>
          <p:cNvPr id="57" name="C1_zytick3.98">
            <a:extLst>
              <a:ext uri="{FF2B5EF4-FFF2-40B4-BE49-F238E27FC236}">
                <a16:creationId xmlns:a16="http://schemas.microsoft.com/office/drawing/2014/main" id="{8BEA49D2-FE4E-4E29-9C6E-1F2D45A101A3}"/>
              </a:ext>
            </a:extLst>
          </p:cNvPr>
          <p:cNvSpPr>
            <a:spLocks noGrp="1"/>
          </p:cNvSpPr>
          <p:nvPr/>
        </p:nvSpPr>
        <p:spPr>
          <a:xfrm>
            <a:off x="7886700" y="4867275"/>
            <a:ext cx="57150" cy="9525"/>
          </a:xfrm>
          <a:custGeom>
            <a:avLst/>
            <a:gdLst/>
            <a:ahLst/>
            <a:cxnLst/>
            <a:rect l="0" t="0" r="0" b="0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8" name="C1_zylabel3.98">
            <a:extLst>
              <a:ext uri="{FF2B5EF4-FFF2-40B4-BE49-F238E27FC236}">
                <a16:creationId xmlns:a16="http://schemas.microsoft.com/office/drawing/2014/main" id="{275154F5-A60B-4406-84A9-488BB311E859}"/>
              </a:ext>
            </a:extLst>
          </p:cNvPr>
          <p:cNvSpPr>
            <a:spLocks noGrp="1"/>
          </p:cNvSpPr>
          <p:nvPr/>
        </p:nvSpPr>
        <p:spPr>
          <a:xfrm>
            <a:off x="7381875" y="4743450"/>
            <a:ext cx="504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3.98</a:t>
            </a:r>
          </a:p>
        </p:txBody>
      </p:sp>
      <p:sp>
        <p:nvSpPr>
          <p:cNvPr id="59" name="C1_zytick4.02">
            <a:extLst>
              <a:ext uri="{FF2B5EF4-FFF2-40B4-BE49-F238E27FC236}">
                <a16:creationId xmlns:a16="http://schemas.microsoft.com/office/drawing/2014/main" id="{A28F1938-0412-4CC7-98BF-EC80019B7744}"/>
              </a:ext>
            </a:extLst>
          </p:cNvPr>
          <p:cNvSpPr>
            <a:spLocks noGrp="1"/>
          </p:cNvSpPr>
          <p:nvPr/>
        </p:nvSpPr>
        <p:spPr>
          <a:xfrm>
            <a:off x="7886700" y="3978275"/>
            <a:ext cx="57150" cy="9525"/>
          </a:xfrm>
          <a:custGeom>
            <a:avLst/>
            <a:gdLst/>
            <a:ahLst/>
            <a:cxnLst/>
            <a:rect l="0" t="0" r="0" b="0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60" name="C1_zylabel4.02">
            <a:extLst>
              <a:ext uri="{FF2B5EF4-FFF2-40B4-BE49-F238E27FC236}">
                <a16:creationId xmlns:a16="http://schemas.microsoft.com/office/drawing/2014/main" id="{0A72BC30-1C2E-4132-87FA-0C9287DA2381}"/>
              </a:ext>
            </a:extLst>
          </p:cNvPr>
          <p:cNvSpPr>
            <a:spLocks noGrp="1"/>
          </p:cNvSpPr>
          <p:nvPr/>
        </p:nvSpPr>
        <p:spPr>
          <a:xfrm>
            <a:off x="7381875" y="3854450"/>
            <a:ext cx="504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4.02</a:t>
            </a:r>
          </a:p>
        </p:txBody>
      </p:sp>
      <p:sp>
        <p:nvSpPr>
          <p:cNvPr id="61" name="C1_zytick4.07">
            <a:extLst>
              <a:ext uri="{FF2B5EF4-FFF2-40B4-BE49-F238E27FC236}">
                <a16:creationId xmlns:a16="http://schemas.microsoft.com/office/drawing/2014/main" id="{667D1061-3FA4-4042-8D01-B7832BDC51C2}"/>
              </a:ext>
            </a:extLst>
          </p:cNvPr>
          <p:cNvSpPr>
            <a:spLocks noGrp="1"/>
          </p:cNvSpPr>
          <p:nvPr/>
        </p:nvSpPr>
        <p:spPr>
          <a:xfrm>
            <a:off x="7886700" y="2867025"/>
            <a:ext cx="57150" cy="9525"/>
          </a:xfrm>
          <a:custGeom>
            <a:avLst/>
            <a:gdLst/>
            <a:ahLst/>
            <a:cxnLst/>
            <a:rect l="0" t="0" r="0" b="0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62" name="C1_zylabel4.07">
            <a:extLst>
              <a:ext uri="{FF2B5EF4-FFF2-40B4-BE49-F238E27FC236}">
                <a16:creationId xmlns:a16="http://schemas.microsoft.com/office/drawing/2014/main" id="{FF7375C8-7E0F-499B-B17A-EC31B7AE4AE2}"/>
              </a:ext>
            </a:extLst>
          </p:cNvPr>
          <p:cNvSpPr>
            <a:spLocks noGrp="1"/>
          </p:cNvSpPr>
          <p:nvPr/>
        </p:nvSpPr>
        <p:spPr>
          <a:xfrm>
            <a:off x="7381875" y="2743200"/>
            <a:ext cx="504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4.07</a:t>
            </a:r>
          </a:p>
        </p:txBody>
      </p:sp>
      <p:sp>
        <p:nvSpPr>
          <p:cNvPr id="63" name="C1_localCurve">
            <a:extLst>
              <a:ext uri="{FF2B5EF4-FFF2-40B4-BE49-F238E27FC236}">
                <a16:creationId xmlns:a16="http://schemas.microsoft.com/office/drawing/2014/main" id="{642EDB66-E383-455E-B719-A45EAF71BC6B}"/>
              </a:ext>
            </a:extLst>
          </p:cNvPr>
          <p:cNvSpPr>
            <a:spLocks noGrp="1"/>
          </p:cNvSpPr>
          <p:nvPr/>
        </p:nvSpPr>
        <p:spPr>
          <a:xfrm>
            <a:off x="7943850" y="3084274"/>
            <a:ext cx="3333750" cy="1782445"/>
          </a:xfrm>
          <a:custGeom>
            <a:avLst/>
            <a:gdLst/>
            <a:ahLst/>
            <a:cxnLst/>
            <a:rect l="0" t="0" r="0" b="0"/>
            <a:pathLst>
              <a:path w="3333750" h="1782445">
                <a:moveTo>
                  <a:pt x="0" y="1782445"/>
                </a:moveTo>
                <a:lnTo>
                  <a:pt x="55563" y="1752883"/>
                </a:lnTo>
                <a:lnTo>
                  <a:pt x="111125" y="1723317"/>
                </a:lnTo>
                <a:lnTo>
                  <a:pt x="166688" y="1693745"/>
                </a:lnTo>
                <a:lnTo>
                  <a:pt x="222250" y="1664168"/>
                </a:lnTo>
                <a:lnTo>
                  <a:pt x="277813" y="1634587"/>
                </a:lnTo>
                <a:lnTo>
                  <a:pt x="333375" y="1605001"/>
                </a:lnTo>
                <a:lnTo>
                  <a:pt x="388938" y="1575409"/>
                </a:lnTo>
                <a:lnTo>
                  <a:pt x="444500" y="1545813"/>
                </a:lnTo>
                <a:lnTo>
                  <a:pt x="500063" y="1516212"/>
                </a:lnTo>
                <a:lnTo>
                  <a:pt x="555625" y="1486606"/>
                </a:lnTo>
                <a:lnTo>
                  <a:pt x="611188" y="1456994"/>
                </a:lnTo>
                <a:lnTo>
                  <a:pt x="666750" y="1427378"/>
                </a:lnTo>
                <a:lnTo>
                  <a:pt x="722312" y="1397757"/>
                </a:lnTo>
                <a:lnTo>
                  <a:pt x="777875" y="1368131"/>
                </a:lnTo>
                <a:lnTo>
                  <a:pt x="833437" y="1338501"/>
                </a:lnTo>
                <a:lnTo>
                  <a:pt x="889000" y="1308865"/>
                </a:lnTo>
                <a:lnTo>
                  <a:pt x="944562" y="1279224"/>
                </a:lnTo>
                <a:lnTo>
                  <a:pt x="1000125" y="1249578"/>
                </a:lnTo>
                <a:lnTo>
                  <a:pt x="1055687" y="1219928"/>
                </a:lnTo>
                <a:lnTo>
                  <a:pt x="1111250" y="1190272"/>
                </a:lnTo>
                <a:lnTo>
                  <a:pt x="1166812" y="1160612"/>
                </a:lnTo>
                <a:lnTo>
                  <a:pt x="1222375" y="1130946"/>
                </a:lnTo>
                <a:lnTo>
                  <a:pt x="1277937" y="1101276"/>
                </a:lnTo>
                <a:lnTo>
                  <a:pt x="1333500" y="1071601"/>
                </a:lnTo>
                <a:lnTo>
                  <a:pt x="1389063" y="1041920"/>
                </a:lnTo>
                <a:lnTo>
                  <a:pt x="1444625" y="1012235"/>
                </a:lnTo>
                <a:lnTo>
                  <a:pt x="1500188" y="982545"/>
                </a:lnTo>
                <a:lnTo>
                  <a:pt x="1555750" y="952850"/>
                </a:lnTo>
                <a:lnTo>
                  <a:pt x="1611313" y="923150"/>
                </a:lnTo>
                <a:lnTo>
                  <a:pt x="1666875" y="893445"/>
                </a:lnTo>
                <a:lnTo>
                  <a:pt x="1722438" y="863735"/>
                </a:lnTo>
                <a:lnTo>
                  <a:pt x="1778000" y="834020"/>
                </a:lnTo>
                <a:lnTo>
                  <a:pt x="1833563" y="804301"/>
                </a:lnTo>
                <a:lnTo>
                  <a:pt x="1889125" y="774576"/>
                </a:lnTo>
                <a:lnTo>
                  <a:pt x="1944688" y="744846"/>
                </a:lnTo>
                <a:lnTo>
                  <a:pt x="2000250" y="715112"/>
                </a:lnTo>
                <a:lnTo>
                  <a:pt x="2055812" y="685372"/>
                </a:lnTo>
                <a:lnTo>
                  <a:pt x="2111375" y="655628"/>
                </a:lnTo>
                <a:lnTo>
                  <a:pt x="2166937" y="625878"/>
                </a:lnTo>
                <a:lnTo>
                  <a:pt x="2222500" y="596124"/>
                </a:lnTo>
                <a:lnTo>
                  <a:pt x="2278062" y="566365"/>
                </a:lnTo>
                <a:lnTo>
                  <a:pt x="2333625" y="536600"/>
                </a:lnTo>
                <a:lnTo>
                  <a:pt x="2389187" y="506831"/>
                </a:lnTo>
                <a:lnTo>
                  <a:pt x="2444750" y="477057"/>
                </a:lnTo>
                <a:lnTo>
                  <a:pt x="2500312" y="447278"/>
                </a:lnTo>
                <a:lnTo>
                  <a:pt x="2555875" y="417494"/>
                </a:lnTo>
                <a:lnTo>
                  <a:pt x="2611437" y="387705"/>
                </a:lnTo>
                <a:lnTo>
                  <a:pt x="2667000" y="357911"/>
                </a:lnTo>
                <a:lnTo>
                  <a:pt x="2722563" y="328113"/>
                </a:lnTo>
                <a:lnTo>
                  <a:pt x="2778125" y="298309"/>
                </a:lnTo>
                <a:lnTo>
                  <a:pt x="2833688" y="268500"/>
                </a:lnTo>
                <a:lnTo>
                  <a:pt x="2889250" y="238687"/>
                </a:lnTo>
                <a:lnTo>
                  <a:pt x="2944813" y="208868"/>
                </a:lnTo>
                <a:lnTo>
                  <a:pt x="3000375" y="179045"/>
                </a:lnTo>
                <a:lnTo>
                  <a:pt x="3055938" y="149216"/>
                </a:lnTo>
                <a:lnTo>
                  <a:pt x="3111500" y="119383"/>
                </a:lnTo>
                <a:lnTo>
                  <a:pt x="3167063" y="89545"/>
                </a:lnTo>
                <a:lnTo>
                  <a:pt x="3222625" y="59701"/>
                </a:lnTo>
                <a:lnTo>
                  <a:pt x="3278188" y="29853"/>
                </a:lnTo>
                <a:lnTo>
                  <a:pt x="3333750" y="0"/>
                </a:lnTo>
              </a:path>
            </a:pathLst>
          </a:custGeom>
          <a:noFill/>
          <a:ln w="28575">
            <a:solidFill>
              <a:srgbClr val="202938"/>
            </a:solidFill>
            <a:prstDash val="solid"/>
          </a:ln>
        </p:spPr>
      </p:sp>
      <p:sp>
        <p:nvSpPr>
          <p:cNvPr id="64" name="C1_zstart">
            <a:extLst>
              <a:ext uri="{FF2B5EF4-FFF2-40B4-BE49-F238E27FC236}">
                <a16:creationId xmlns:a16="http://schemas.microsoft.com/office/drawing/2014/main" id="{8027D05A-98F6-49DB-9973-5E289C8FCACD}"/>
              </a:ext>
            </a:extLst>
          </p:cNvPr>
          <p:cNvSpPr>
            <a:spLocks noGrp="1"/>
          </p:cNvSpPr>
          <p:nvPr/>
        </p:nvSpPr>
        <p:spPr>
          <a:xfrm>
            <a:off x="8729662" y="4375150"/>
            <a:ext cx="95250" cy="952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5" name="C1_dx">
            <a:extLst>
              <a:ext uri="{FF2B5EF4-FFF2-40B4-BE49-F238E27FC236}">
                <a16:creationId xmlns:a16="http://schemas.microsoft.com/office/drawing/2014/main" id="{644AACF1-16D1-4E12-B78C-B54F2132790C}"/>
              </a:ext>
            </a:extLst>
          </p:cNvPr>
          <p:cNvSpPr>
            <a:spLocks noGrp="1"/>
          </p:cNvSpPr>
          <p:nvPr/>
        </p:nvSpPr>
        <p:spPr>
          <a:xfrm>
            <a:off x="8777287" y="4422775"/>
            <a:ext cx="1666875" cy="9525"/>
          </a:xfrm>
          <a:custGeom>
            <a:avLst/>
            <a:gdLst/>
            <a:ahLst/>
            <a:cxnLst/>
            <a:rect l="0" t="0" r="0" b="0"/>
            <a:pathLst>
              <a:path w="1666875" h="9525">
                <a:moveTo>
                  <a:pt x="0" y="0"/>
                </a:moveTo>
                <a:lnTo>
                  <a:pt x="1666875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6" name="C1_dx_a">
            <a:extLst>
              <a:ext uri="{FF2B5EF4-FFF2-40B4-BE49-F238E27FC236}">
                <a16:creationId xmlns:a16="http://schemas.microsoft.com/office/drawing/2014/main" id="{3B4E82D2-B9EC-4B78-8634-7C364BAF79D4}"/>
              </a:ext>
            </a:extLst>
          </p:cNvPr>
          <p:cNvSpPr>
            <a:spLocks noGrp="1"/>
          </p:cNvSpPr>
          <p:nvPr/>
        </p:nvSpPr>
        <p:spPr>
          <a:xfrm>
            <a:off x="10343855" y="44227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7" name="C1_dx_b">
            <a:extLst>
              <a:ext uri="{FF2B5EF4-FFF2-40B4-BE49-F238E27FC236}">
                <a16:creationId xmlns:a16="http://schemas.microsoft.com/office/drawing/2014/main" id="{51AAA3D7-1D81-4030-B115-8E49F70624C0}"/>
              </a:ext>
            </a:extLst>
          </p:cNvPr>
          <p:cNvSpPr>
            <a:spLocks noGrp="1"/>
          </p:cNvSpPr>
          <p:nvPr/>
        </p:nvSpPr>
        <p:spPr>
          <a:xfrm>
            <a:off x="10343855" y="43679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8" name="C1_dxLabel">
            <a:extLst>
              <a:ext uri="{FF2B5EF4-FFF2-40B4-BE49-F238E27FC236}">
                <a16:creationId xmlns:a16="http://schemas.microsoft.com/office/drawing/2014/main" id="{DBF9039F-F5A2-4C7C-8EA1-87AE352B245B}"/>
              </a:ext>
            </a:extLst>
          </p:cNvPr>
          <p:cNvSpPr>
            <a:spLocks noGrp="1"/>
          </p:cNvSpPr>
          <p:nvPr/>
        </p:nvSpPr>
        <p:spPr>
          <a:xfrm>
            <a:off x="8048625" y="5219700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 增加 0.01</a:t>
            </a:r>
          </a:p>
        </p:txBody>
      </p:sp>
      <p:sp>
        <p:nvSpPr>
          <p:cNvPr id="69" name="C2_dy">
            <a:extLst>
              <a:ext uri="{FF2B5EF4-FFF2-40B4-BE49-F238E27FC236}">
                <a16:creationId xmlns:a16="http://schemas.microsoft.com/office/drawing/2014/main" id="{B27C640E-C6A3-4195-9D28-F9258A80B117}"/>
              </a:ext>
            </a:extLst>
          </p:cNvPr>
          <p:cNvSpPr>
            <a:spLocks noGrp="1"/>
          </p:cNvSpPr>
          <p:nvPr/>
        </p:nvSpPr>
        <p:spPr>
          <a:xfrm>
            <a:off x="10444162" y="3531553"/>
            <a:ext cx="9525" cy="891222"/>
          </a:xfrm>
          <a:custGeom>
            <a:avLst/>
            <a:gdLst/>
            <a:ahLst/>
            <a:cxnLst/>
            <a:rect l="0" t="0" r="0" b="0"/>
            <a:pathLst>
              <a:path w="9525" h="891222">
                <a:moveTo>
                  <a:pt x="0" y="891222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65D16"/>
            </a:solidFill>
            <a:prstDash val="solid"/>
          </a:ln>
        </p:spPr>
      </p:sp>
      <p:sp>
        <p:nvSpPr>
          <p:cNvPr id="70" name="C2_dy_a">
            <a:extLst>
              <a:ext uri="{FF2B5EF4-FFF2-40B4-BE49-F238E27FC236}">
                <a16:creationId xmlns:a16="http://schemas.microsoft.com/office/drawing/2014/main" id="{7D5D3FAB-CEEA-4AD3-AFF0-EBFF8CB4E7B7}"/>
              </a:ext>
            </a:extLst>
          </p:cNvPr>
          <p:cNvSpPr>
            <a:spLocks noGrp="1"/>
          </p:cNvSpPr>
          <p:nvPr/>
        </p:nvSpPr>
        <p:spPr>
          <a:xfrm>
            <a:off x="10444162" y="3531553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28575">
            <a:solidFill>
              <a:srgbClr val="C65D16"/>
            </a:solidFill>
            <a:prstDash val="solid"/>
          </a:ln>
        </p:spPr>
      </p:sp>
      <p:sp>
        <p:nvSpPr>
          <p:cNvPr id="71" name="C2_dy_b">
            <a:extLst>
              <a:ext uri="{FF2B5EF4-FFF2-40B4-BE49-F238E27FC236}">
                <a16:creationId xmlns:a16="http://schemas.microsoft.com/office/drawing/2014/main" id="{F0491AF2-BA12-4999-895D-AD86BC572618}"/>
              </a:ext>
            </a:extLst>
          </p:cNvPr>
          <p:cNvSpPr>
            <a:spLocks noGrp="1"/>
          </p:cNvSpPr>
          <p:nvPr/>
        </p:nvSpPr>
        <p:spPr>
          <a:xfrm>
            <a:off x="10389364" y="3531553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28575">
            <a:solidFill>
              <a:srgbClr val="C65D16"/>
            </a:solidFill>
            <a:prstDash val="solid"/>
          </a:ln>
        </p:spPr>
      </p:sp>
      <p:sp>
        <p:nvSpPr>
          <p:cNvPr id="72" name="C2_zend">
            <a:extLst>
              <a:ext uri="{FF2B5EF4-FFF2-40B4-BE49-F238E27FC236}">
                <a16:creationId xmlns:a16="http://schemas.microsoft.com/office/drawing/2014/main" id="{65030424-C7C7-4F47-846B-287542CD5021}"/>
              </a:ext>
            </a:extLst>
          </p:cNvPr>
          <p:cNvSpPr>
            <a:spLocks noGrp="1"/>
          </p:cNvSpPr>
          <p:nvPr/>
        </p:nvSpPr>
        <p:spPr>
          <a:xfrm>
            <a:off x="10396537" y="3483928"/>
            <a:ext cx="95250" cy="95250"/>
          </a:xfrm>
          <a:prstGeom prst="ellipse">
            <a:avLst/>
          </a:prstGeom>
          <a:solidFill>
            <a:srgbClr val="C65D16"/>
          </a:solidFill>
          <a:ln w="19050">
            <a:solidFill>
              <a:srgbClr val="C65D16"/>
            </a:solidFill>
            <a:prstDash val="solid"/>
          </a:ln>
        </p:spPr>
      </p:sp>
      <p:sp>
        <p:nvSpPr>
          <p:cNvPr id="73" name="C2_dyLabel">
            <a:extLst>
              <a:ext uri="{FF2B5EF4-FFF2-40B4-BE49-F238E27FC236}">
                <a16:creationId xmlns:a16="http://schemas.microsoft.com/office/drawing/2014/main" id="{2ECF87E5-4E39-4F0C-9D97-ECC695FC7BB5}"/>
              </a:ext>
            </a:extLst>
          </p:cNvPr>
          <p:cNvSpPr>
            <a:spLocks noGrp="1"/>
          </p:cNvSpPr>
          <p:nvPr/>
        </p:nvSpPr>
        <p:spPr>
          <a:xfrm>
            <a:off x="7734300" y="5562600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ΔL ≈ 4 × 0.01 = 0.04</a:t>
            </a:r>
          </a:p>
        </p:txBody>
      </p:sp>
      <p:sp>
        <p:nvSpPr>
          <p:cNvPr id="74" name="C3_conclusion">
            <a:extLst>
              <a:ext uri="{FF2B5EF4-FFF2-40B4-BE49-F238E27FC236}">
                <a16:creationId xmlns:a16="http://schemas.microsoft.com/office/drawing/2014/main" id="{3B298092-D868-4A0C-ABF2-1AF0FF957096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当前位置，往左小调有望降低 Loss</a:t>
            </a:r>
          </a:p>
        </p:txBody>
      </p:sp>
    </p:spTree>
    <p:extLst>
      <p:ext uri="{BB962C8B-B14F-4D97-AF65-F5344CB8AC3E}">
        <p14:creationId xmlns:p14="http://schemas.microsoft.com/office/powerpoint/2010/main" val="185238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0" grpId="0"/>
      <p:bldP spid="52" grpId="0"/>
      <p:bldP spid="54" grpId="0"/>
      <p:bldP spid="56" grpId="0"/>
      <p:bldP spid="58" grpId="0"/>
      <p:bldP spid="60" grpId="0"/>
      <p:bldP spid="62" grpId="0"/>
      <p:bldP spid="68" grpId="0"/>
      <p:bldP spid="73" grpId="0"/>
      <p:bldP spid="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">
            <a:extLst>
              <a:ext uri="{FF2B5EF4-FFF2-40B4-BE49-F238E27FC236}">
                <a16:creationId xmlns:a16="http://schemas.microsoft.com/office/drawing/2014/main" id="{AFDA7D50-2F60-4E43-848E-EE5EECB47AC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一次参数更新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453C41E-E181-4F1D-B8DF-B9617A1676FA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7E228E8-BACE-44BA-B65C-F2DE3C06CE0B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从 w = 6 出发，学习率 η = 0.25</a:t>
            </a:r>
          </a:p>
        </p:txBody>
      </p:sp>
      <p:sp>
        <p:nvSpPr>
          <p:cNvPr id="4" name="base_xaxis">
            <a:extLst>
              <a:ext uri="{FF2B5EF4-FFF2-40B4-BE49-F238E27FC236}">
                <a16:creationId xmlns:a16="http://schemas.microsoft.com/office/drawing/2014/main" id="{B45494DB-8FD0-4005-9AA6-E7F6B2F2AAB2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6219825" cy="9525"/>
          </a:xfrm>
          <a:custGeom>
            <a:avLst/>
            <a:gdLst/>
            <a:ahLst/>
            <a:cxnLst/>
            <a:rect l="0" t="0" r="0" b="0"/>
            <a:pathLst>
              <a:path w="6219825" h="9525">
                <a:moveTo>
                  <a:pt x="0" y="0"/>
                </a:moveTo>
                <a:lnTo>
                  <a:pt x="62198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5" name="base_xaxis_a">
            <a:extLst>
              <a:ext uri="{FF2B5EF4-FFF2-40B4-BE49-F238E27FC236}">
                <a16:creationId xmlns:a16="http://schemas.microsoft.com/office/drawing/2014/main" id="{B33796C2-CEA9-418C-831E-FA4893518024}"/>
              </a:ext>
            </a:extLst>
          </p:cNvPr>
          <p:cNvSpPr>
            <a:spLocks noGrp="1"/>
          </p:cNvSpPr>
          <p:nvPr/>
        </p:nvSpPr>
        <p:spPr>
          <a:xfrm>
            <a:off x="6976767" y="5334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6" name="base_xaxis_b">
            <a:extLst>
              <a:ext uri="{FF2B5EF4-FFF2-40B4-BE49-F238E27FC236}">
                <a16:creationId xmlns:a16="http://schemas.microsoft.com/office/drawing/2014/main" id="{26691277-1030-4C77-BFB4-53213BF0458E}"/>
              </a:ext>
            </a:extLst>
          </p:cNvPr>
          <p:cNvSpPr>
            <a:spLocks noGrp="1"/>
          </p:cNvSpPr>
          <p:nvPr/>
        </p:nvSpPr>
        <p:spPr>
          <a:xfrm>
            <a:off x="6976767" y="5279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" name="base_xtick1">
            <a:extLst>
              <a:ext uri="{FF2B5EF4-FFF2-40B4-BE49-F238E27FC236}">
                <a16:creationId xmlns:a16="http://schemas.microsoft.com/office/drawing/2014/main" id="{A3E1DFAE-1BCC-44F5-B098-9BCABF448256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" name="base_xlabel1">
            <a:extLst>
              <a:ext uri="{FF2B5EF4-FFF2-40B4-BE49-F238E27FC236}">
                <a16:creationId xmlns:a16="http://schemas.microsoft.com/office/drawing/2014/main" id="{877968B1-33BF-46EE-8AA2-2ED0AE89FB18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ase_xtick2">
            <a:extLst>
              <a:ext uri="{FF2B5EF4-FFF2-40B4-BE49-F238E27FC236}">
                <a16:creationId xmlns:a16="http://schemas.microsoft.com/office/drawing/2014/main" id="{3D682090-3351-4A66-9C72-279A05E6E620}"/>
              </a:ext>
            </a:extLst>
          </p:cNvPr>
          <p:cNvSpPr>
            <a:spLocks noGrp="1"/>
          </p:cNvSpPr>
          <p:nvPr/>
        </p:nvSpPr>
        <p:spPr>
          <a:xfrm>
            <a:off x="190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0" name="base_xlabel2">
            <a:extLst>
              <a:ext uri="{FF2B5EF4-FFF2-40B4-BE49-F238E27FC236}">
                <a16:creationId xmlns:a16="http://schemas.microsoft.com/office/drawing/2014/main" id="{33A23C06-A81F-4019-A074-9C320E79BEEB}"/>
              </a:ext>
            </a:extLst>
          </p:cNvPr>
          <p:cNvSpPr>
            <a:spLocks noGrp="1"/>
          </p:cNvSpPr>
          <p:nvPr/>
        </p:nvSpPr>
        <p:spPr>
          <a:xfrm>
            <a:off x="180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base_xtick3">
            <a:extLst>
              <a:ext uri="{FF2B5EF4-FFF2-40B4-BE49-F238E27FC236}">
                <a16:creationId xmlns:a16="http://schemas.microsoft.com/office/drawing/2014/main" id="{38CA0AA7-FF43-4192-88F9-00F0F9B94E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2" name="base_xlabel3">
            <a:extLst>
              <a:ext uri="{FF2B5EF4-FFF2-40B4-BE49-F238E27FC236}">
                <a16:creationId xmlns:a16="http://schemas.microsoft.com/office/drawing/2014/main" id="{CDC32574-D8F7-40B5-BB71-6B4CB317FC22}"/>
              </a:ext>
            </a:extLst>
          </p:cNvPr>
          <p:cNvSpPr>
            <a:spLocks noGrp="1"/>
          </p:cNvSpPr>
          <p:nvPr/>
        </p:nvSpPr>
        <p:spPr>
          <a:xfrm>
            <a:off x="276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base_xtick4">
            <a:extLst>
              <a:ext uri="{FF2B5EF4-FFF2-40B4-BE49-F238E27FC236}">
                <a16:creationId xmlns:a16="http://schemas.microsoft.com/office/drawing/2014/main" id="{06AFBD2F-E810-44E9-95F5-97C62B0B0C34}"/>
              </a:ext>
            </a:extLst>
          </p:cNvPr>
          <p:cNvSpPr>
            <a:spLocks noGrp="1"/>
          </p:cNvSpPr>
          <p:nvPr/>
        </p:nvSpPr>
        <p:spPr>
          <a:xfrm>
            <a:off x="3810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4" name="base_xlabel4">
            <a:extLst>
              <a:ext uri="{FF2B5EF4-FFF2-40B4-BE49-F238E27FC236}">
                <a16:creationId xmlns:a16="http://schemas.microsoft.com/office/drawing/2014/main" id="{D0AE09C2-DFB1-4EC6-8C76-E6F2068827B7}"/>
              </a:ext>
            </a:extLst>
          </p:cNvPr>
          <p:cNvSpPr>
            <a:spLocks noGrp="1"/>
          </p:cNvSpPr>
          <p:nvPr/>
        </p:nvSpPr>
        <p:spPr>
          <a:xfrm>
            <a:off x="3714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base_xtick5">
            <a:extLst>
              <a:ext uri="{FF2B5EF4-FFF2-40B4-BE49-F238E27FC236}">
                <a16:creationId xmlns:a16="http://schemas.microsoft.com/office/drawing/2014/main" id="{1D03F92F-6397-4EA7-852B-73ED889336E9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6" name="base_xlabel5">
            <a:extLst>
              <a:ext uri="{FF2B5EF4-FFF2-40B4-BE49-F238E27FC236}">
                <a16:creationId xmlns:a16="http://schemas.microsoft.com/office/drawing/2014/main" id="{1B5ED73E-3BB1-4C40-B798-B7F6172E5CD7}"/>
              </a:ext>
            </a:extLst>
          </p:cNvPr>
          <p:cNvSpPr>
            <a:spLocks noGrp="1"/>
          </p:cNvSpPr>
          <p:nvPr/>
        </p:nvSpPr>
        <p:spPr>
          <a:xfrm>
            <a:off x="466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base_xtick6">
            <a:extLst>
              <a:ext uri="{FF2B5EF4-FFF2-40B4-BE49-F238E27FC236}">
                <a16:creationId xmlns:a16="http://schemas.microsoft.com/office/drawing/2014/main" id="{6E9A434B-F8FF-4C9F-81DE-41CE6A8F1F07}"/>
              </a:ext>
            </a:extLst>
          </p:cNvPr>
          <p:cNvSpPr>
            <a:spLocks noGrp="1"/>
          </p:cNvSpPr>
          <p:nvPr/>
        </p:nvSpPr>
        <p:spPr>
          <a:xfrm>
            <a:off x="571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8" name="base_xlabel6">
            <a:extLst>
              <a:ext uri="{FF2B5EF4-FFF2-40B4-BE49-F238E27FC236}">
                <a16:creationId xmlns:a16="http://schemas.microsoft.com/office/drawing/2014/main" id="{C099CD6A-3961-4EA4-B577-DF7DCAC38DCD}"/>
              </a:ext>
            </a:extLst>
          </p:cNvPr>
          <p:cNvSpPr>
            <a:spLocks noGrp="1"/>
          </p:cNvSpPr>
          <p:nvPr/>
        </p:nvSpPr>
        <p:spPr>
          <a:xfrm>
            <a:off x="561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base_xtick7">
            <a:extLst>
              <a:ext uri="{FF2B5EF4-FFF2-40B4-BE49-F238E27FC236}">
                <a16:creationId xmlns:a16="http://schemas.microsoft.com/office/drawing/2014/main" id="{74C943FB-4AFE-4EFC-85F8-AD1864DA854E}"/>
              </a:ext>
            </a:extLst>
          </p:cNvPr>
          <p:cNvSpPr>
            <a:spLocks noGrp="1"/>
          </p:cNvSpPr>
          <p:nvPr/>
        </p:nvSpPr>
        <p:spPr>
          <a:xfrm>
            <a:off x="666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0" name="base_xlabel7">
            <a:extLst>
              <a:ext uri="{FF2B5EF4-FFF2-40B4-BE49-F238E27FC236}">
                <a16:creationId xmlns:a16="http://schemas.microsoft.com/office/drawing/2014/main" id="{DBCC91AA-28A5-43E5-9425-3BCE821D96A8}"/>
              </a:ext>
            </a:extLst>
          </p:cNvPr>
          <p:cNvSpPr>
            <a:spLocks noGrp="1"/>
          </p:cNvSpPr>
          <p:nvPr/>
        </p:nvSpPr>
        <p:spPr>
          <a:xfrm>
            <a:off x="657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base_xname">
            <a:extLst>
              <a:ext uri="{FF2B5EF4-FFF2-40B4-BE49-F238E27FC236}">
                <a16:creationId xmlns:a16="http://schemas.microsoft.com/office/drawing/2014/main" id="{FD316D85-C1B9-4325-A4DE-3434570877B9}"/>
              </a:ext>
            </a:extLst>
          </p:cNvPr>
          <p:cNvSpPr>
            <a:spLocks noGrp="1"/>
          </p:cNvSpPr>
          <p:nvPr/>
        </p:nvSpPr>
        <p:spPr>
          <a:xfrm>
            <a:off x="6143625" y="5695950"/>
            <a:ext cx="128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参数 w</a:t>
            </a:r>
          </a:p>
        </p:txBody>
      </p:sp>
      <p:sp>
        <p:nvSpPr>
          <p:cNvPr id="22" name="base_yaxis">
            <a:extLst>
              <a:ext uri="{FF2B5EF4-FFF2-40B4-BE49-F238E27FC236}">
                <a16:creationId xmlns:a16="http://schemas.microsoft.com/office/drawing/2014/main" id="{4147AF32-C488-4748-B647-0E0E22D50B24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9525" cy="3228975"/>
          </a:xfrm>
          <a:custGeom>
            <a:avLst/>
            <a:gdLst/>
            <a:ahLst/>
            <a:cxnLst/>
            <a:rect l="0" t="0" r="0" b="0"/>
            <a:pathLst>
              <a:path w="9525" h="3228975">
                <a:moveTo>
                  <a:pt x="0" y="32289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3" name="base_yaxis_a">
            <a:extLst>
              <a:ext uri="{FF2B5EF4-FFF2-40B4-BE49-F238E27FC236}">
                <a16:creationId xmlns:a16="http://schemas.microsoft.com/office/drawing/2014/main" id="{58DFF2A8-AB1D-461C-8AEF-30CC32827C30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4" name="base_yaxis_b">
            <a:extLst>
              <a:ext uri="{FF2B5EF4-FFF2-40B4-BE49-F238E27FC236}">
                <a16:creationId xmlns:a16="http://schemas.microsoft.com/office/drawing/2014/main" id="{6E860C5F-2C04-4888-8EB0-759BA7E0DCC5}"/>
              </a:ext>
            </a:extLst>
          </p:cNvPr>
          <p:cNvSpPr>
            <a:spLocks noGrp="1"/>
          </p:cNvSpPr>
          <p:nvPr/>
        </p:nvSpPr>
        <p:spPr>
          <a:xfrm>
            <a:off x="897702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5" name="base_ytick0">
            <a:extLst>
              <a:ext uri="{FF2B5EF4-FFF2-40B4-BE49-F238E27FC236}">
                <a16:creationId xmlns:a16="http://schemas.microsoft.com/office/drawing/2014/main" id="{2430A26C-086A-4BD4-BC4F-BCF39B781E7F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6" name="base_ylabel0">
            <a:extLst>
              <a:ext uri="{FF2B5EF4-FFF2-40B4-BE49-F238E27FC236}">
                <a16:creationId xmlns:a16="http://schemas.microsoft.com/office/drawing/2014/main" id="{BA2EEE39-AB44-4CCE-8F86-D8655C7610CC}"/>
              </a:ext>
            </a:extLst>
          </p:cNvPr>
          <p:cNvSpPr>
            <a:spLocks noGrp="1"/>
          </p:cNvSpPr>
          <p:nvPr/>
        </p:nvSpPr>
        <p:spPr>
          <a:xfrm>
            <a:off x="533400" y="5200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base_ytick2">
            <a:extLst>
              <a:ext uri="{FF2B5EF4-FFF2-40B4-BE49-F238E27FC236}">
                <a16:creationId xmlns:a16="http://schemas.microsoft.com/office/drawing/2014/main" id="{F8CACADE-058A-4E78-A8BB-80E3E673F9AD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8" name="base_ylabel2">
            <a:extLst>
              <a:ext uri="{FF2B5EF4-FFF2-40B4-BE49-F238E27FC236}">
                <a16:creationId xmlns:a16="http://schemas.microsoft.com/office/drawing/2014/main" id="{05A7A509-9A6C-431A-90B4-94A265F0C283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base_ytick4">
            <a:extLst>
              <a:ext uri="{FF2B5EF4-FFF2-40B4-BE49-F238E27FC236}">
                <a16:creationId xmlns:a16="http://schemas.microsoft.com/office/drawing/2014/main" id="{52951193-443F-45CA-BE9E-ACBB1712F205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0" name="base_ylabel4">
            <a:extLst>
              <a:ext uri="{FF2B5EF4-FFF2-40B4-BE49-F238E27FC236}">
                <a16:creationId xmlns:a16="http://schemas.microsoft.com/office/drawing/2014/main" id="{15236098-6AF0-4E7A-884A-7BD124060700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base_ytick6">
            <a:extLst>
              <a:ext uri="{FF2B5EF4-FFF2-40B4-BE49-F238E27FC236}">
                <a16:creationId xmlns:a16="http://schemas.microsoft.com/office/drawing/2014/main" id="{A95064DC-D735-4840-B889-EFF8CF6DD684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2" name="base_ylabel6">
            <a:extLst>
              <a:ext uri="{FF2B5EF4-FFF2-40B4-BE49-F238E27FC236}">
                <a16:creationId xmlns:a16="http://schemas.microsoft.com/office/drawing/2014/main" id="{4181A63A-0A45-4B55-B40A-BF4660808BFA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base_ytick8">
            <a:extLst>
              <a:ext uri="{FF2B5EF4-FFF2-40B4-BE49-F238E27FC236}">
                <a16:creationId xmlns:a16="http://schemas.microsoft.com/office/drawing/2014/main" id="{288D69A1-0F13-421F-A3AE-30E952C6B879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4" name="base_ylabel8">
            <a:extLst>
              <a:ext uri="{FF2B5EF4-FFF2-40B4-BE49-F238E27FC236}">
                <a16:creationId xmlns:a16="http://schemas.microsoft.com/office/drawing/2014/main" id="{E8C5D68D-18A7-4ED3-AF07-40C69508BC0A}"/>
              </a:ext>
            </a:extLst>
          </p:cNvPr>
          <p:cNvSpPr>
            <a:spLocks noGrp="1"/>
          </p:cNvSpPr>
          <p:nvPr/>
        </p:nvSpPr>
        <p:spPr>
          <a:xfrm>
            <a:off x="533400" y="2914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base_ytick10">
            <a:extLst>
              <a:ext uri="{FF2B5EF4-FFF2-40B4-BE49-F238E27FC236}">
                <a16:creationId xmlns:a16="http://schemas.microsoft.com/office/drawing/2014/main" id="{941913FA-BAFF-4A94-A60F-8ACF720DCAA5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6" name="base_ylabel10">
            <a:extLst>
              <a:ext uri="{FF2B5EF4-FFF2-40B4-BE49-F238E27FC236}">
                <a16:creationId xmlns:a16="http://schemas.microsoft.com/office/drawing/2014/main" id="{E87A4D81-4999-4AEE-BE3D-2AA7363D71F9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7" name="base_yname">
            <a:extLst>
              <a:ext uri="{FF2B5EF4-FFF2-40B4-BE49-F238E27FC236}">
                <a16:creationId xmlns:a16="http://schemas.microsoft.com/office/drawing/2014/main" id="{2944C390-E6D5-4D26-B34F-C55EE9100BD1}"/>
              </a:ext>
            </a:extLst>
          </p:cNvPr>
          <p:cNvSpPr>
            <a:spLocks noGrp="1"/>
          </p:cNvSpPr>
          <p:nvPr/>
        </p:nvSpPr>
        <p:spPr>
          <a:xfrm>
            <a:off x="571500" y="1771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 L</a:t>
            </a:r>
          </a:p>
        </p:txBody>
      </p:sp>
      <p:sp>
        <p:nvSpPr>
          <p:cNvPr id="38" name="base_curve">
            <a:extLst>
              <a:ext uri="{FF2B5EF4-FFF2-40B4-BE49-F238E27FC236}">
                <a16:creationId xmlns:a16="http://schemas.microsoft.com/office/drawing/2014/main" id="{7F241E4E-A5F7-47BA-BE17-29DBB11F8A59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5715000" cy="2571750"/>
          </a:xfrm>
          <a:custGeom>
            <a:avLst/>
            <a:gdLst/>
            <a:ahLst/>
            <a:cxnLst/>
            <a:rect l="0" t="0" r="0" b="0"/>
            <a:pathLst>
              <a:path w="5715000" h="2571750">
                <a:moveTo>
                  <a:pt x="0" y="0"/>
                </a:moveTo>
                <a:lnTo>
                  <a:pt x="47625" y="85011"/>
                </a:lnTo>
                <a:lnTo>
                  <a:pt x="95250" y="168592"/>
                </a:lnTo>
                <a:lnTo>
                  <a:pt x="142875" y="250746"/>
                </a:lnTo>
                <a:lnTo>
                  <a:pt x="190500" y="331470"/>
                </a:lnTo>
                <a:lnTo>
                  <a:pt x="238125" y="410766"/>
                </a:lnTo>
                <a:lnTo>
                  <a:pt x="285750" y="488632"/>
                </a:lnTo>
                <a:lnTo>
                  <a:pt x="333375" y="565071"/>
                </a:lnTo>
                <a:lnTo>
                  <a:pt x="381000" y="640080"/>
                </a:lnTo>
                <a:lnTo>
                  <a:pt x="428625" y="713661"/>
                </a:lnTo>
                <a:lnTo>
                  <a:pt x="476250" y="785813"/>
                </a:lnTo>
                <a:lnTo>
                  <a:pt x="523875" y="856536"/>
                </a:lnTo>
                <a:lnTo>
                  <a:pt x="571500" y="925830"/>
                </a:lnTo>
                <a:lnTo>
                  <a:pt x="619125" y="993696"/>
                </a:lnTo>
                <a:lnTo>
                  <a:pt x="666750" y="1060133"/>
                </a:lnTo>
                <a:lnTo>
                  <a:pt x="714375" y="1125141"/>
                </a:lnTo>
                <a:lnTo>
                  <a:pt x="762000" y="1188720"/>
                </a:lnTo>
                <a:lnTo>
                  <a:pt x="809625" y="1250871"/>
                </a:lnTo>
                <a:lnTo>
                  <a:pt x="857250" y="1311593"/>
                </a:lnTo>
                <a:lnTo>
                  <a:pt x="904875" y="1370886"/>
                </a:lnTo>
                <a:lnTo>
                  <a:pt x="952500" y="1428750"/>
                </a:lnTo>
                <a:lnTo>
                  <a:pt x="1000125" y="1485186"/>
                </a:lnTo>
                <a:lnTo>
                  <a:pt x="1047750" y="1540193"/>
                </a:lnTo>
                <a:lnTo>
                  <a:pt x="1095375" y="1593771"/>
                </a:lnTo>
                <a:lnTo>
                  <a:pt x="1143000" y="1645920"/>
                </a:lnTo>
                <a:lnTo>
                  <a:pt x="1190625" y="1696641"/>
                </a:lnTo>
                <a:lnTo>
                  <a:pt x="1238250" y="1745932"/>
                </a:lnTo>
                <a:lnTo>
                  <a:pt x="1285875" y="1793796"/>
                </a:lnTo>
                <a:lnTo>
                  <a:pt x="1333500" y="1840230"/>
                </a:lnTo>
                <a:lnTo>
                  <a:pt x="1381125" y="1885236"/>
                </a:lnTo>
                <a:lnTo>
                  <a:pt x="1428750" y="1928813"/>
                </a:lnTo>
                <a:lnTo>
                  <a:pt x="1476375" y="1970961"/>
                </a:lnTo>
                <a:lnTo>
                  <a:pt x="1524000" y="2011680"/>
                </a:lnTo>
                <a:lnTo>
                  <a:pt x="1571625" y="2050971"/>
                </a:lnTo>
                <a:lnTo>
                  <a:pt x="1619250" y="2088833"/>
                </a:lnTo>
                <a:lnTo>
                  <a:pt x="1666875" y="2125266"/>
                </a:lnTo>
                <a:lnTo>
                  <a:pt x="1714500" y="2160270"/>
                </a:lnTo>
                <a:lnTo>
                  <a:pt x="1762125" y="2193846"/>
                </a:lnTo>
                <a:lnTo>
                  <a:pt x="1809750" y="2225993"/>
                </a:lnTo>
                <a:lnTo>
                  <a:pt x="1857375" y="2256711"/>
                </a:lnTo>
                <a:lnTo>
                  <a:pt x="1905000" y="2286000"/>
                </a:lnTo>
                <a:lnTo>
                  <a:pt x="1952625" y="2313861"/>
                </a:lnTo>
                <a:lnTo>
                  <a:pt x="2000250" y="2340293"/>
                </a:lnTo>
                <a:lnTo>
                  <a:pt x="2047875" y="2365296"/>
                </a:lnTo>
                <a:lnTo>
                  <a:pt x="2095500" y="2388870"/>
                </a:lnTo>
                <a:lnTo>
                  <a:pt x="2143125" y="2411016"/>
                </a:lnTo>
                <a:lnTo>
                  <a:pt x="2190750" y="2431732"/>
                </a:lnTo>
                <a:lnTo>
                  <a:pt x="2238375" y="2451021"/>
                </a:lnTo>
                <a:lnTo>
                  <a:pt x="2286000" y="2468880"/>
                </a:lnTo>
                <a:lnTo>
                  <a:pt x="2333625" y="2485311"/>
                </a:lnTo>
                <a:lnTo>
                  <a:pt x="2381250" y="2500313"/>
                </a:lnTo>
                <a:lnTo>
                  <a:pt x="2428875" y="2513886"/>
                </a:lnTo>
                <a:lnTo>
                  <a:pt x="2476500" y="2526030"/>
                </a:lnTo>
                <a:lnTo>
                  <a:pt x="2524125" y="2536746"/>
                </a:lnTo>
                <a:lnTo>
                  <a:pt x="2571750" y="2546032"/>
                </a:lnTo>
                <a:lnTo>
                  <a:pt x="2619375" y="2553891"/>
                </a:lnTo>
                <a:lnTo>
                  <a:pt x="2667000" y="2560320"/>
                </a:lnTo>
                <a:lnTo>
                  <a:pt x="2714625" y="2565321"/>
                </a:lnTo>
                <a:lnTo>
                  <a:pt x="2762250" y="2568893"/>
                </a:lnTo>
                <a:lnTo>
                  <a:pt x="2809875" y="2571036"/>
                </a:lnTo>
                <a:lnTo>
                  <a:pt x="2857500" y="2571750"/>
                </a:lnTo>
                <a:lnTo>
                  <a:pt x="2905125" y="2571036"/>
                </a:lnTo>
                <a:lnTo>
                  <a:pt x="2952750" y="2568893"/>
                </a:lnTo>
                <a:lnTo>
                  <a:pt x="3000375" y="2565321"/>
                </a:lnTo>
                <a:lnTo>
                  <a:pt x="3048000" y="2560320"/>
                </a:lnTo>
                <a:lnTo>
                  <a:pt x="3095625" y="2553891"/>
                </a:lnTo>
                <a:lnTo>
                  <a:pt x="3143250" y="2546032"/>
                </a:lnTo>
                <a:lnTo>
                  <a:pt x="3190875" y="2536746"/>
                </a:lnTo>
                <a:lnTo>
                  <a:pt x="3238500" y="2526030"/>
                </a:lnTo>
                <a:lnTo>
                  <a:pt x="3286125" y="2513886"/>
                </a:lnTo>
                <a:lnTo>
                  <a:pt x="3333750" y="2500313"/>
                </a:lnTo>
                <a:lnTo>
                  <a:pt x="3381375" y="2485311"/>
                </a:lnTo>
                <a:lnTo>
                  <a:pt x="3429000" y="2468880"/>
                </a:lnTo>
                <a:lnTo>
                  <a:pt x="3476625" y="2451021"/>
                </a:lnTo>
                <a:lnTo>
                  <a:pt x="3524250" y="2431732"/>
                </a:lnTo>
                <a:lnTo>
                  <a:pt x="3571875" y="2411016"/>
                </a:lnTo>
                <a:lnTo>
                  <a:pt x="3619500" y="2388870"/>
                </a:lnTo>
                <a:lnTo>
                  <a:pt x="3667125" y="2365296"/>
                </a:lnTo>
                <a:lnTo>
                  <a:pt x="3714750" y="2340292"/>
                </a:lnTo>
                <a:lnTo>
                  <a:pt x="3762375" y="2313861"/>
                </a:lnTo>
                <a:lnTo>
                  <a:pt x="3810000" y="2286000"/>
                </a:lnTo>
                <a:lnTo>
                  <a:pt x="3857625" y="2256711"/>
                </a:lnTo>
                <a:lnTo>
                  <a:pt x="3905250" y="2225992"/>
                </a:lnTo>
                <a:lnTo>
                  <a:pt x="3952875" y="2193846"/>
                </a:lnTo>
                <a:lnTo>
                  <a:pt x="4000500" y="2160270"/>
                </a:lnTo>
                <a:lnTo>
                  <a:pt x="4048125" y="2125266"/>
                </a:lnTo>
                <a:lnTo>
                  <a:pt x="4095750" y="2088833"/>
                </a:lnTo>
                <a:lnTo>
                  <a:pt x="4143375" y="2050971"/>
                </a:lnTo>
                <a:lnTo>
                  <a:pt x="4191000" y="2011680"/>
                </a:lnTo>
                <a:lnTo>
                  <a:pt x="4238625" y="1970961"/>
                </a:lnTo>
                <a:lnTo>
                  <a:pt x="4286250" y="1928813"/>
                </a:lnTo>
                <a:lnTo>
                  <a:pt x="4333875" y="1885236"/>
                </a:lnTo>
                <a:lnTo>
                  <a:pt x="4381500" y="1840230"/>
                </a:lnTo>
                <a:lnTo>
                  <a:pt x="4429125" y="1793796"/>
                </a:lnTo>
                <a:lnTo>
                  <a:pt x="4476750" y="1745932"/>
                </a:lnTo>
                <a:lnTo>
                  <a:pt x="4524375" y="1696641"/>
                </a:lnTo>
                <a:lnTo>
                  <a:pt x="4572000" y="1645920"/>
                </a:lnTo>
                <a:lnTo>
                  <a:pt x="4619625" y="1593771"/>
                </a:lnTo>
                <a:lnTo>
                  <a:pt x="4667250" y="1540192"/>
                </a:lnTo>
                <a:lnTo>
                  <a:pt x="4714875" y="1485186"/>
                </a:lnTo>
                <a:lnTo>
                  <a:pt x="4762500" y="1428750"/>
                </a:lnTo>
                <a:lnTo>
                  <a:pt x="4810125" y="1370886"/>
                </a:lnTo>
                <a:lnTo>
                  <a:pt x="4857750" y="1311592"/>
                </a:lnTo>
                <a:lnTo>
                  <a:pt x="4905375" y="1250871"/>
                </a:lnTo>
                <a:lnTo>
                  <a:pt x="4953000" y="1188720"/>
                </a:lnTo>
                <a:lnTo>
                  <a:pt x="5000625" y="1125141"/>
                </a:lnTo>
                <a:lnTo>
                  <a:pt x="5048250" y="1060132"/>
                </a:lnTo>
                <a:lnTo>
                  <a:pt x="5095875" y="993696"/>
                </a:lnTo>
                <a:lnTo>
                  <a:pt x="5143500" y="925830"/>
                </a:lnTo>
                <a:lnTo>
                  <a:pt x="5191125" y="856536"/>
                </a:lnTo>
                <a:lnTo>
                  <a:pt x="5238750" y="785813"/>
                </a:lnTo>
                <a:lnTo>
                  <a:pt x="5286375" y="713661"/>
                </a:lnTo>
                <a:lnTo>
                  <a:pt x="5334000" y="640080"/>
                </a:lnTo>
                <a:lnTo>
                  <a:pt x="5381625" y="565071"/>
                </a:lnTo>
                <a:lnTo>
                  <a:pt x="5429250" y="488632"/>
                </a:lnTo>
                <a:lnTo>
                  <a:pt x="5476875" y="410766"/>
                </a:lnTo>
                <a:lnTo>
                  <a:pt x="5524500" y="331470"/>
                </a:lnTo>
                <a:lnTo>
                  <a:pt x="5572125" y="250746"/>
                </a:lnTo>
                <a:lnTo>
                  <a:pt x="5619750" y="168592"/>
                </a:lnTo>
                <a:lnTo>
                  <a:pt x="5667375" y="85011"/>
                </a:lnTo>
                <a:lnTo>
                  <a:pt x="5715000" y="0"/>
                </a:lnTo>
              </a:path>
            </a:pathLst>
          </a:custGeom>
          <a:noFill/>
          <a:ln w="30480">
            <a:solidFill>
              <a:srgbClr val="202938"/>
            </a:solidFill>
            <a:prstDash val="solid"/>
          </a:ln>
        </p:spPr>
      </p:sp>
      <p:sp>
        <p:nvSpPr>
          <p:cNvPr id="39" name="base_point">
            <a:extLst>
              <a:ext uri="{FF2B5EF4-FFF2-40B4-BE49-F238E27FC236}">
                <a16:creationId xmlns:a16="http://schemas.microsoft.com/office/drawing/2014/main" id="{A7A5C91D-E6BE-445B-B429-30FBB073ED48}"/>
              </a:ext>
            </a:extLst>
          </p:cNvPr>
          <p:cNvSpPr>
            <a:spLocks noGrp="1"/>
          </p:cNvSpPr>
          <p:nvPr/>
        </p:nvSpPr>
        <p:spPr>
          <a:xfrm>
            <a:off x="5648325" y="4124325"/>
            <a:ext cx="133350" cy="13335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657182"/>
            </a:solidFill>
            <a:prstDash val="solid"/>
          </a:ln>
        </p:spPr>
      </p:sp>
      <p:sp>
        <p:nvSpPr>
          <p:cNvPr id="40" name="base_pointLabel">
            <a:extLst>
              <a:ext uri="{FF2B5EF4-FFF2-40B4-BE49-F238E27FC236}">
                <a16:creationId xmlns:a16="http://schemas.microsoft.com/office/drawing/2014/main" id="{2D67A2B5-831E-43B7-8436-C9A08DA43857}"/>
              </a:ext>
            </a:extLst>
          </p:cNvPr>
          <p:cNvSpPr>
            <a:spLocks noGrp="1"/>
          </p:cNvSpPr>
          <p:nvPr/>
        </p:nvSpPr>
        <p:spPr>
          <a:xfrm>
            <a:off x="5048250" y="370522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(6, 4)</a:t>
            </a:r>
          </a:p>
        </p:txBody>
      </p:sp>
      <p:sp>
        <p:nvSpPr>
          <p:cNvPr id="41" name="C1_rule">
            <a:extLst>
              <a:ext uri="{FF2B5EF4-FFF2-40B4-BE49-F238E27FC236}">
                <a16:creationId xmlns:a16="http://schemas.microsoft.com/office/drawing/2014/main" id="{EC24B157-47E2-49A9-A6F2-23A54B127B46}"/>
              </a:ext>
            </a:extLst>
          </p:cNvPr>
          <p:cNvSpPr>
            <a:spLocks noGrp="1"/>
          </p:cNvSpPr>
          <p:nvPr/>
        </p:nvSpPr>
        <p:spPr>
          <a:xfrm>
            <a:off x="7210424" y="2328862"/>
            <a:ext cx="5267325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32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新参数</a:t>
            </a:r>
            <a:r>
              <a:rPr sz="2325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2325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旧参数</a:t>
            </a:r>
            <a:r>
              <a:rPr lang="zh-CN" altLang="en-US" sz="2325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− 学习率 </a:t>
            </a:r>
            <a:r>
              <a:rPr lang="en-US" altLang="zh-CN" sz="2325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× </a:t>
            </a:r>
            <a:r>
              <a:rPr lang="zh-CN" altLang="en-US" sz="2325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梯度</a:t>
            </a:r>
          </a:p>
          <a:p>
            <a:pPr>
              <a:defRPr sz="2325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endParaRPr sz="2325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C3_axisMove">
            <a:extLst>
              <a:ext uri="{FF2B5EF4-FFF2-40B4-BE49-F238E27FC236}">
                <a16:creationId xmlns:a16="http://schemas.microsoft.com/office/drawing/2014/main" id="{DE2415B1-FE24-48B7-BF84-F41E3B8B7369}"/>
              </a:ext>
            </a:extLst>
          </p:cNvPr>
          <p:cNvSpPr>
            <a:spLocks noGrp="1"/>
          </p:cNvSpPr>
          <p:nvPr/>
        </p:nvSpPr>
        <p:spPr>
          <a:xfrm>
            <a:off x="4762500" y="5248275"/>
            <a:ext cx="952500" cy="9525"/>
          </a:xfrm>
          <a:custGeom>
            <a:avLst/>
            <a:gdLst/>
            <a:ahLst/>
            <a:cxnLst/>
            <a:rect l="0" t="0" r="0" b="0"/>
            <a:pathLst>
              <a:path w="952500" h="952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6" name="C3_axisMove_a">
            <a:extLst>
              <a:ext uri="{FF2B5EF4-FFF2-40B4-BE49-F238E27FC236}">
                <a16:creationId xmlns:a16="http://schemas.microsoft.com/office/drawing/2014/main" id="{2EFB4C38-ECC1-4626-951B-1802B48031D0}"/>
              </a:ext>
            </a:extLst>
          </p:cNvPr>
          <p:cNvSpPr>
            <a:spLocks noGrp="1"/>
          </p:cNvSpPr>
          <p:nvPr/>
        </p:nvSpPr>
        <p:spPr>
          <a:xfrm>
            <a:off x="4762500" y="51934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7" name="C3_axisMove_b">
            <a:extLst>
              <a:ext uri="{FF2B5EF4-FFF2-40B4-BE49-F238E27FC236}">
                <a16:creationId xmlns:a16="http://schemas.microsoft.com/office/drawing/2014/main" id="{588A5069-5B82-42F9-AB95-99EA60FEFDD8}"/>
              </a:ext>
            </a:extLst>
          </p:cNvPr>
          <p:cNvSpPr>
            <a:spLocks noGrp="1"/>
          </p:cNvSpPr>
          <p:nvPr/>
        </p:nvSpPr>
        <p:spPr>
          <a:xfrm>
            <a:off x="4762500" y="52482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8" name="C3_point">
            <a:extLst>
              <a:ext uri="{FF2B5EF4-FFF2-40B4-BE49-F238E27FC236}">
                <a16:creationId xmlns:a16="http://schemas.microsoft.com/office/drawing/2014/main" id="{3ADBEDF5-1215-482C-A046-D7A6A9D6519D}"/>
              </a:ext>
            </a:extLst>
          </p:cNvPr>
          <p:cNvSpPr>
            <a:spLocks noGrp="1"/>
          </p:cNvSpPr>
          <p:nvPr/>
        </p:nvSpPr>
        <p:spPr>
          <a:xfrm>
            <a:off x="4695825" y="49815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9" name="C3_pointLabel">
            <a:extLst>
              <a:ext uri="{FF2B5EF4-FFF2-40B4-BE49-F238E27FC236}">
                <a16:creationId xmlns:a16="http://schemas.microsoft.com/office/drawing/2014/main" id="{72347E52-9604-4E0E-AC9D-1F12C35CE080}"/>
              </a:ext>
            </a:extLst>
          </p:cNvPr>
          <p:cNvSpPr>
            <a:spLocks noGrp="1"/>
          </p:cNvSpPr>
          <p:nvPr/>
        </p:nvSpPr>
        <p:spPr>
          <a:xfrm>
            <a:off x="4095750" y="456247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(5, 1)</a:t>
            </a:r>
          </a:p>
        </p:txBody>
      </p:sp>
      <p:sp>
        <p:nvSpPr>
          <p:cNvPr id="50" name="C3_compute">
            <a:extLst>
              <a:ext uri="{FF2B5EF4-FFF2-40B4-BE49-F238E27FC236}">
                <a16:creationId xmlns:a16="http://schemas.microsoft.com/office/drawing/2014/main" id="{E9D2DD66-83DF-4B7B-AE56-49CDA75462D2}"/>
              </a:ext>
            </a:extLst>
          </p:cNvPr>
          <p:cNvSpPr>
            <a:spLocks noGrp="1"/>
          </p:cNvSpPr>
          <p:nvPr/>
        </p:nvSpPr>
        <p:spPr>
          <a:xfrm>
            <a:off x="7629525" y="3529012"/>
            <a:ext cx="4000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6 − 0.25 × 4 = 5</a:t>
            </a:r>
          </a:p>
        </p:txBody>
      </p:sp>
      <p:sp>
        <p:nvSpPr>
          <p:cNvPr id="51" name="C4_loss">
            <a:extLst>
              <a:ext uri="{FF2B5EF4-FFF2-40B4-BE49-F238E27FC236}">
                <a16:creationId xmlns:a16="http://schemas.microsoft.com/office/drawing/2014/main" id="{9882D515-1E73-45AC-9762-F896191BB784}"/>
              </a:ext>
            </a:extLst>
          </p:cNvPr>
          <p:cNvSpPr>
            <a:spLocks noGrp="1"/>
          </p:cNvSpPr>
          <p:nvPr/>
        </p:nvSpPr>
        <p:spPr>
          <a:xfrm>
            <a:off x="7629525" y="4005262"/>
            <a:ext cx="3952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Loss：4 降到 1</a:t>
            </a:r>
          </a:p>
        </p:txBody>
      </p:sp>
      <p:sp>
        <p:nvSpPr>
          <p:cNvPr id="52" name="C4_conclusion">
            <a:extLst>
              <a:ext uri="{FF2B5EF4-FFF2-40B4-BE49-F238E27FC236}">
                <a16:creationId xmlns:a16="http://schemas.microsoft.com/office/drawing/2014/main" id="{FAFFBF50-51E0-4530-965E-9BA7695814A7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走到新位置后，需要重新计算梯度</a:t>
            </a:r>
          </a:p>
        </p:txBody>
      </p:sp>
    </p:spTree>
    <p:extLst>
      <p:ext uri="{BB962C8B-B14F-4D97-AF65-F5344CB8AC3E}">
        <p14:creationId xmlns:p14="http://schemas.microsoft.com/office/powerpoint/2010/main" val="181630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9" grpId="0"/>
      <p:bldP spid="50" grpId="0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">
            <a:extLst>
              <a:ext uri="{FF2B5EF4-FFF2-40B4-BE49-F238E27FC236}">
                <a16:creationId xmlns:a16="http://schemas.microsoft.com/office/drawing/2014/main" id="{E4D59635-AE33-45B5-AA37-1314930B51F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换一个起点，参数怎么改？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C43A2506-DBC3-4A39-9257-585879DF7C92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A0F946F-7205-4D29-A659-4B9B85555DD5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如果改从 w = 2 出发？</a:t>
            </a:r>
          </a:p>
        </p:txBody>
      </p:sp>
      <p:sp>
        <p:nvSpPr>
          <p:cNvPr id="4" name="base_xaxis">
            <a:extLst>
              <a:ext uri="{FF2B5EF4-FFF2-40B4-BE49-F238E27FC236}">
                <a16:creationId xmlns:a16="http://schemas.microsoft.com/office/drawing/2014/main" id="{AACC1EB4-CA5A-4E7D-A39A-05CBD4591280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6219825" cy="9525"/>
          </a:xfrm>
          <a:custGeom>
            <a:avLst/>
            <a:gdLst/>
            <a:ahLst/>
            <a:cxnLst/>
            <a:rect l="0" t="0" r="0" b="0"/>
            <a:pathLst>
              <a:path w="6219825" h="9525">
                <a:moveTo>
                  <a:pt x="0" y="0"/>
                </a:moveTo>
                <a:lnTo>
                  <a:pt x="62198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5" name="base_xaxis_a">
            <a:extLst>
              <a:ext uri="{FF2B5EF4-FFF2-40B4-BE49-F238E27FC236}">
                <a16:creationId xmlns:a16="http://schemas.microsoft.com/office/drawing/2014/main" id="{286B6E66-53F0-40DA-9D09-9EFE094E24E2}"/>
              </a:ext>
            </a:extLst>
          </p:cNvPr>
          <p:cNvSpPr>
            <a:spLocks noGrp="1"/>
          </p:cNvSpPr>
          <p:nvPr/>
        </p:nvSpPr>
        <p:spPr>
          <a:xfrm>
            <a:off x="6976767" y="5334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6" name="base_xaxis_b">
            <a:extLst>
              <a:ext uri="{FF2B5EF4-FFF2-40B4-BE49-F238E27FC236}">
                <a16:creationId xmlns:a16="http://schemas.microsoft.com/office/drawing/2014/main" id="{1D4C2309-52C4-4CF5-9391-23E9F62F8C8F}"/>
              </a:ext>
            </a:extLst>
          </p:cNvPr>
          <p:cNvSpPr>
            <a:spLocks noGrp="1"/>
          </p:cNvSpPr>
          <p:nvPr/>
        </p:nvSpPr>
        <p:spPr>
          <a:xfrm>
            <a:off x="6976767" y="5279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" name="base_xtick1">
            <a:extLst>
              <a:ext uri="{FF2B5EF4-FFF2-40B4-BE49-F238E27FC236}">
                <a16:creationId xmlns:a16="http://schemas.microsoft.com/office/drawing/2014/main" id="{AE3B475C-92BA-4EA1-800A-6640AC853647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" name="base_xlabel1">
            <a:extLst>
              <a:ext uri="{FF2B5EF4-FFF2-40B4-BE49-F238E27FC236}">
                <a16:creationId xmlns:a16="http://schemas.microsoft.com/office/drawing/2014/main" id="{5AFA1EDA-03D1-469D-9F38-1F024A0AECDC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ase_xtick2">
            <a:extLst>
              <a:ext uri="{FF2B5EF4-FFF2-40B4-BE49-F238E27FC236}">
                <a16:creationId xmlns:a16="http://schemas.microsoft.com/office/drawing/2014/main" id="{3C1BE375-038B-478E-BAE4-6308250CD222}"/>
              </a:ext>
            </a:extLst>
          </p:cNvPr>
          <p:cNvSpPr>
            <a:spLocks noGrp="1"/>
          </p:cNvSpPr>
          <p:nvPr/>
        </p:nvSpPr>
        <p:spPr>
          <a:xfrm>
            <a:off x="190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0" name="base_xlabel2">
            <a:extLst>
              <a:ext uri="{FF2B5EF4-FFF2-40B4-BE49-F238E27FC236}">
                <a16:creationId xmlns:a16="http://schemas.microsoft.com/office/drawing/2014/main" id="{72D2EB15-40B9-4D7F-B4A5-60ADFFF8488C}"/>
              </a:ext>
            </a:extLst>
          </p:cNvPr>
          <p:cNvSpPr>
            <a:spLocks noGrp="1"/>
          </p:cNvSpPr>
          <p:nvPr/>
        </p:nvSpPr>
        <p:spPr>
          <a:xfrm>
            <a:off x="180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base_xtick3">
            <a:extLst>
              <a:ext uri="{FF2B5EF4-FFF2-40B4-BE49-F238E27FC236}">
                <a16:creationId xmlns:a16="http://schemas.microsoft.com/office/drawing/2014/main" id="{4A0E1FE6-3D47-4B22-80A0-4325B97F6131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2" name="base_xlabel3">
            <a:extLst>
              <a:ext uri="{FF2B5EF4-FFF2-40B4-BE49-F238E27FC236}">
                <a16:creationId xmlns:a16="http://schemas.microsoft.com/office/drawing/2014/main" id="{81451D95-E7D0-45EA-B636-C82B6EEA66D9}"/>
              </a:ext>
            </a:extLst>
          </p:cNvPr>
          <p:cNvSpPr>
            <a:spLocks noGrp="1"/>
          </p:cNvSpPr>
          <p:nvPr/>
        </p:nvSpPr>
        <p:spPr>
          <a:xfrm>
            <a:off x="276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base_xtick4">
            <a:extLst>
              <a:ext uri="{FF2B5EF4-FFF2-40B4-BE49-F238E27FC236}">
                <a16:creationId xmlns:a16="http://schemas.microsoft.com/office/drawing/2014/main" id="{3F3F751C-6394-4ACD-932C-698DD391DC5E}"/>
              </a:ext>
            </a:extLst>
          </p:cNvPr>
          <p:cNvSpPr>
            <a:spLocks noGrp="1"/>
          </p:cNvSpPr>
          <p:nvPr/>
        </p:nvSpPr>
        <p:spPr>
          <a:xfrm>
            <a:off x="3810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4" name="base_xlabel4">
            <a:extLst>
              <a:ext uri="{FF2B5EF4-FFF2-40B4-BE49-F238E27FC236}">
                <a16:creationId xmlns:a16="http://schemas.microsoft.com/office/drawing/2014/main" id="{9BF776AF-BBB8-4609-82FB-4E9C83977768}"/>
              </a:ext>
            </a:extLst>
          </p:cNvPr>
          <p:cNvSpPr>
            <a:spLocks noGrp="1"/>
          </p:cNvSpPr>
          <p:nvPr/>
        </p:nvSpPr>
        <p:spPr>
          <a:xfrm>
            <a:off x="3714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base_xtick5">
            <a:extLst>
              <a:ext uri="{FF2B5EF4-FFF2-40B4-BE49-F238E27FC236}">
                <a16:creationId xmlns:a16="http://schemas.microsoft.com/office/drawing/2014/main" id="{30E18A3D-2A49-4EEF-A923-F73E05A238C9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6" name="base_xlabel5">
            <a:extLst>
              <a:ext uri="{FF2B5EF4-FFF2-40B4-BE49-F238E27FC236}">
                <a16:creationId xmlns:a16="http://schemas.microsoft.com/office/drawing/2014/main" id="{3BD34C6C-8A2C-451B-8379-A9B04C414AE2}"/>
              </a:ext>
            </a:extLst>
          </p:cNvPr>
          <p:cNvSpPr>
            <a:spLocks noGrp="1"/>
          </p:cNvSpPr>
          <p:nvPr/>
        </p:nvSpPr>
        <p:spPr>
          <a:xfrm>
            <a:off x="4667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base_xtick6">
            <a:extLst>
              <a:ext uri="{FF2B5EF4-FFF2-40B4-BE49-F238E27FC236}">
                <a16:creationId xmlns:a16="http://schemas.microsoft.com/office/drawing/2014/main" id="{4141FD8F-E5BC-4EC5-8EDD-DC42B9122DA6}"/>
              </a:ext>
            </a:extLst>
          </p:cNvPr>
          <p:cNvSpPr>
            <a:spLocks noGrp="1"/>
          </p:cNvSpPr>
          <p:nvPr/>
        </p:nvSpPr>
        <p:spPr>
          <a:xfrm>
            <a:off x="57150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8" name="base_xlabel6">
            <a:extLst>
              <a:ext uri="{FF2B5EF4-FFF2-40B4-BE49-F238E27FC236}">
                <a16:creationId xmlns:a16="http://schemas.microsoft.com/office/drawing/2014/main" id="{AD894014-4AD7-4C56-B995-2CABC779A32B}"/>
              </a:ext>
            </a:extLst>
          </p:cNvPr>
          <p:cNvSpPr>
            <a:spLocks noGrp="1"/>
          </p:cNvSpPr>
          <p:nvPr/>
        </p:nvSpPr>
        <p:spPr>
          <a:xfrm>
            <a:off x="56197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base_xtick7">
            <a:extLst>
              <a:ext uri="{FF2B5EF4-FFF2-40B4-BE49-F238E27FC236}">
                <a16:creationId xmlns:a16="http://schemas.microsoft.com/office/drawing/2014/main" id="{DEEE4330-3191-4034-9174-939948CD7F4E}"/>
              </a:ext>
            </a:extLst>
          </p:cNvPr>
          <p:cNvSpPr>
            <a:spLocks noGrp="1"/>
          </p:cNvSpPr>
          <p:nvPr/>
        </p:nvSpPr>
        <p:spPr>
          <a:xfrm>
            <a:off x="6667500" y="5334000"/>
            <a:ext cx="9525" cy="76200"/>
          </a:xfrm>
          <a:custGeom>
            <a:avLst/>
            <a:gdLst/>
            <a:ahLst/>
            <a:cxnLst/>
            <a:rect l="0" t="0" r="0" b="0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0" name="base_xlabel7">
            <a:extLst>
              <a:ext uri="{FF2B5EF4-FFF2-40B4-BE49-F238E27FC236}">
                <a16:creationId xmlns:a16="http://schemas.microsoft.com/office/drawing/2014/main" id="{B25036BF-C5B8-47B9-A233-8ECBD60C8D77}"/>
              </a:ext>
            </a:extLst>
          </p:cNvPr>
          <p:cNvSpPr>
            <a:spLocks noGrp="1"/>
          </p:cNvSpPr>
          <p:nvPr/>
        </p:nvSpPr>
        <p:spPr>
          <a:xfrm>
            <a:off x="6572250" y="5467350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base_xname">
            <a:extLst>
              <a:ext uri="{FF2B5EF4-FFF2-40B4-BE49-F238E27FC236}">
                <a16:creationId xmlns:a16="http://schemas.microsoft.com/office/drawing/2014/main" id="{A468FC37-A923-44B9-AED4-4CEBA4851B44}"/>
              </a:ext>
            </a:extLst>
          </p:cNvPr>
          <p:cNvSpPr>
            <a:spLocks noGrp="1"/>
          </p:cNvSpPr>
          <p:nvPr/>
        </p:nvSpPr>
        <p:spPr>
          <a:xfrm>
            <a:off x="6143625" y="5695950"/>
            <a:ext cx="128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参数 w</a:t>
            </a:r>
          </a:p>
        </p:txBody>
      </p:sp>
      <p:sp>
        <p:nvSpPr>
          <p:cNvPr id="22" name="base_yaxis">
            <a:extLst>
              <a:ext uri="{FF2B5EF4-FFF2-40B4-BE49-F238E27FC236}">
                <a16:creationId xmlns:a16="http://schemas.microsoft.com/office/drawing/2014/main" id="{94CAED4B-212A-4422-B484-83CB1FBFC275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9525" cy="3228975"/>
          </a:xfrm>
          <a:custGeom>
            <a:avLst/>
            <a:gdLst/>
            <a:ahLst/>
            <a:cxnLst/>
            <a:rect l="0" t="0" r="0" b="0"/>
            <a:pathLst>
              <a:path w="9525" h="3228975">
                <a:moveTo>
                  <a:pt x="0" y="32289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3" name="base_yaxis_a">
            <a:extLst>
              <a:ext uri="{FF2B5EF4-FFF2-40B4-BE49-F238E27FC236}">
                <a16:creationId xmlns:a16="http://schemas.microsoft.com/office/drawing/2014/main" id="{5CA34E8B-AA1F-45B8-A46B-0D1AAA9FACF0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4" name="base_yaxis_b">
            <a:extLst>
              <a:ext uri="{FF2B5EF4-FFF2-40B4-BE49-F238E27FC236}">
                <a16:creationId xmlns:a16="http://schemas.microsoft.com/office/drawing/2014/main" id="{587D5305-CE77-472B-B804-C987387F087F}"/>
              </a:ext>
            </a:extLst>
          </p:cNvPr>
          <p:cNvSpPr>
            <a:spLocks noGrp="1"/>
          </p:cNvSpPr>
          <p:nvPr/>
        </p:nvSpPr>
        <p:spPr>
          <a:xfrm>
            <a:off x="897702" y="2105025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25" name="base_ytick0">
            <a:extLst>
              <a:ext uri="{FF2B5EF4-FFF2-40B4-BE49-F238E27FC236}">
                <a16:creationId xmlns:a16="http://schemas.microsoft.com/office/drawing/2014/main" id="{5E8BB05A-3A17-4E11-9FB2-7A9AE2FFED70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6" name="base_ylabel0">
            <a:extLst>
              <a:ext uri="{FF2B5EF4-FFF2-40B4-BE49-F238E27FC236}">
                <a16:creationId xmlns:a16="http://schemas.microsoft.com/office/drawing/2014/main" id="{29983C08-3FAC-402E-9B05-6CD2C1AD7309}"/>
              </a:ext>
            </a:extLst>
          </p:cNvPr>
          <p:cNvSpPr>
            <a:spLocks noGrp="1"/>
          </p:cNvSpPr>
          <p:nvPr/>
        </p:nvSpPr>
        <p:spPr>
          <a:xfrm>
            <a:off x="533400" y="5200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base_ytick2">
            <a:extLst>
              <a:ext uri="{FF2B5EF4-FFF2-40B4-BE49-F238E27FC236}">
                <a16:creationId xmlns:a16="http://schemas.microsoft.com/office/drawing/2014/main" id="{547DAAB9-3AD1-46C0-A1F7-6C88CFD9CBBF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28" name="base_ylabel2">
            <a:extLst>
              <a:ext uri="{FF2B5EF4-FFF2-40B4-BE49-F238E27FC236}">
                <a16:creationId xmlns:a16="http://schemas.microsoft.com/office/drawing/2014/main" id="{6502D449-4665-4254-ACBA-C1F33E1C5645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base_ytick4">
            <a:extLst>
              <a:ext uri="{FF2B5EF4-FFF2-40B4-BE49-F238E27FC236}">
                <a16:creationId xmlns:a16="http://schemas.microsoft.com/office/drawing/2014/main" id="{FE762058-E1C0-47A5-88AB-1EF230F60DE7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0" name="base_ylabel4">
            <a:extLst>
              <a:ext uri="{FF2B5EF4-FFF2-40B4-BE49-F238E27FC236}">
                <a16:creationId xmlns:a16="http://schemas.microsoft.com/office/drawing/2014/main" id="{B79D960C-6C90-4BB6-BBAA-079DCBBA63E4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base_ytick6">
            <a:extLst>
              <a:ext uri="{FF2B5EF4-FFF2-40B4-BE49-F238E27FC236}">
                <a16:creationId xmlns:a16="http://schemas.microsoft.com/office/drawing/2014/main" id="{00CEDDF0-CB30-4ABF-B34B-D6A6FDDA1465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2" name="base_ylabel6">
            <a:extLst>
              <a:ext uri="{FF2B5EF4-FFF2-40B4-BE49-F238E27FC236}">
                <a16:creationId xmlns:a16="http://schemas.microsoft.com/office/drawing/2014/main" id="{BBAF5588-3589-4857-BA92-29ECA211BFF7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base_ytick8">
            <a:extLst>
              <a:ext uri="{FF2B5EF4-FFF2-40B4-BE49-F238E27FC236}">
                <a16:creationId xmlns:a16="http://schemas.microsoft.com/office/drawing/2014/main" id="{614430CD-8D66-4214-ADA1-EDB8B3D1EF88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4" name="base_ylabel8">
            <a:extLst>
              <a:ext uri="{FF2B5EF4-FFF2-40B4-BE49-F238E27FC236}">
                <a16:creationId xmlns:a16="http://schemas.microsoft.com/office/drawing/2014/main" id="{F55C14DA-2218-4854-AE6A-82B765D8A039}"/>
              </a:ext>
            </a:extLst>
          </p:cNvPr>
          <p:cNvSpPr>
            <a:spLocks noGrp="1"/>
          </p:cNvSpPr>
          <p:nvPr/>
        </p:nvSpPr>
        <p:spPr>
          <a:xfrm>
            <a:off x="533400" y="2914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base_ytick10">
            <a:extLst>
              <a:ext uri="{FF2B5EF4-FFF2-40B4-BE49-F238E27FC236}">
                <a16:creationId xmlns:a16="http://schemas.microsoft.com/office/drawing/2014/main" id="{0B896310-B549-4490-BAC4-9C6270AFAA45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76200" cy="9525"/>
          </a:xfrm>
          <a:custGeom>
            <a:avLst/>
            <a:gdLst/>
            <a:ahLst/>
            <a:cxnLst/>
            <a:rect l="0" t="0" r="0" b="0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36" name="base_ylabel10">
            <a:extLst>
              <a:ext uri="{FF2B5EF4-FFF2-40B4-BE49-F238E27FC236}">
                <a16:creationId xmlns:a16="http://schemas.microsoft.com/office/drawing/2014/main" id="{56AD030F-938E-4D4C-8B08-3DAEC8DD9E64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7" name="base_yname">
            <a:extLst>
              <a:ext uri="{FF2B5EF4-FFF2-40B4-BE49-F238E27FC236}">
                <a16:creationId xmlns:a16="http://schemas.microsoft.com/office/drawing/2014/main" id="{888DF26A-DDA8-44DE-9C4F-1893E74544BD}"/>
              </a:ext>
            </a:extLst>
          </p:cNvPr>
          <p:cNvSpPr>
            <a:spLocks noGrp="1"/>
          </p:cNvSpPr>
          <p:nvPr/>
        </p:nvSpPr>
        <p:spPr>
          <a:xfrm>
            <a:off x="571500" y="17716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 L</a:t>
            </a:r>
          </a:p>
        </p:txBody>
      </p:sp>
      <p:sp>
        <p:nvSpPr>
          <p:cNvPr id="38" name="base_curve">
            <a:extLst>
              <a:ext uri="{FF2B5EF4-FFF2-40B4-BE49-F238E27FC236}">
                <a16:creationId xmlns:a16="http://schemas.microsoft.com/office/drawing/2014/main" id="{5DB396F4-F153-4179-B1B2-9AD741B97EEE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5715000" cy="2571750"/>
          </a:xfrm>
          <a:custGeom>
            <a:avLst/>
            <a:gdLst/>
            <a:ahLst/>
            <a:cxnLst/>
            <a:rect l="0" t="0" r="0" b="0"/>
            <a:pathLst>
              <a:path w="5715000" h="2571750">
                <a:moveTo>
                  <a:pt x="0" y="0"/>
                </a:moveTo>
                <a:lnTo>
                  <a:pt x="47625" y="85011"/>
                </a:lnTo>
                <a:lnTo>
                  <a:pt x="95250" y="168592"/>
                </a:lnTo>
                <a:lnTo>
                  <a:pt x="142875" y="250746"/>
                </a:lnTo>
                <a:lnTo>
                  <a:pt x="190500" y="331470"/>
                </a:lnTo>
                <a:lnTo>
                  <a:pt x="238125" y="410766"/>
                </a:lnTo>
                <a:lnTo>
                  <a:pt x="285750" y="488632"/>
                </a:lnTo>
                <a:lnTo>
                  <a:pt x="333375" y="565071"/>
                </a:lnTo>
                <a:lnTo>
                  <a:pt x="381000" y="640080"/>
                </a:lnTo>
                <a:lnTo>
                  <a:pt x="428625" y="713661"/>
                </a:lnTo>
                <a:lnTo>
                  <a:pt x="476250" y="785813"/>
                </a:lnTo>
                <a:lnTo>
                  <a:pt x="523875" y="856536"/>
                </a:lnTo>
                <a:lnTo>
                  <a:pt x="571500" y="925830"/>
                </a:lnTo>
                <a:lnTo>
                  <a:pt x="619125" y="993696"/>
                </a:lnTo>
                <a:lnTo>
                  <a:pt x="666750" y="1060133"/>
                </a:lnTo>
                <a:lnTo>
                  <a:pt x="714375" y="1125141"/>
                </a:lnTo>
                <a:lnTo>
                  <a:pt x="762000" y="1188720"/>
                </a:lnTo>
                <a:lnTo>
                  <a:pt x="809625" y="1250871"/>
                </a:lnTo>
                <a:lnTo>
                  <a:pt x="857250" y="1311593"/>
                </a:lnTo>
                <a:lnTo>
                  <a:pt x="904875" y="1370886"/>
                </a:lnTo>
                <a:lnTo>
                  <a:pt x="952500" y="1428750"/>
                </a:lnTo>
                <a:lnTo>
                  <a:pt x="1000125" y="1485186"/>
                </a:lnTo>
                <a:lnTo>
                  <a:pt x="1047750" y="1540193"/>
                </a:lnTo>
                <a:lnTo>
                  <a:pt x="1095375" y="1593771"/>
                </a:lnTo>
                <a:lnTo>
                  <a:pt x="1143000" y="1645920"/>
                </a:lnTo>
                <a:lnTo>
                  <a:pt x="1190625" y="1696641"/>
                </a:lnTo>
                <a:lnTo>
                  <a:pt x="1238250" y="1745932"/>
                </a:lnTo>
                <a:lnTo>
                  <a:pt x="1285875" y="1793796"/>
                </a:lnTo>
                <a:lnTo>
                  <a:pt x="1333500" y="1840230"/>
                </a:lnTo>
                <a:lnTo>
                  <a:pt x="1381125" y="1885236"/>
                </a:lnTo>
                <a:lnTo>
                  <a:pt x="1428750" y="1928813"/>
                </a:lnTo>
                <a:lnTo>
                  <a:pt x="1476375" y="1970961"/>
                </a:lnTo>
                <a:lnTo>
                  <a:pt x="1524000" y="2011680"/>
                </a:lnTo>
                <a:lnTo>
                  <a:pt x="1571625" y="2050971"/>
                </a:lnTo>
                <a:lnTo>
                  <a:pt x="1619250" y="2088833"/>
                </a:lnTo>
                <a:lnTo>
                  <a:pt x="1666875" y="2125266"/>
                </a:lnTo>
                <a:lnTo>
                  <a:pt x="1714500" y="2160270"/>
                </a:lnTo>
                <a:lnTo>
                  <a:pt x="1762125" y="2193846"/>
                </a:lnTo>
                <a:lnTo>
                  <a:pt x="1809750" y="2225993"/>
                </a:lnTo>
                <a:lnTo>
                  <a:pt x="1857375" y="2256711"/>
                </a:lnTo>
                <a:lnTo>
                  <a:pt x="1905000" y="2286000"/>
                </a:lnTo>
                <a:lnTo>
                  <a:pt x="1952625" y="2313861"/>
                </a:lnTo>
                <a:lnTo>
                  <a:pt x="2000250" y="2340293"/>
                </a:lnTo>
                <a:lnTo>
                  <a:pt x="2047875" y="2365296"/>
                </a:lnTo>
                <a:lnTo>
                  <a:pt x="2095500" y="2388870"/>
                </a:lnTo>
                <a:lnTo>
                  <a:pt x="2143125" y="2411016"/>
                </a:lnTo>
                <a:lnTo>
                  <a:pt x="2190750" y="2431732"/>
                </a:lnTo>
                <a:lnTo>
                  <a:pt x="2238375" y="2451021"/>
                </a:lnTo>
                <a:lnTo>
                  <a:pt x="2286000" y="2468880"/>
                </a:lnTo>
                <a:lnTo>
                  <a:pt x="2333625" y="2485311"/>
                </a:lnTo>
                <a:lnTo>
                  <a:pt x="2381250" y="2500313"/>
                </a:lnTo>
                <a:lnTo>
                  <a:pt x="2428875" y="2513886"/>
                </a:lnTo>
                <a:lnTo>
                  <a:pt x="2476500" y="2526030"/>
                </a:lnTo>
                <a:lnTo>
                  <a:pt x="2524125" y="2536746"/>
                </a:lnTo>
                <a:lnTo>
                  <a:pt x="2571750" y="2546032"/>
                </a:lnTo>
                <a:lnTo>
                  <a:pt x="2619375" y="2553891"/>
                </a:lnTo>
                <a:lnTo>
                  <a:pt x="2667000" y="2560320"/>
                </a:lnTo>
                <a:lnTo>
                  <a:pt x="2714625" y="2565321"/>
                </a:lnTo>
                <a:lnTo>
                  <a:pt x="2762250" y="2568893"/>
                </a:lnTo>
                <a:lnTo>
                  <a:pt x="2809875" y="2571036"/>
                </a:lnTo>
                <a:lnTo>
                  <a:pt x="2857500" y="2571750"/>
                </a:lnTo>
                <a:lnTo>
                  <a:pt x="2905125" y="2571036"/>
                </a:lnTo>
                <a:lnTo>
                  <a:pt x="2952750" y="2568893"/>
                </a:lnTo>
                <a:lnTo>
                  <a:pt x="3000375" y="2565321"/>
                </a:lnTo>
                <a:lnTo>
                  <a:pt x="3048000" y="2560320"/>
                </a:lnTo>
                <a:lnTo>
                  <a:pt x="3095625" y="2553891"/>
                </a:lnTo>
                <a:lnTo>
                  <a:pt x="3143250" y="2546032"/>
                </a:lnTo>
                <a:lnTo>
                  <a:pt x="3190875" y="2536746"/>
                </a:lnTo>
                <a:lnTo>
                  <a:pt x="3238500" y="2526030"/>
                </a:lnTo>
                <a:lnTo>
                  <a:pt x="3286125" y="2513886"/>
                </a:lnTo>
                <a:lnTo>
                  <a:pt x="3333750" y="2500313"/>
                </a:lnTo>
                <a:lnTo>
                  <a:pt x="3381375" y="2485311"/>
                </a:lnTo>
                <a:lnTo>
                  <a:pt x="3429000" y="2468880"/>
                </a:lnTo>
                <a:lnTo>
                  <a:pt x="3476625" y="2451021"/>
                </a:lnTo>
                <a:lnTo>
                  <a:pt x="3524250" y="2431732"/>
                </a:lnTo>
                <a:lnTo>
                  <a:pt x="3571875" y="2411016"/>
                </a:lnTo>
                <a:lnTo>
                  <a:pt x="3619500" y="2388870"/>
                </a:lnTo>
                <a:lnTo>
                  <a:pt x="3667125" y="2365296"/>
                </a:lnTo>
                <a:lnTo>
                  <a:pt x="3714750" y="2340292"/>
                </a:lnTo>
                <a:lnTo>
                  <a:pt x="3762375" y="2313861"/>
                </a:lnTo>
                <a:lnTo>
                  <a:pt x="3810000" y="2286000"/>
                </a:lnTo>
                <a:lnTo>
                  <a:pt x="3857625" y="2256711"/>
                </a:lnTo>
                <a:lnTo>
                  <a:pt x="3905250" y="2225992"/>
                </a:lnTo>
                <a:lnTo>
                  <a:pt x="3952875" y="2193846"/>
                </a:lnTo>
                <a:lnTo>
                  <a:pt x="4000500" y="2160270"/>
                </a:lnTo>
                <a:lnTo>
                  <a:pt x="4048125" y="2125266"/>
                </a:lnTo>
                <a:lnTo>
                  <a:pt x="4095750" y="2088833"/>
                </a:lnTo>
                <a:lnTo>
                  <a:pt x="4143375" y="2050971"/>
                </a:lnTo>
                <a:lnTo>
                  <a:pt x="4191000" y="2011680"/>
                </a:lnTo>
                <a:lnTo>
                  <a:pt x="4238625" y="1970961"/>
                </a:lnTo>
                <a:lnTo>
                  <a:pt x="4286250" y="1928813"/>
                </a:lnTo>
                <a:lnTo>
                  <a:pt x="4333875" y="1885236"/>
                </a:lnTo>
                <a:lnTo>
                  <a:pt x="4381500" y="1840230"/>
                </a:lnTo>
                <a:lnTo>
                  <a:pt x="4429125" y="1793796"/>
                </a:lnTo>
                <a:lnTo>
                  <a:pt x="4476750" y="1745932"/>
                </a:lnTo>
                <a:lnTo>
                  <a:pt x="4524375" y="1696641"/>
                </a:lnTo>
                <a:lnTo>
                  <a:pt x="4572000" y="1645920"/>
                </a:lnTo>
                <a:lnTo>
                  <a:pt x="4619625" y="1593771"/>
                </a:lnTo>
                <a:lnTo>
                  <a:pt x="4667250" y="1540192"/>
                </a:lnTo>
                <a:lnTo>
                  <a:pt x="4714875" y="1485186"/>
                </a:lnTo>
                <a:lnTo>
                  <a:pt x="4762500" y="1428750"/>
                </a:lnTo>
                <a:lnTo>
                  <a:pt x="4810125" y="1370886"/>
                </a:lnTo>
                <a:lnTo>
                  <a:pt x="4857750" y="1311592"/>
                </a:lnTo>
                <a:lnTo>
                  <a:pt x="4905375" y="1250871"/>
                </a:lnTo>
                <a:lnTo>
                  <a:pt x="4953000" y="1188720"/>
                </a:lnTo>
                <a:lnTo>
                  <a:pt x="5000625" y="1125141"/>
                </a:lnTo>
                <a:lnTo>
                  <a:pt x="5048250" y="1060132"/>
                </a:lnTo>
                <a:lnTo>
                  <a:pt x="5095875" y="993696"/>
                </a:lnTo>
                <a:lnTo>
                  <a:pt x="5143500" y="925830"/>
                </a:lnTo>
                <a:lnTo>
                  <a:pt x="5191125" y="856536"/>
                </a:lnTo>
                <a:lnTo>
                  <a:pt x="5238750" y="785813"/>
                </a:lnTo>
                <a:lnTo>
                  <a:pt x="5286375" y="713661"/>
                </a:lnTo>
                <a:lnTo>
                  <a:pt x="5334000" y="640080"/>
                </a:lnTo>
                <a:lnTo>
                  <a:pt x="5381625" y="565071"/>
                </a:lnTo>
                <a:lnTo>
                  <a:pt x="5429250" y="488632"/>
                </a:lnTo>
                <a:lnTo>
                  <a:pt x="5476875" y="410766"/>
                </a:lnTo>
                <a:lnTo>
                  <a:pt x="5524500" y="331470"/>
                </a:lnTo>
                <a:lnTo>
                  <a:pt x="5572125" y="250746"/>
                </a:lnTo>
                <a:lnTo>
                  <a:pt x="5619750" y="168592"/>
                </a:lnTo>
                <a:lnTo>
                  <a:pt x="5667375" y="85011"/>
                </a:lnTo>
                <a:lnTo>
                  <a:pt x="5715000" y="0"/>
                </a:lnTo>
              </a:path>
            </a:pathLst>
          </a:custGeom>
          <a:noFill/>
          <a:ln w="30480">
            <a:solidFill>
              <a:srgbClr val="202938"/>
            </a:solidFill>
            <a:prstDash val="solid"/>
          </a:ln>
        </p:spPr>
      </p:sp>
      <p:sp>
        <p:nvSpPr>
          <p:cNvPr id="39" name="base_point">
            <a:extLst>
              <a:ext uri="{FF2B5EF4-FFF2-40B4-BE49-F238E27FC236}">
                <a16:creationId xmlns:a16="http://schemas.microsoft.com/office/drawing/2014/main" id="{16F5DAFB-97E2-4F16-A86F-B2C861F6CFE1}"/>
              </a:ext>
            </a:extLst>
          </p:cNvPr>
          <p:cNvSpPr>
            <a:spLocks noGrp="1"/>
          </p:cNvSpPr>
          <p:nvPr/>
        </p:nvSpPr>
        <p:spPr>
          <a:xfrm>
            <a:off x="1838325" y="412432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0" name="base_pointLabel">
            <a:extLst>
              <a:ext uri="{FF2B5EF4-FFF2-40B4-BE49-F238E27FC236}">
                <a16:creationId xmlns:a16="http://schemas.microsoft.com/office/drawing/2014/main" id="{53EC40F2-2FC5-4046-8604-F8136FFD245D}"/>
              </a:ext>
            </a:extLst>
          </p:cNvPr>
          <p:cNvSpPr>
            <a:spLocks noGrp="1"/>
          </p:cNvSpPr>
          <p:nvPr/>
        </p:nvSpPr>
        <p:spPr>
          <a:xfrm>
            <a:off x="2076450" y="370522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(2, 4)</a:t>
            </a:r>
          </a:p>
        </p:txBody>
      </p:sp>
      <p:sp>
        <p:nvSpPr>
          <p:cNvPr id="41" name="mirrorPoint">
            <a:extLst>
              <a:ext uri="{FF2B5EF4-FFF2-40B4-BE49-F238E27FC236}">
                <a16:creationId xmlns:a16="http://schemas.microsoft.com/office/drawing/2014/main" id="{CCB816F3-4EA9-4F7C-A7B6-5DCE2F7C4AD3}"/>
              </a:ext>
            </a:extLst>
          </p:cNvPr>
          <p:cNvSpPr>
            <a:spLocks noGrp="1"/>
          </p:cNvSpPr>
          <p:nvPr/>
        </p:nvSpPr>
        <p:spPr>
          <a:xfrm>
            <a:off x="5657850" y="4133850"/>
            <a:ext cx="114300" cy="1143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CBD2DC"/>
            </a:solidFill>
            <a:prstDash val="solid"/>
          </a:ln>
        </p:spPr>
      </p:sp>
      <p:sp>
        <p:nvSpPr>
          <p:cNvPr id="42" name="C1_tangent">
            <a:extLst>
              <a:ext uri="{FF2B5EF4-FFF2-40B4-BE49-F238E27FC236}">
                <a16:creationId xmlns:a16="http://schemas.microsoft.com/office/drawing/2014/main" id="{FDBF3331-394F-4028-9ED6-2843A8F3C7C7}"/>
              </a:ext>
            </a:extLst>
          </p:cNvPr>
          <p:cNvSpPr>
            <a:spLocks noGrp="1"/>
          </p:cNvSpPr>
          <p:nvPr/>
        </p:nvSpPr>
        <p:spPr>
          <a:xfrm>
            <a:off x="1428750" y="3619500"/>
            <a:ext cx="952500" cy="1143000"/>
          </a:xfrm>
          <a:custGeom>
            <a:avLst/>
            <a:gdLst/>
            <a:ahLst/>
            <a:cxnLst/>
            <a:rect l="0" t="0" r="0" b="0"/>
            <a:pathLst>
              <a:path w="952500" h="1143000">
                <a:moveTo>
                  <a:pt x="0" y="0"/>
                </a:moveTo>
                <a:lnTo>
                  <a:pt x="952500" y="1143000"/>
                </a:lnTo>
              </a:path>
            </a:pathLst>
          </a:cu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43" name="C1_derivative">
            <a:extLst>
              <a:ext uri="{FF2B5EF4-FFF2-40B4-BE49-F238E27FC236}">
                <a16:creationId xmlns:a16="http://schemas.microsoft.com/office/drawing/2014/main" id="{1C98025F-23AE-41CA-B50F-6F8680C2B420}"/>
              </a:ext>
            </a:extLst>
          </p:cNvPr>
          <p:cNvSpPr>
            <a:spLocks noGrp="1"/>
          </p:cNvSpPr>
          <p:nvPr/>
        </p:nvSpPr>
        <p:spPr>
          <a:xfrm>
            <a:off x="7629525" y="2333625"/>
            <a:ext cx="37242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导数 = −4</a:t>
            </a:r>
          </a:p>
        </p:txBody>
      </p:sp>
      <p:sp>
        <p:nvSpPr>
          <p:cNvPr id="44" name="C1_question">
            <a:extLst>
              <a:ext uri="{FF2B5EF4-FFF2-40B4-BE49-F238E27FC236}">
                <a16:creationId xmlns:a16="http://schemas.microsoft.com/office/drawing/2014/main" id="{36745270-3F9B-49C3-AA45-9DCCDAE89730}"/>
              </a:ext>
            </a:extLst>
          </p:cNvPr>
          <p:cNvSpPr>
            <a:spLocks noGrp="1"/>
          </p:cNvSpPr>
          <p:nvPr/>
        </p:nvSpPr>
        <p:spPr>
          <a:xfrm>
            <a:off x="7629525" y="3228975"/>
            <a:ext cx="39433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参数应该</a:t>
            </a:r>
          </a:p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增大还是减小？</a:t>
            </a:r>
          </a:p>
        </p:txBody>
      </p:sp>
      <p:sp>
        <p:nvSpPr>
          <p:cNvPr id="45" name="C2_right">
            <a:extLst>
              <a:ext uri="{FF2B5EF4-FFF2-40B4-BE49-F238E27FC236}">
                <a16:creationId xmlns:a16="http://schemas.microsoft.com/office/drawing/2014/main" id="{42F95BEB-8474-44B9-90BB-7AD61BB7663A}"/>
              </a:ext>
            </a:extLst>
          </p:cNvPr>
          <p:cNvSpPr>
            <a:spLocks noGrp="1"/>
          </p:cNvSpPr>
          <p:nvPr/>
        </p:nvSpPr>
        <p:spPr>
          <a:xfrm>
            <a:off x="1905000" y="5248275"/>
            <a:ext cx="952500" cy="9525"/>
          </a:xfrm>
          <a:custGeom>
            <a:avLst/>
            <a:gdLst/>
            <a:ahLst/>
            <a:cxnLst/>
            <a:rect l="0" t="0" r="0" b="0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6" name="C2_right_a">
            <a:extLst>
              <a:ext uri="{FF2B5EF4-FFF2-40B4-BE49-F238E27FC236}">
                <a16:creationId xmlns:a16="http://schemas.microsoft.com/office/drawing/2014/main" id="{C0F00F3D-4EC3-4763-8174-F05E6BE9FB95}"/>
              </a:ext>
            </a:extLst>
          </p:cNvPr>
          <p:cNvSpPr>
            <a:spLocks noGrp="1"/>
          </p:cNvSpPr>
          <p:nvPr/>
        </p:nvSpPr>
        <p:spPr>
          <a:xfrm>
            <a:off x="2757192" y="52482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7" name="C2_right_b">
            <a:extLst>
              <a:ext uri="{FF2B5EF4-FFF2-40B4-BE49-F238E27FC236}">
                <a16:creationId xmlns:a16="http://schemas.microsoft.com/office/drawing/2014/main" id="{D99DE74E-C74C-43AF-87E2-6EC6D3B6FC78}"/>
              </a:ext>
            </a:extLst>
          </p:cNvPr>
          <p:cNvSpPr>
            <a:spLocks noGrp="1"/>
          </p:cNvSpPr>
          <p:nvPr/>
        </p:nvSpPr>
        <p:spPr>
          <a:xfrm>
            <a:off x="2757192" y="51934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8" name="C3_hideQuestion">
            <a:extLst>
              <a:ext uri="{FF2B5EF4-FFF2-40B4-BE49-F238E27FC236}">
                <a16:creationId xmlns:a16="http://schemas.microsoft.com/office/drawing/2014/main" id="{62DF3953-5A1A-4B28-A5DB-38F369C5E969}"/>
              </a:ext>
            </a:extLst>
          </p:cNvPr>
          <p:cNvSpPr>
            <a:spLocks noGrp="1"/>
          </p:cNvSpPr>
          <p:nvPr/>
        </p:nvSpPr>
        <p:spPr>
          <a:xfrm>
            <a:off x="7581900" y="3133725"/>
            <a:ext cx="4029075" cy="11811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49" name="C3_answer">
            <a:extLst>
              <a:ext uri="{FF2B5EF4-FFF2-40B4-BE49-F238E27FC236}">
                <a16:creationId xmlns:a16="http://schemas.microsoft.com/office/drawing/2014/main" id="{5A546025-0975-4576-A83D-F230A674537F}"/>
              </a:ext>
            </a:extLst>
          </p:cNvPr>
          <p:cNvSpPr>
            <a:spLocks noGrp="1"/>
          </p:cNvSpPr>
          <p:nvPr/>
        </p:nvSpPr>
        <p:spPr>
          <a:xfrm>
            <a:off x="7543800" y="3276600"/>
            <a:ext cx="408622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2 − 0.25 × (−4) = 3</a:t>
            </a:r>
          </a:p>
        </p:txBody>
      </p:sp>
      <p:sp>
        <p:nvSpPr>
          <p:cNvPr id="50" name="C3_point">
            <a:extLst>
              <a:ext uri="{FF2B5EF4-FFF2-40B4-BE49-F238E27FC236}">
                <a16:creationId xmlns:a16="http://schemas.microsoft.com/office/drawing/2014/main" id="{2395C6A5-FE29-4951-8653-1FD98C030A25}"/>
              </a:ext>
            </a:extLst>
          </p:cNvPr>
          <p:cNvSpPr>
            <a:spLocks noGrp="1"/>
          </p:cNvSpPr>
          <p:nvPr/>
        </p:nvSpPr>
        <p:spPr>
          <a:xfrm>
            <a:off x="2790825" y="49815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1" name="C3_pointLabel">
            <a:extLst>
              <a:ext uri="{FF2B5EF4-FFF2-40B4-BE49-F238E27FC236}">
                <a16:creationId xmlns:a16="http://schemas.microsoft.com/office/drawing/2014/main" id="{29BC9C64-DFD1-49B3-824E-742EDB8EEFCC}"/>
              </a:ext>
            </a:extLst>
          </p:cNvPr>
          <p:cNvSpPr>
            <a:spLocks noGrp="1"/>
          </p:cNvSpPr>
          <p:nvPr/>
        </p:nvSpPr>
        <p:spPr>
          <a:xfrm>
            <a:off x="3028950" y="456247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(3, 1)</a:t>
            </a:r>
          </a:p>
        </p:txBody>
      </p:sp>
      <p:sp>
        <p:nvSpPr>
          <p:cNvPr id="52" name="C4_loss">
            <a:extLst>
              <a:ext uri="{FF2B5EF4-FFF2-40B4-BE49-F238E27FC236}">
                <a16:creationId xmlns:a16="http://schemas.microsoft.com/office/drawing/2014/main" id="{98AF9279-91BF-47EA-81FF-84E24C0111BE}"/>
              </a:ext>
            </a:extLst>
          </p:cNvPr>
          <p:cNvSpPr>
            <a:spLocks noGrp="1"/>
          </p:cNvSpPr>
          <p:nvPr/>
        </p:nvSpPr>
        <p:spPr>
          <a:xfrm>
            <a:off x="7620000" y="4714875"/>
            <a:ext cx="3952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6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Loss：4 降到 1</a:t>
            </a:r>
          </a:p>
        </p:txBody>
      </p:sp>
      <p:sp>
        <p:nvSpPr>
          <p:cNvPr id="53" name="C4_conclusion">
            <a:extLst>
              <a:ext uri="{FF2B5EF4-FFF2-40B4-BE49-F238E27FC236}">
                <a16:creationId xmlns:a16="http://schemas.microsoft.com/office/drawing/2014/main" id="{3BBD4AEC-4787-44F0-BE85-B4EF24F36634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参数增大，也可以让损失降低</a:t>
            </a:r>
          </a:p>
        </p:txBody>
      </p:sp>
    </p:spTree>
    <p:extLst>
      <p:ext uri="{BB962C8B-B14F-4D97-AF65-F5344CB8AC3E}">
        <p14:creationId xmlns:p14="http://schemas.microsoft.com/office/powerpoint/2010/main" val="106469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9" grpId="0"/>
      <p:bldP spid="51" grpId="0"/>
      <p:bldP spid="52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1_EXIT_gradientMask2">
            <a:extLst>
              <a:ext uri="{FF2B5EF4-FFF2-40B4-BE49-F238E27FC236}">
                <a16:creationId xmlns:a16="http://schemas.microsoft.com/office/drawing/2014/main" id="{37D873A6-19B8-44B7-8F89-027CE820B6E9}"/>
              </a:ext>
            </a:extLst>
          </p:cNvPr>
          <p:cNvSpPr>
            <a:spLocks noGrp="1"/>
          </p:cNvSpPr>
          <p:nvPr/>
        </p:nvSpPr>
        <p:spPr>
          <a:xfrm>
            <a:off x="6467475" y="4572000"/>
            <a:ext cx="2171700" cy="7429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29" name="C3_EXIT_updateMask2">
            <a:extLst>
              <a:ext uri="{FF2B5EF4-FFF2-40B4-BE49-F238E27FC236}">
                <a16:creationId xmlns:a16="http://schemas.microsoft.com/office/drawing/2014/main" id="{73EBCF3F-A1D7-4223-835B-E99922338DB8}"/>
              </a:ext>
            </a:extLst>
          </p:cNvPr>
          <p:cNvSpPr>
            <a:spLocks noGrp="1"/>
          </p:cNvSpPr>
          <p:nvPr/>
        </p:nvSpPr>
        <p:spPr>
          <a:xfrm>
            <a:off x="8677275" y="4572000"/>
            <a:ext cx="2705100" cy="7429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27" name="C3_EXIT_updateMask1">
            <a:extLst>
              <a:ext uri="{FF2B5EF4-FFF2-40B4-BE49-F238E27FC236}">
                <a16:creationId xmlns:a16="http://schemas.microsoft.com/office/drawing/2014/main" id="{FCDDFD66-C6F7-4E21-BA62-F6B9EF382A08}"/>
              </a:ext>
            </a:extLst>
          </p:cNvPr>
          <p:cNvSpPr>
            <a:spLocks noGrp="1"/>
          </p:cNvSpPr>
          <p:nvPr/>
        </p:nvSpPr>
        <p:spPr>
          <a:xfrm>
            <a:off x="8677275" y="3790950"/>
            <a:ext cx="2705100" cy="7429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25" name="C3_EXIT_updateMask0">
            <a:extLst>
              <a:ext uri="{FF2B5EF4-FFF2-40B4-BE49-F238E27FC236}">
                <a16:creationId xmlns:a16="http://schemas.microsoft.com/office/drawing/2014/main" id="{5B01781A-6370-433A-805E-204102839C2C}"/>
              </a:ext>
            </a:extLst>
          </p:cNvPr>
          <p:cNvSpPr>
            <a:spLocks noGrp="1"/>
          </p:cNvSpPr>
          <p:nvPr/>
        </p:nvSpPr>
        <p:spPr>
          <a:xfrm>
            <a:off x="8677275" y="3009900"/>
            <a:ext cx="2705100" cy="7429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C1_EXIT_gradientMask1">
            <a:extLst>
              <a:ext uri="{FF2B5EF4-FFF2-40B4-BE49-F238E27FC236}">
                <a16:creationId xmlns:a16="http://schemas.microsoft.com/office/drawing/2014/main" id="{3F36B731-3FF5-426B-B207-64FF5AC5AC57}"/>
              </a:ext>
            </a:extLst>
          </p:cNvPr>
          <p:cNvSpPr>
            <a:spLocks noGrp="1"/>
          </p:cNvSpPr>
          <p:nvPr/>
        </p:nvSpPr>
        <p:spPr>
          <a:xfrm>
            <a:off x="6467475" y="3790950"/>
            <a:ext cx="2171700" cy="7429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24" name="C1_EXIT_gradientMask0">
            <a:extLst>
              <a:ext uri="{FF2B5EF4-FFF2-40B4-BE49-F238E27FC236}">
                <a16:creationId xmlns:a16="http://schemas.microsoft.com/office/drawing/2014/main" id="{C79FA706-AC71-4478-941B-2AAAB292A050}"/>
              </a:ext>
            </a:extLst>
          </p:cNvPr>
          <p:cNvSpPr>
            <a:spLocks noGrp="1"/>
          </p:cNvSpPr>
          <p:nvPr/>
        </p:nvSpPr>
        <p:spPr>
          <a:xfrm>
            <a:off x="6467475" y="3009900"/>
            <a:ext cx="2171700" cy="7429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A0D422AB-F62B-4333-950A-BECED37D97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9053061"/>
              </p:ext>
            </p:extLst>
          </p:nvPr>
        </p:nvGraphicFramePr>
        <p:xfrm>
          <a:off x="5114925" y="2209800"/>
          <a:ext cx="6286500" cy="31242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2029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  <a:endParaRPr sz="1950" b="1" dirty="0">
                        <a:solidFill>
                          <a:srgbClr val="2029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2029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当前梯度</a:t>
                      </a:r>
                      <a:endParaRPr sz="1950" b="1" dirty="0">
                        <a:solidFill>
                          <a:srgbClr val="2029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9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本次改变量</a:t>
                      </a:r>
                    </a:p>
                  </a:txBody>
                  <a:tcPr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w₁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7C3AE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w₂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7C3AE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w₃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7C3AE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563E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itle">
            <a:extLst>
              <a:ext uri="{FF2B5EF4-FFF2-40B4-BE49-F238E27FC236}">
                <a16:creationId xmlns:a16="http://schemas.microsoft.com/office/drawing/2014/main" id="{DA5364C3-E0C8-4F19-87A4-41C6018801F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多个参数的梯度</a:t>
            </a:r>
            <a:endParaRPr sz="36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CD49EA15-550A-4D03-89B5-7EC6D58100A8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4452075-92AA-4228-B1FD-8A595FB9D67D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暂时固定其他参数，观察一个参数的局部影响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param0">
            <a:extLst>
              <a:ext uri="{FF2B5EF4-FFF2-40B4-BE49-F238E27FC236}">
                <a16:creationId xmlns:a16="http://schemas.microsoft.com/office/drawing/2014/main" id="{DD8F3E8B-B9A7-4B33-9064-3F8209BCF64C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99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w₁</a:t>
            </a:r>
          </a:p>
        </p:txBody>
      </p:sp>
      <p:sp>
        <p:nvSpPr>
          <p:cNvPr id="5" name="paramTrack0">
            <a:extLst>
              <a:ext uri="{FF2B5EF4-FFF2-40B4-BE49-F238E27FC236}">
                <a16:creationId xmlns:a16="http://schemas.microsoft.com/office/drawing/2014/main" id="{2C8AEB8F-6C4C-4E53-B59B-59426E904FDE}"/>
              </a:ext>
            </a:extLst>
          </p:cNvPr>
          <p:cNvSpPr>
            <a:spLocks noGrp="1"/>
          </p:cNvSpPr>
          <p:nvPr/>
        </p:nvSpPr>
        <p:spPr>
          <a:xfrm>
            <a:off x="1819275" y="3381375"/>
            <a:ext cx="2305050" cy="9525"/>
          </a:xfrm>
          <a:custGeom>
            <a:avLst/>
            <a:gdLst/>
            <a:ahLst/>
            <a:cxnLst/>
            <a:rect l="0" t="0" r="0" b="0"/>
            <a:pathLst>
              <a:path w="2305050" h="9525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6" name="paramMarker0">
            <a:extLst>
              <a:ext uri="{FF2B5EF4-FFF2-40B4-BE49-F238E27FC236}">
                <a16:creationId xmlns:a16="http://schemas.microsoft.com/office/drawing/2014/main" id="{C7E166F5-9AC7-491B-BCD7-6383E1AB91E9}"/>
              </a:ext>
            </a:extLst>
          </p:cNvPr>
          <p:cNvSpPr>
            <a:spLocks noGrp="1"/>
          </p:cNvSpPr>
          <p:nvPr/>
        </p:nvSpPr>
        <p:spPr>
          <a:xfrm>
            <a:off x="2924175" y="3276600"/>
            <a:ext cx="57150" cy="209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" name="C3_direction0">
            <a:extLst>
              <a:ext uri="{FF2B5EF4-FFF2-40B4-BE49-F238E27FC236}">
                <a16:creationId xmlns:a16="http://schemas.microsoft.com/office/drawing/2014/main" id="{23F98B11-65F1-4587-BEBD-A68815F22F27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695325" cy="9525"/>
          </a:xfrm>
          <a:custGeom>
            <a:avLst/>
            <a:gdLst/>
            <a:ahLst/>
            <a:cxnLst/>
            <a:rect l="0" t="0" r="0" b="0"/>
            <a:pathLst>
              <a:path w="695325" h="9525">
                <a:moveTo>
                  <a:pt x="695325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C3_direction0_a">
            <a:extLst>
              <a:ext uri="{FF2B5EF4-FFF2-40B4-BE49-F238E27FC236}">
                <a16:creationId xmlns:a16="http://schemas.microsoft.com/office/drawing/2014/main" id="{D6A9B9D0-57D3-4179-B29E-B66AF7C9190C}"/>
              </a:ext>
            </a:extLst>
          </p:cNvPr>
          <p:cNvSpPr>
            <a:spLocks noGrp="1"/>
          </p:cNvSpPr>
          <p:nvPr/>
        </p:nvSpPr>
        <p:spPr>
          <a:xfrm>
            <a:off x="2257425" y="31456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C3_direction0_b">
            <a:extLst>
              <a:ext uri="{FF2B5EF4-FFF2-40B4-BE49-F238E27FC236}">
                <a16:creationId xmlns:a16="http://schemas.microsoft.com/office/drawing/2014/main" id="{CE807B3A-2DEC-460A-9CB6-8FFAB9A6941F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param1">
            <a:extLst>
              <a:ext uri="{FF2B5EF4-FFF2-40B4-BE49-F238E27FC236}">
                <a16:creationId xmlns:a16="http://schemas.microsoft.com/office/drawing/2014/main" id="{4F2AE288-6E4B-480F-B2A4-DE7FEF14B3AC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99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w₂</a:t>
            </a:r>
          </a:p>
        </p:txBody>
      </p:sp>
      <p:sp>
        <p:nvSpPr>
          <p:cNvPr id="11" name="paramTrack1">
            <a:extLst>
              <a:ext uri="{FF2B5EF4-FFF2-40B4-BE49-F238E27FC236}">
                <a16:creationId xmlns:a16="http://schemas.microsoft.com/office/drawing/2014/main" id="{41EAD981-E832-4BCE-8C38-BA9F3AEEDB1C}"/>
              </a:ext>
            </a:extLst>
          </p:cNvPr>
          <p:cNvSpPr>
            <a:spLocks noGrp="1"/>
          </p:cNvSpPr>
          <p:nvPr/>
        </p:nvSpPr>
        <p:spPr>
          <a:xfrm>
            <a:off x="1819275" y="4162425"/>
            <a:ext cx="2305050" cy="9525"/>
          </a:xfrm>
          <a:custGeom>
            <a:avLst/>
            <a:gdLst/>
            <a:ahLst/>
            <a:cxnLst/>
            <a:rect l="0" t="0" r="0" b="0"/>
            <a:pathLst>
              <a:path w="2305050" h="9525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2" name="paramMarker1">
            <a:extLst>
              <a:ext uri="{FF2B5EF4-FFF2-40B4-BE49-F238E27FC236}">
                <a16:creationId xmlns:a16="http://schemas.microsoft.com/office/drawing/2014/main" id="{03A561AA-4EEF-4A9E-9761-CDA237C284D3}"/>
              </a:ext>
            </a:extLst>
          </p:cNvPr>
          <p:cNvSpPr>
            <a:spLocks noGrp="1"/>
          </p:cNvSpPr>
          <p:nvPr/>
        </p:nvSpPr>
        <p:spPr>
          <a:xfrm>
            <a:off x="2924175" y="4057650"/>
            <a:ext cx="57150" cy="209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3" name="C3_direction1">
            <a:extLst>
              <a:ext uri="{FF2B5EF4-FFF2-40B4-BE49-F238E27FC236}">
                <a16:creationId xmlns:a16="http://schemas.microsoft.com/office/drawing/2014/main" id="{62271F7C-25A5-4B28-8C3A-FF96C5B50D0D}"/>
              </a:ext>
            </a:extLst>
          </p:cNvPr>
          <p:cNvSpPr>
            <a:spLocks noGrp="1"/>
          </p:cNvSpPr>
          <p:nvPr/>
        </p:nvSpPr>
        <p:spPr>
          <a:xfrm>
            <a:off x="2952750" y="3981450"/>
            <a:ext cx="904875" cy="9525"/>
          </a:xfrm>
          <a:custGeom>
            <a:avLst/>
            <a:gdLst/>
            <a:ahLst/>
            <a:cxnLst/>
            <a:rect l="0" t="0" r="0" b="0"/>
            <a:pathLst>
              <a:path w="904875" h="952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C3_direction1_a">
            <a:extLst>
              <a:ext uri="{FF2B5EF4-FFF2-40B4-BE49-F238E27FC236}">
                <a16:creationId xmlns:a16="http://schemas.microsoft.com/office/drawing/2014/main" id="{441606EA-B108-46F3-A155-2F444A8265E4}"/>
              </a:ext>
            </a:extLst>
          </p:cNvPr>
          <p:cNvSpPr>
            <a:spLocks noGrp="1"/>
          </p:cNvSpPr>
          <p:nvPr/>
        </p:nvSpPr>
        <p:spPr>
          <a:xfrm>
            <a:off x="3757317" y="398145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C3_direction1_b">
            <a:extLst>
              <a:ext uri="{FF2B5EF4-FFF2-40B4-BE49-F238E27FC236}">
                <a16:creationId xmlns:a16="http://schemas.microsoft.com/office/drawing/2014/main" id="{82FA7C68-55C7-43C7-8D32-157D7B5D0A8D}"/>
              </a:ext>
            </a:extLst>
          </p:cNvPr>
          <p:cNvSpPr>
            <a:spLocks noGrp="1"/>
          </p:cNvSpPr>
          <p:nvPr/>
        </p:nvSpPr>
        <p:spPr>
          <a:xfrm>
            <a:off x="3757317" y="392665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6" name="param2">
            <a:extLst>
              <a:ext uri="{FF2B5EF4-FFF2-40B4-BE49-F238E27FC236}">
                <a16:creationId xmlns:a16="http://schemas.microsoft.com/office/drawing/2014/main" id="{B248451C-F39E-41D5-A55A-B8DC41FE57B0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99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w₃</a:t>
            </a:r>
          </a:p>
        </p:txBody>
      </p:sp>
      <p:sp>
        <p:nvSpPr>
          <p:cNvPr id="17" name="paramTrack2">
            <a:extLst>
              <a:ext uri="{FF2B5EF4-FFF2-40B4-BE49-F238E27FC236}">
                <a16:creationId xmlns:a16="http://schemas.microsoft.com/office/drawing/2014/main" id="{CC7D9A30-82F0-44D5-9A43-ACE81185826B}"/>
              </a:ext>
            </a:extLst>
          </p:cNvPr>
          <p:cNvSpPr>
            <a:spLocks noGrp="1"/>
          </p:cNvSpPr>
          <p:nvPr/>
        </p:nvSpPr>
        <p:spPr>
          <a:xfrm>
            <a:off x="1819275" y="4943475"/>
            <a:ext cx="2305050" cy="9525"/>
          </a:xfrm>
          <a:custGeom>
            <a:avLst/>
            <a:gdLst/>
            <a:ahLst/>
            <a:cxnLst/>
            <a:rect l="0" t="0" r="0" b="0"/>
            <a:pathLst>
              <a:path w="2305050" h="9525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8" name="paramMarker2">
            <a:extLst>
              <a:ext uri="{FF2B5EF4-FFF2-40B4-BE49-F238E27FC236}">
                <a16:creationId xmlns:a16="http://schemas.microsoft.com/office/drawing/2014/main" id="{66ED6AD7-9AC6-4C72-9C51-DC5D24355DDE}"/>
              </a:ext>
            </a:extLst>
          </p:cNvPr>
          <p:cNvSpPr>
            <a:spLocks noGrp="1"/>
          </p:cNvSpPr>
          <p:nvPr/>
        </p:nvSpPr>
        <p:spPr>
          <a:xfrm>
            <a:off x="2924175" y="4838700"/>
            <a:ext cx="57150" cy="209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C3_direction2">
            <a:extLst>
              <a:ext uri="{FF2B5EF4-FFF2-40B4-BE49-F238E27FC236}">
                <a16:creationId xmlns:a16="http://schemas.microsoft.com/office/drawing/2014/main" id="{4AB35C63-698B-458F-85B6-4B0F04CCFEB3}"/>
              </a:ext>
            </a:extLst>
          </p:cNvPr>
          <p:cNvSpPr>
            <a:spLocks noGrp="1"/>
          </p:cNvSpPr>
          <p:nvPr/>
        </p:nvSpPr>
        <p:spPr>
          <a:xfrm>
            <a:off x="2714625" y="4762500"/>
            <a:ext cx="238125" cy="9525"/>
          </a:xfrm>
          <a:custGeom>
            <a:avLst/>
            <a:gdLst/>
            <a:ahLst/>
            <a:cxnLst/>
            <a:rect l="0" t="0" r="0" b="0"/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0" name="C3_direction2_a">
            <a:extLst>
              <a:ext uri="{FF2B5EF4-FFF2-40B4-BE49-F238E27FC236}">
                <a16:creationId xmlns:a16="http://schemas.microsoft.com/office/drawing/2014/main" id="{44271A78-3D01-4271-A7C3-4F06C577F47B}"/>
              </a:ext>
            </a:extLst>
          </p:cNvPr>
          <p:cNvSpPr>
            <a:spLocks noGrp="1"/>
          </p:cNvSpPr>
          <p:nvPr/>
        </p:nvSpPr>
        <p:spPr>
          <a:xfrm>
            <a:off x="2714625" y="47077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1" name="C3_direction2_b">
            <a:extLst>
              <a:ext uri="{FF2B5EF4-FFF2-40B4-BE49-F238E27FC236}">
                <a16:creationId xmlns:a16="http://schemas.microsoft.com/office/drawing/2014/main" id="{91FB34B3-03FC-40FE-A68E-5CFEFE64E7B6}"/>
              </a:ext>
            </a:extLst>
          </p:cNvPr>
          <p:cNvSpPr>
            <a:spLocks noGrp="1"/>
          </p:cNvSpPr>
          <p:nvPr/>
        </p:nvSpPr>
        <p:spPr>
          <a:xfrm>
            <a:off x="2714625" y="47625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0" name="C2_rate">
            <a:extLst>
              <a:ext uri="{FF2B5EF4-FFF2-40B4-BE49-F238E27FC236}">
                <a16:creationId xmlns:a16="http://schemas.microsoft.com/office/drawing/2014/main" id="{E8749F29-081C-4E8B-8278-F6FAA92B1F33}"/>
              </a:ext>
            </a:extLst>
          </p:cNvPr>
          <p:cNvSpPr>
            <a:spLocks noGrp="1"/>
          </p:cNvSpPr>
          <p:nvPr/>
        </p:nvSpPr>
        <p:spPr>
          <a:xfrm>
            <a:off x="5086350" y="1734726"/>
            <a:ext cx="6296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η = 0.1</a:t>
            </a:r>
          </a:p>
        </p:txBody>
      </p:sp>
      <p:sp>
        <p:nvSpPr>
          <p:cNvPr id="31" name="C4_conclusion">
            <a:extLst>
              <a:ext uri="{FF2B5EF4-FFF2-40B4-BE49-F238E27FC236}">
                <a16:creationId xmlns:a16="http://schemas.microsoft.com/office/drawing/2014/main" id="{427602E5-AEE4-4ECF-8DE5-FA501215A81F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梯度是一组局部变化率</a:t>
            </a:r>
          </a:p>
        </p:txBody>
      </p:sp>
    </p:spTree>
    <p:extLst>
      <p:ext uri="{BB962C8B-B14F-4D97-AF65-F5344CB8AC3E}">
        <p14:creationId xmlns:p14="http://schemas.microsoft.com/office/powerpoint/2010/main" val="13446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">
            <a:extLst>
              <a:ext uri="{FF2B5EF4-FFF2-40B4-BE49-F238E27FC236}">
                <a16:creationId xmlns:a16="http://schemas.microsoft.com/office/drawing/2014/main" id="{9C63E1E0-7D62-4BBE-B48E-4021652FE45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学习率改变更新幅度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00BFC8E-D442-4BF2-95DF-38011279C228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1AB6AFC-B0BD-49E2-8968-116800029414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同一函数 L = (w − 4)²，同一起点 w = 6</a:t>
            </a:r>
          </a:p>
        </p:txBody>
      </p:sp>
      <p:sp>
        <p:nvSpPr>
          <p:cNvPr id="4" name="rate0">
            <a:extLst>
              <a:ext uri="{FF2B5EF4-FFF2-40B4-BE49-F238E27FC236}">
                <a16:creationId xmlns:a16="http://schemas.microsoft.com/office/drawing/2014/main" id="{1EA799A5-FB6C-4CB0-9038-8316AFB3D761}"/>
              </a:ext>
            </a:extLst>
          </p:cNvPr>
          <p:cNvSpPr>
            <a:spLocks noGrp="1"/>
          </p:cNvSpPr>
          <p:nvPr/>
        </p:nvSpPr>
        <p:spPr>
          <a:xfrm>
            <a:off x="885825" y="19050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η = 0.05</a:t>
            </a:r>
          </a:p>
        </p:txBody>
      </p:sp>
      <p:sp>
        <p:nvSpPr>
          <p:cNvPr id="5" name="xaxis0">
            <a:extLst>
              <a:ext uri="{FF2B5EF4-FFF2-40B4-BE49-F238E27FC236}">
                <a16:creationId xmlns:a16="http://schemas.microsoft.com/office/drawing/2014/main" id="{FED97A57-E613-44F4-916A-83FB66E5FE6D}"/>
              </a:ext>
            </a:extLst>
          </p:cNvPr>
          <p:cNvSpPr>
            <a:spLocks noGrp="1"/>
          </p:cNvSpPr>
          <p:nvPr/>
        </p:nvSpPr>
        <p:spPr>
          <a:xfrm>
            <a:off x="762000" y="4829175"/>
            <a:ext cx="3095625" cy="9525"/>
          </a:xfrm>
          <a:custGeom>
            <a:avLst/>
            <a:gdLst/>
            <a:ahLst/>
            <a:cxnLst/>
            <a:rect l="0" t="0" r="0" b="0"/>
            <a:pathLst>
              <a:path w="3095625" h="9525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6" name="xaxis0_a">
            <a:extLst>
              <a:ext uri="{FF2B5EF4-FFF2-40B4-BE49-F238E27FC236}">
                <a16:creationId xmlns:a16="http://schemas.microsoft.com/office/drawing/2014/main" id="{67BF75CB-C2EB-47A6-A933-E1D991ED3D7F}"/>
              </a:ext>
            </a:extLst>
          </p:cNvPr>
          <p:cNvSpPr>
            <a:spLocks noGrp="1"/>
          </p:cNvSpPr>
          <p:nvPr/>
        </p:nvSpPr>
        <p:spPr>
          <a:xfrm>
            <a:off x="3757317" y="48291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" name="xaxis0_b">
            <a:extLst>
              <a:ext uri="{FF2B5EF4-FFF2-40B4-BE49-F238E27FC236}">
                <a16:creationId xmlns:a16="http://schemas.microsoft.com/office/drawing/2014/main" id="{A0B0E5F4-ABD7-405E-88AB-4BB011CB4A60}"/>
              </a:ext>
            </a:extLst>
          </p:cNvPr>
          <p:cNvSpPr>
            <a:spLocks noGrp="1"/>
          </p:cNvSpPr>
          <p:nvPr/>
        </p:nvSpPr>
        <p:spPr>
          <a:xfrm>
            <a:off x="3757317" y="47743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8" name="yaxis0">
            <a:extLst>
              <a:ext uri="{FF2B5EF4-FFF2-40B4-BE49-F238E27FC236}">
                <a16:creationId xmlns:a16="http://schemas.microsoft.com/office/drawing/2014/main" id="{E1C616AC-B7C1-4524-AD42-82FE5F29429D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9525" cy="2428875"/>
          </a:xfrm>
          <a:custGeom>
            <a:avLst/>
            <a:gdLst/>
            <a:ahLst/>
            <a:cxnLst/>
            <a:rect l="0" t="0" r="0" b="0"/>
            <a:pathLst>
              <a:path w="9525" h="2428875">
                <a:moveTo>
                  <a:pt x="0" y="24288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9" name="yaxis0_a">
            <a:extLst>
              <a:ext uri="{FF2B5EF4-FFF2-40B4-BE49-F238E27FC236}">
                <a16:creationId xmlns:a16="http://schemas.microsoft.com/office/drawing/2014/main" id="{F4ACAB23-DA62-4AD2-9DFB-1C1B8FA050A9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10" name="yaxis0_b">
            <a:extLst>
              <a:ext uri="{FF2B5EF4-FFF2-40B4-BE49-F238E27FC236}">
                <a16:creationId xmlns:a16="http://schemas.microsoft.com/office/drawing/2014/main" id="{7B3C010A-C852-4F9C-AAF7-0AFBDFEEB732}"/>
              </a:ext>
            </a:extLst>
          </p:cNvPr>
          <p:cNvSpPr>
            <a:spLocks noGrp="1"/>
          </p:cNvSpPr>
          <p:nvPr/>
        </p:nvSpPr>
        <p:spPr>
          <a:xfrm>
            <a:off x="707202" y="24003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11" name="xt00">
            <a:extLst>
              <a:ext uri="{FF2B5EF4-FFF2-40B4-BE49-F238E27FC236}">
                <a16:creationId xmlns:a16="http://schemas.microsoft.com/office/drawing/2014/main" id="{66C3A51C-6856-4171-A29E-F874AEE34E4B}"/>
              </a:ext>
            </a:extLst>
          </p:cNvPr>
          <p:cNvSpPr>
            <a:spLocks noGrp="1"/>
          </p:cNvSpPr>
          <p:nvPr/>
        </p:nvSpPr>
        <p:spPr>
          <a:xfrm>
            <a:off x="714375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xt04">
            <a:extLst>
              <a:ext uri="{FF2B5EF4-FFF2-40B4-BE49-F238E27FC236}">
                <a16:creationId xmlns:a16="http://schemas.microsoft.com/office/drawing/2014/main" id="{72B5DAC4-685C-4774-944E-283AED4CEC20}"/>
              </a:ext>
            </a:extLst>
          </p:cNvPr>
          <p:cNvSpPr>
            <a:spLocks noGrp="1"/>
          </p:cNvSpPr>
          <p:nvPr/>
        </p:nvSpPr>
        <p:spPr>
          <a:xfrm>
            <a:off x="2214563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xt08">
            <a:extLst>
              <a:ext uri="{FF2B5EF4-FFF2-40B4-BE49-F238E27FC236}">
                <a16:creationId xmlns:a16="http://schemas.microsoft.com/office/drawing/2014/main" id="{CDC06CA2-AD15-4F6F-9FC9-4B40D6DA5154}"/>
              </a:ext>
            </a:extLst>
          </p:cNvPr>
          <p:cNvSpPr>
            <a:spLocks noGrp="1"/>
          </p:cNvSpPr>
          <p:nvPr/>
        </p:nvSpPr>
        <p:spPr>
          <a:xfrm>
            <a:off x="3714750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4" name="yt00">
            <a:extLst>
              <a:ext uri="{FF2B5EF4-FFF2-40B4-BE49-F238E27FC236}">
                <a16:creationId xmlns:a16="http://schemas.microsoft.com/office/drawing/2014/main" id="{0B007B34-BE8A-49D1-BB9E-35DB6B565A4A}"/>
              </a:ext>
            </a:extLst>
          </p:cNvPr>
          <p:cNvSpPr>
            <a:spLocks noGrp="1"/>
          </p:cNvSpPr>
          <p:nvPr/>
        </p:nvSpPr>
        <p:spPr>
          <a:xfrm>
            <a:off x="714375" y="4829175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5" name="yl00">
            <a:extLst>
              <a:ext uri="{FF2B5EF4-FFF2-40B4-BE49-F238E27FC236}">
                <a16:creationId xmlns:a16="http://schemas.microsoft.com/office/drawing/2014/main" id="{BC8AA67D-A054-410F-9BA9-B0FF34AAF344}"/>
              </a:ext>
            </a:extLst>
          </p:cNvPr>
          <p:cNvSpPr>
            <a:spLocks noGrp="1"/>
          </p:cNvSpPr>
          <p:nvPr/>
        </p:nvSpPr>
        <p:spPr>
          <a:xfrm>
            <a:off x="476250" y="4705350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" name="yt08">
            <a:extLst>
              <a:ext uri="{FF2B5EF4-FFF2-40B4-BE49-F238E27FC236}">
                <a16:creationId xmlns:a16="http://schemas.microsoft.com/office/drawing/2014/main" id="{0332FDC7-81A9-47A9-9E7B-56A20019F3C2}"/>
              </a:ext>
            </a:extLst>
          </p:cNvPr>
          <p:cNvSpPr>
            <a:spLocks noGrp="1"/>
          </p:cNvSpPr>
          <p:nvPr/>
        </p:nvSpPr>
        <p:spPr>
          <a:xfrm>
            <a:off x="714375" y="3730999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7" name="yl08">
            <a:extLst>
              <a:ext uri="{FF2B5EF4-FFF2-40B4-BE49-F238E27FC236}">
                <a16:creationId xmlns:a16="http://schemas.microsoft.com/office/drawing/2014/main" id="{A68CFCBF-6A3E-48FC-BB36-941D66072F8E}"/>
              </a:ext>
            </a:extLst>
          </p:cNvPr>
          <p:cNvSpPr>
            <a:spLocks noGrp="1"/>
          </p:cNvSpPr>
          <p:nvPr/>
        </p:nvSpPr>
        <p:spPr>
          <a:xfrm>
            <a:off x="476250" y="3607174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8" name="yt016">
            <a:extLst>
              <a:ext uri="{FF2B5EF4-FFF2-40B4-BE49-F238E27FC236}">
                <a16:creationId xmlns:a16="http://schemas.microsoft.com/office/drawing/2014/main" id="{623E9963-756B-4087-BF4A-2E3CC6F63284}"/>
              </a:ext>
            </a:extLst>
          </p:cNvPr>
          <p:cNvSpPr>
            <a:spLocks noGrp="1"/>
          </p:cNvSpPr>
          <p:nvPr/>
        </p:nvSpPr>
        <p:spPr>
          <a:xfrm>
            <a:off x="714375" y="2632822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19" name="yl016">
            <a:extLst>
              <a:ext uri="{FF2B5EF4-FFF2-40B4-BE49-F238E27FC236}">
                <a16:creationId xmlns:a16="http://schemas.microsoft.com/office/drawing/2014/main" id="{02318675-D41A-4F2E-8835-4AE5D3700813}"/>
              </a:ext>
            </a:extLst>
          </p:cNvPr>
          <p:cNvSpPr>
            <a:spLocks noGrp="1"/>
          </p:cNvSpPr>
          <p:nvPr/>
        </p:nvSpPr>
        <p:spPr>
          <a:xfrm>
            <a:off x="476250" y="2508997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20" name="wname0">
            <a:extLst>
              <a:ext uri="{FF2B5EF4-FFF2-40B4-BE49-F238E27FC236}">
                <a16:creationId xmlns:a16="http://schemas.microsoft.com/office/drawing/2014/main" id="{89A1F843-D8B7-4368-8BF4-0D64D3D5D0C4}"/>
              </a:ext>
            </a:extLst>
          </p:cNvPr>
          <p:cNvSpPr>
            <a:spLocks noGrp="1"/>
          </p:cNvSpPr>
          <p:nvPr/>
        </p:nvSpPr>
        <p:spPr>
          <a:xfrm>
            <a:off x="3600450" y="5162550"/>
            <a:ext cx="381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21" name="Lname0">
            <a:extLst>
              <a:ext uri="{FF2B5EF4-FFF2-40B4-BE49-F238E27FC236}">
                <a16:creationId xmlns:a16="http://schemas.microsoft.com/office/drawing/2014/main" id="{30061254-6367-45FF-901C-223EDFEC98CE}"/>
              </a:ext>
            </a:extLst>
          </p:cNvPr>
          <p:cNvSpPr>
            <a:spLocks noGrp="1"/>
          </p:cNvSpPr>
          <p:nvPr/>
        </p:nvSpPr>
        <p:spPr>
          <a:xfrm>
            <a:off x="476250" y="233362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22" name="curve0">
            <a:extLst>
              <a:ext uri="{FF2B5EF4-FFF2-40B4-BE49-F238E27FC236}">
                <a16:creationId xmlns:a16="http://schemas.microsoft.com/office/drawing/2014/main" id="{8E7E9E31-33DD-4782-9F6F-3A5D54B64D37}"/>
              </a:ext>
            </a:extLst>
          </p:cNvPr>
          <p:cNvSpPr>
            <a:spLocks noGrp="1"/>
          </p:cNvSpPr>
          <p:nvPr/>
        </p:nvSpPr>
        <p:spPr>
          <a:xfrm>
            <a:off x="762000" y="2632822"/>
            <a:ext cx="3000375" cy="2196353"/>
          </a:xfrm>
          <a:custGeom>
            <a:avLst/>
            <a:gdLst/>
            <a:ahLst/>
            <a:cxnLst/>
            <a:rect l="0" t="0" r="0" b="0"/>
            <a:pathLst>
              <a:path w="3000375" h="2196353">
                <a:moveTo>
                  <a:pt x="0" y="0"/>
                </a:moveTo>
                <a:lnTo>
                  <a:pt x="25003" y="72602"/>
                </a:lnTo>
                <a:lnTo>
                  <a:pt x="50006" y="143983"/>
                </a:lnTo>
                <a:lnTo>
                  <a:pt x="75009" y="214144"/>
                </a:lnTo>
                <a:lnTo>
                  <a:pt x="100013" y="283085"/>
                </a:lnTo>
                <a:lnTo>
                  <a:pt x="125016" y="350806"/>
                </a:lnTo>
                <a:lnTo>
                  <a:pt x="150019" y="417307"/>
                </a:lnTo>
                <a:lnTo>
                  <a:pt x="175022" y="482588"/>
                </a:lnTo>
                <a:lnTo>
                  <a:pt x="200025" y="546648"/>
                </a:lnTo>
                <a:lnTo>
                  <a:pt x="225028" y="609488"/>
                </a:lnTo>
                <a:lnTo>
                  <a:pt x="250031" y="671108"/>
                </a:lnTo>
                <a:lnTo>
                  <a:pt x="275034" y="731508"/>
                </a:lnTo>
                <a:lnTo>
                  <a:pt x="300038" y="790687"/>
                </a:lnTo>
                <a:lnTo>
                  <a:pt x="325041" y="848646"/>
                </a:lnTo>
                <a:lnTo>
                  <a:pt x="350044" y="905385"/>
                </a:lnTo>
                <a:lnTo>
                  <a:pt x="375047" y="960904"/>
                </a:lnTo>
                <a:lnTo>
                  <a:pt x="400050" y="1015203"/>
                </a:lnTo>
                <a:lnTo>
                  <a:pt x="425053" y="1068282"/>
                </a:lnTo>
                <a:lnTo>
                  <a:pt x="450056" y="1120140"/>
                </a:lnTo>
                <a:lnTo>
                  <a:pt x="475059" y="1170778"/>
                </a:lnTo>
                <a:lnTo>
                  <a:pt x="500063" y="1220196"/>
                </a:lnTo>
                <a:lnTo>
                  <a:pt x="525066" y="1268394"/>
                </a:lnTo>
                <a:lnTo>
                  <a:pt x="550069" y="1315371"/>
                </a:lnTo>
                <a:lnTo>
                  <a:pt x="575072" y="1361129"/>
                </a:lnTo>
                <a:lnTo>
                  <a:pt x="600075" y="1405666"/>
                </a:lnTo>
                <a:lnTo>
                  <a:pt x="625078" y="1448983"/>
                </a:lnTo>
                <a:lnTo>
                  <a:pt x="650081" y="1491080"/>
                </a:lnTo>
                <a:lnTo>
                  <a:pt x="675084" y="1531956"/>
                </a:lnTo>
                <a:lnTo>
                  <a:pt x="700088" y="1571613"/>
                </a:lnTo>
                <a:lnTo>
                  <a:pt x="725091" y="1610049"/>
                </a:lnTo>
                <a:lnTo>
                  <a:pt x="750094" y="1647265"/>
                </a:lnTo>
                <a:lnTo>
                  <a:pt x="775097" y="1683260"/>
                </a:lnTo>
                <a:lnTo>
                  <a:pt x="800100" y="1718036"/>
                </a:lnTo>
                <a:lnTo>
                  <a:pt x="825103" y="1751591"/>
                </a:lnTo>
                <a:lnTo>
                  <a:pt x="850106" y="1783927"/>
                </a:lnTo>
                <a:lnTo>
                  <a:pt x="875109" y="1815042"/>
                </a:lnTo>
                <a:lnTo>
                  <a:pt x="900113" y="1844936"/>
                </a:lnTo>
                <a:lnTo>
                  <a:pt x="925116" y="1873611"/>
                </a:lnTo>
                <a:lnTo>
                  <a:pt x="950119" y="1901065"/>
                </a:lnTo>
                <a:lnTo>
                  <a:pt x="975122" y="1927300"/>
                </a:lnTo>
                <a:lnTo>
                  <a:pt x="1000125" y="1952314"/>
                </a:lnTo>
                <a:lnTo>
                  <a:pt x="1025128" y="1976108"/>
                </a:lnTo>
                <a:lnTo>
                  <a:pt x="1050131" y="1998681"/>
                </a:lnTo>
                <a:lnTo>
                  <a:pt x="1075134" y="2020035"/>
                </a:lnTo>
                <a:lnTo>
                  <a:pt x="1100138" y="2040168"/>
                </a:lnTo>
                <a:lnTo>
                  <a:pt x="1125141" y="2059081"/>
                </a:lnTo>
                <a:lnTo>
                  <a:pt x="1150144" y="2076774"/>
                </a:lnTo>
                <a:lnTo>
                  <a:pt x="1175147" y="2093246"/>
                </a:lnTo>
                <a:lnTo>
                  <a:pt x="1200150" y="2108499"/>
                </a:lnTo>
                <a:lnTo>
                  <a:pt x="1225153" y="2122531"/>
                </a:lnTo>
                <a:lnTo>
                  <a:pt x="1250156" y="2135343"/>
                </a:lnTo>
                <a:lnTo>
                  <a:pt x="1275159" y="2146935"/>
                </a:lnTo>
                <a:lnTo>
                  <a:pt x="1300163" y="2157307"/>
                </a:lnTo>
                <a:lnTo>
                  <a:pt x="1325166" y="2166458"/>
                </a:lnTo>
                <a:lnTo>
                  <a:pt x="1350169" y="2174389"/>
                </a:lnTo>
                <a:lnTo>
                  <a:pt x="1375172" y="2181100"/>
                </a:lnTo>
                <a:lnTo>
                  <a:pt x="1400175" y="2186591"/>
                </a:lnTo>
                <a:lnTo>
                  <a:pt x="1425178" y="2190862"/>
                </a:lnTo>
                <a:lnTo>
                  <a:pt x="1450181" y="2193913"/>
                </a:lnTo>
                <a:lnTo>
                  <a:pt x="1475184" y="2195743"/>
                </a:lnTo>
                <a:lnTo>
                  <a:pt x="1500188" y="2196353"/>
                </a:lnTo>
                <a:lnTo>
                  <a:pt x="1525191" y="2195743"/>
                </a:lnTo>
                <a:lnTo>
                  <a:pt x="1550194" y="2193913"/>
                </a:lnTo>
                <a:lnTo>
                  <a:pt x="1575197" y="2190862"/>
                </a:lnTo>
                <a:lnTo>
                  <a:pt x="1600200" y="2186591"/>
                </a:lnTo>
                <a:lnTo>
                  <a:pt x="1625203" y="2181100"/>
                </a:lnTo>
                <a:lnTo>
                  <a:pt x="1650206" y="2174389"/>
                </a:lnTo>
                <a:lnTo>
                  <a:pt x="1675209" y="2166458"/>
                </a:lnTo>
                <a:lnTo>
                  <a:pt x="1700213" y="2157307"/>
                </a:lnTo>
                <a:lnTo>
                  <a:pt x="1725216" y="2146935"/>
                </a:lnTo>
                <a:lnTo>
                  <a:pt x="1750219" y="2135343"/>
                </a:lnTo>
                <a:lnTo>
                  <a:pt x="1775222" y="2122531"/>
                </a:lnTo>
                <a:lnTo>
                  <a:pt x="1800225" y="2108499"/>
                </a:lnTo>
                <a:lnTo>
                  <a:pt x="1825228" y="2093246"/>
                </a:lnTo>
                <a:lnTo>
                  <a:pt x="1850231" y="2076774"/>
                </a:lnTo>
                <a:lnTo>
                  <a:pt x="1875234" y="2059081"/>
                </a:lnTo>
                <a:lnTo>
                  <a:pt x="1900238" y="2040168"/>
                </a:lnTo>
                <a:lnTo>
                  <a:pt x="1925241" y="2020035"/>
                </a:lnTo>
                <a:lnTo>
                  <a:pt x="1950244" y="1998681"/>
                </a:lnTo>
                <a:lnTo>
                  <a:pt x="1975247" y="1976108"/>
                </a:lnTo>
                <a:lnTo>
                  <a:pt x="2000250" y="1952314"/>
                </a:lnTo>
                <a:lnTo>
                  <a:pt x="2025253" y="1927300"/>
                </a:lnTo>
                <a:lnTo>
                  <a:pt x="2050256" y="1901065"/>
                </a:lnTo>
                <a:lnTo>
                  <a:pt x="2075259" y="1873611"/>
                </a:lnTo>
                <a:lnTo>
                  <a:pt x="2100263" y="1844936"/>
                </a:lnTo>
                <a:lnTo>
                  <a:pt x="2125266" y="1815042"/>
                </a:lnTo>
                <a:lnTo>
                  <a:pt x="2150269" y="1783927"/>
                </a:lnTo>
                <a:lnTo>
                  <a:pt x="2175272" y="1751591"/>
                </a:lnTo>
                <a:lnTo>
                  <a:pt x="2200275" y="1718036"/>
                </a:lnTo>
                <a:lnTo>
                  <a:pt x="2225278" y="1683260"/>
                </a:lnTo>
                <a:lnTo>
                  <a:pt x="2250281" y="1647265"/>
                </a:lnTo>
                <a:lnTo>
                  <a:pt x="2275284" y="1610049"/>
                </a:lnTo>
                <a:lnTo>
                  <a:pt x="2300288" y="1571613"/>
                </a:lnTo>
                <a:lnTo>
                  <a:pt x="2325291" y="1531956"/>
                </a:lnTo>
                <a:lnTo>
                  <a:pt x="2350294" y="1491080"/>
                </a:lnTo>
                <a:lnTo>
                  <a:pt x="2375297" y="1448983"/>
                </a:lnTo>
                <a:lnTo>
                  <a:pt x="2400300" y="1405666"/>
                </a:lnTo>
                <a:lnTo>
                  <a:pt x="2425303" y="1361129"/>
                </a:lnTo>
                <a:lnTo>
                  <a:pt x="2450306" y="1315371"/>
                </a:lnTo>
                <a:lnTo>
                  <a:pt x="2475309" y="1268394"/>
                </a:lnTo>
                <a:lnTo>
                  <a:pt x="2500313" y="1220196"/>
                </a:lnTo>
                <a:lnTo>
                  <a:pt x="2525316" y="1170778"/>
                </a:lnTo>
                <a:lnTo>
                  <a:pt x="2550319" y="1120140"/>
                </a:lnTo>
                <a:lnTo>
                  <a:pt x="2575322" y="1068282"/>
                </a:lnTo>
                <a:lnTo>
                  <a:pt x="2600325" y="1015203"/>
                </a:lnTo>
                <a:lnTo>
                  <a:pt x="2625328" y="960904"/>
                </a:lnTo>
                <a:lnTo>
                  <a:pt x="2650331" y="905385"/>
                </a:lnTo>
                <a:lnTo>
                  <a:pt x="2675334" y="848646"/>
                </a:lnTo>
                <a:lnTo>
                  <a:pt x="2700338" y="790687"/>
                </a:lnTo>
                <a:lnTo>
                  <a:pt x="2725341" y="731508"/>
                </a:lnTo>
                <a:lnTo>
                  <a:pt x="2750344" y="671108"/>
                </a:lnTo>
                <a:lnTo>
                  <a:pt x="2775347" y="609488"/>
                </a:lnTo>
                <a:lnTo>
                  <a:pt x="2800350" y="546648"/>
                </a:lnTo>
                <a:lnTo>
                  <a:pt x="2825353" y="482588"/>
                </a:lnTo>
                <a:lnTo>
                  <a:pt x="2850356" y="417307"/>
                </a:lnTo>
                <a:lnTo>
                  <a:pt x="2875359" y="350806"/>
                </a:lnTo>
                <a:lnTo>
                  <a:pt x="2900363" y="283085"/>
                </a:lnTo>
                <a:lnTo>
                  <a:pt x="2925366" y="214144"/>
                </a:lnTo>
                <a:lnTo>
                  <a:pt x="2950369" y="143983"/>
                </a:lnTo>
                <a:lnTo>
                  <a:pt x="2975372" y="72602"/>
                </a:lnTo>
                <a:lnTo>
                  <a:pt x="3000375" y="0"/>
                </a:lnTo>
              </a:path>
            </a:pathLst>
          </a:custGeom>
          <a:noFill/>
          <a:ln w="23813">
            <a:solidFill>
              <a:srgbClr val="CBD2DC"/>
            </a:solidFill>
            <a:prstDash val="solid"/>
          </a:ln>
        </p:spPr>
      </p:sp>
      <p:sp>
        <p:nvSpPr>
          <p:cNvPr id="23" name="start0">
            <a:extLst>
              <a:ext uri="{FF2B5EF4-FFF2-40B4-BE49-F238E27FC236}">
                <a16:creationId xmlns:a16="http://schemas.microsoft.com/office/drawing/2014/main" id="{E2C98053-DD21-4C46-85AB-048266305004}"/>
              </a:ext>
            </a:extLst>
          </p:cNvPr>
          <p:cNvSpPr>
            <a:spLocks noGrp="1"/>
          </p:cNvSpPr>
          <p:nvPr/>
        </p:nvSpPr>
        <p:spPr>
          <a:xfrm>
            <a:off x="2955131" y="4222937"/>
            <a:ext cx="114300" cy="1143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657182"/>
            </a:solidFill>
            <a:prstDash val="solid"/>
          </a:ln>
        </p:spPr>
      </p:sp>
      <p:sp>
        <p:nvSpPr>
          <p:cNvPr id="24" name="startLabel0">
            <a:extLst>
              <a:ext uri="{FF2B5EF4-FFF2-40B4-BE49-F238E27FC236}">
                <a16:creationId xmlns:a16="http://schemas.microsoft.com/office/drawing/2014/main" id="{5932EF05-9C5B-40B3-A1DC-E3621EC347E2}"/>
              </a:ext>
            </a:extLst>
          </p:cNvPr>
          <p:cNvSpPr>
            <a:spLocks noGrp="1"/>
          </p:cNvSpPr>
          <p:nvPr/>
        </p:nvSpPr>
        <p:spPr>
          <a:xfrm>
            <a:off x="3088481" y="3984812"/>
            <a:ext cx="85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25" name="C1_step0">
            <a:extLst>
              <a:ext uri="{FF2B5EF4-FFF2-40B4-BE49-F238E27FC236}">
                <a16:creationId xmlns:a16="http://schemas.microsoft.com/office/drawing/2014/main" id="{60BD2A12-430C-4FF1-B125-38DF2E31805B}"/>
              </a:ext>
            </a:extLst>
          </p:cNvPr>
          <p:cNvSpPr>
            <a:spLocks noGrp="1"/>
          </p:cNvSpPr>
          <p:nvPr/>
        </p:nvSpPr>
        <p:spPr>
          <a:xfrm>
            <a:off x="2937272" y="4280087"/>
            <a:ext cx="75009" cy="104327"/>
          </a:xfrm>
          <a:custGeom>
            <a:avLst/>
            <a:gdLst/>
            <a:ahLst/>
            <a:cxnLst/>
            <a:rect l="0" t="0" r="0" b="0"/>
            <a:pathLst>
              <a:path w="75009" h="104327">
                <a:moveTo>
                  <a:pt x="75009" y="0"/>
                </a:moveTo>
                <a:lnTo>
                  <a:pt x="0" y="104327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6" name="C1_step0_a">
            <a:extLst>
              <a:ext uri="{FF2B5EF4-FFF2-40B4-BE49-F238E27FC236}">
                <a16:creationId xmlns:a16="http://schemas.microsoft.com/office/drawing/2014/main" id="{F1058745-C361-4E7E-BBF1-BD7243747468}"/>
              </a:ext>
            </a:extLst>
          </p:cNvPr>
          <p:cNvSpPr>
            <a:spLocks noGrp="1"/>
          </p:cNvSpPr>
          <p:nvPr/>
        </p:nvSpPr>
        <p:spPr>
          <a:xfrm>
            <a:off x="2937272" y="4270982"/>
            <a:ext cx="14064" cy="113431"/>
          </a:xfrm>
          <a:custGeom>
            <a:avLst/>
            <a:gdLst/>
            <a:ahLst/>
            <a:cxnLst/>
            <a:rect l="0" t="0" r="0" b="0"/>
            <a:pathLst>
              <a:path w="14064" h="113431">
                <a:moveTo>
                  <a:pt x="0" y="113431"/>
                </a:moveTo>
                <a:lnTo>
                  <a:pt x="14064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7" name="C1_step0_b">
            <a:extLst>
              <a:ext uri="{FF2B5EF4-FFF2-40B4-BE49-F238E27FC236}">
                <a16:creationId xmlns:a16="http://schemas.microsoft.com/office/drawing/2014/main" id="{0C1DA4DB-F38C-45CA-BA80-12D25DFB79C5}"/>
              </a:ext>
            </a:extLst>
          </p:cNvPr>
          <p:cNvSpPr>
            <a:spLocks noGrp="1"/>
          </p:cNvSpPr>
          <p:nvPr/>
        </p:nvSpPr>
        <p:spPr>
          <a:xfrm>
            <a:off x="2937272" y="4334960"/>
            <a:ext cx="103048" cy="49453"/>
          </a:xfrm>
          <a:custGeom>
            <a:avLst/>
            <a:gdLst/>
            <a:ahLst/>
            <a:cxnLst/>
            <a:rect l="0" t="0" r="0" b="0"/>
            <a:pathLst>
              <a:path w="103048" h="49453">
                <a:moveTo>
                  <a:pt x="0" y="49453"/>
                </a:moveTo>
                <a:lnTo>
                  <a:pt x="103048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8" name="C1_point0">
            <a:extLst>
              <a:ext uri="{FF2B5EF4-FFF2-40B4-BE49-F238E27FC236}">
                <a16:creationId xmlns:a16="http://schemas.microsoft.com/office/drawing/2014/main" id="{38AF3C7B-3899-4C9D-9684-21255819E101}"/>
              </a:ext>
            </a:extLst>
          </p:cNvPr>
          <p:cNvSpPr>
            <a:spLocks noGrp="1"/>
          </p:cNvSpPr>
          <p:nvPr/>
        </p:nvSpPr>
        <p:spPr>
          <a:xfrm>
            <a:off x="2880122" y="4327264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C2_step0">
            <a:extLst>
              <a:ext uri="{FF2B5EF4-FFF2-40B4-BE49-F238E27FC236}">
                <a16:creationId xmlns:a16="http://schemas.microsoft.com/office/drawing/2014/main" id="{8D45066E-C42C-4D9F-99BB-31830B31313A}"/>
              </a:ext>
            </a:extLst>
          </p:cNvPr>
          <p:cNvSpPr>
            <a:spLocks noGrp="1"/>
          </p:cNvSpPr>
          <p:nvPr/>
        </p:nvSpPr>
        <p:spPr>
          <a:xfrm>
            <a:off x="2869763" y="4384414"/>
            <a:ext cx="67508" cy="84505"/>
          </a:xfrm>
          <a:custGeom>
            <a:avLst/>
            <a:gdLst/>
            <a:ahLst/>
            <a:cxnLst/>
            <a:rect l="0" t="0" r="0" b="0"/>
            <a:pathLst>
              <a:path w="67508" h="84505">
                <a:moveTo>
                  <a:pt x="67508" y="0"/>
                </a:moveTo>
                <a:lnTo>
                  <a:pt x="0" y="84505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0" name="C2_step0_a">
            <a:extLst>
              <a:ext uri="{FF2B5EF4-FFF2-40B4-BE49-F238E27FC236}">
                <a16:creationId xmlns:a16="http://schemas.microsoft.com/office/drawing/2014/main" id="{B4E0A958-A3CA-4CA9-AD4B-13CD19D2A528}"/>
              </a:ext>
            </a:extLst>
          </p:cNvPr>
          <p:cNvSpPr>
            <a:spLocks noGrp="1"/>
          </p:cNvSpPr>
          <p:nvPr/>
        </p:nvSpPr>
        <p:spPr>
          <a:xfrm>
            <a:off x="2869763" y="4356345"/>
            <a:ext cx="19794" cy="112573"/>
          </a:xfrm>
          <a:custGeom>
            <a:avLst/>
            <a:gdLst/>
            <a:ahLst/>
            <a:cxnLst/>
            <a:rect l="0" t="0" r="0" b="0"/>
            <a:pathLst>
              <a:path w="19794" h="112573">
                <a:moveTo>
                  <a:pt x="0" y="112573"/>
                </a:moveTo>
                <a:lnTo>
                  <a:pt x="19794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1" name="C2_step0_b">
            <a:extLst>
              <a:ext uri="{FF2B5EF4-FFF2-40B4-BE49-F238E27FC236}">
                <a16:creationId xmlns:a16="http://schemas.microsoft.com/office/drawing/2014/main" id="{A6A81F71-80DA-4D71-8AA9-9BABEAB5CD93}"/>
              </a:ext>
            </a:extLst>
          </p:cNvPr>
          <p:cNvSpPr>
            <a:spLocks noGrp="1"/>
          </p:cNvSpPr>
          <p:nvPr/>
        </p:nvSpPr>
        <p:spPr>
          <a:xfrm>
            <a:off x="2869763" y="4424751"/>
            <a:ext cx="105422" cy="44167"/>
          </a:xfrm>
          <a:custGeom>
            <a:avLst/>
            <a:gdLst/>
            <a:ahLst/>
            <a:cxnLst/>
            <a:rect l="0" t="0" r="0" b="0"/>
            <a:pathLst>
              <a:path w="105422" h="44167">
                <a:moveTo>
                  <a:pt x="0" y="44167"/>
                </a:moveTo>
                <a:lnTo>
                  <a:pt x="105422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2" name="C2_point0">
            <a:extLst>
              <a:ext uri="{FF2B5EF4-FFF2-40B4-BE49-F238E27FC236}">
                <a16:creationId xmlns:a16="http://schemas.microsoft.com/office/drawing/2014/main" id="{DA9134BB-4A90-4EC7-B65C-35E521E07570}"/>
              </a:ext>
            </a:extLst>
          </p:cNvPr>
          <p:cNvSpPr>
            <a:spLocks noGrp="1"/>
          </p:cNvSpPr>
          <p:nvPr/>
        </p:nvSpPr>
        <p:spPr>
          <a:xfrm>
            <a:off x="2812613" y="4411768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3" name="C3_step0">
            <a:extLst>
              <a:ext uri="{FF2B5EF4-FFF2-40B4-BE49-F238E27FC236}">
                <a16:creationId xmlns:a16="http://schemas.microsoft.com/office/drawing/2014/main" id="{00A9C05C-E645-4BD1-9859-35CB8FCA4857}"/>
              </a:ext>
            </a:extLst>
          </p:cNvPr>
          <p:cNvSpPr>
            <a:spLocks noGrp="1"/>
          </p:cNvSpPr>
          <p:nvPr/>
        </p:nvSpPr>
        <p:spPr>
          <a:xfrm>
            <a:off x="2809006" y="4468918"/>
            <a:ext cx="60758" cy="68449"/>
          </a:xfrm>
          <a:custGeom>
            <a:avLst/>
            <a:gdLst/>
            <a:ahLst/>
            <a:cxnLst/>
            <a:rect l="0" t="0" r="0" b="0"/>
            <a:pathLst>
              <a:path w="60758" h="68449">
                <a:moveTo>
                  <a:pt x="60758" y="0"/>
                </a:moveTo>
                <a:lnTo>
                  <a:pt x="0" y="68449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4" name="C3_step0_a">
            <a:extLst>
              <a:ext uri="{FF2B5EF4-FFF2-40B4-BE49-F238E27FC236}">
                <a16:creationId xmlns:a16="http://schemas.microsoft.com/office/drawing/2014/main" id="{993D6DEF-CFCA-43A6-A952-0C961BB8F290}"/>
              </a:ext>
            </a:extLst>
          </p:cNvPr>
          <p:cNvSpPr>
            <a:spLocks noGrp="1"/>
          </p:cNvSpPr>
          <p:nvPr/>
        </p:nvSpPr>
        <p:spPr>
          <a:xfrm>
            <a:off x="2809006" y="4425972"/>
            <a:ext cx="25606" cy="111395"/>
          </a:xfrm>
          <a:custGeom>
            <a:avLst/>
            <a:gdLst/>
            <a:ahLst/>
            <a:cxnLst/>
            <a:rect l="0" t="0" r="0" b="0"/>
            <a:pathLst>
              <a:path w="25606" h="111395">
                <a:moveTo>
                  <a:pt x="0" y="111395"/>
                </a:moveTo>
                <a:lnTo>
                  <a:pt x="25606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5" name="C3_step0_b">
            <a:extLst>
              <a:ext uri="{FF2B5EF4-FFF2-40B4-BE49-F238E27FC236}">
                <a16:creationId xmlns:a16="http://schemas.microsoft.com/office/drawing/2014/main" id="{725DCAA2-510E-4D49-8CB5-30E336179568}"/>
              </a:ext>
            </a:extLst>
          </p:cNvPr>
          <p:cNvSpPr>
            <a:spLocks noGrp="1"/>
          </p:cNvSpPr>
          <p:nvPr/>
        </p:nvSpPr>
        <p:spPr>
          <a:xfrm>
            <a:off x="2809006" y="4498727"/>
            <a:ext cx="107571" cy="38640"/>
          </a:xfrm>
          <a:custGeom>
            <a:avLst/>
            <a:gdLst/>
            <a:ahLst/>
            <a:cxnLst/>
            <a:rect l="0" t="0" r="0" b="0"/>
            <a:pathLst>
              <a:path w="107571" h="38640">
                <a:moveTo>
                  <a:pt x="0" y="38640"/>
                </a:moveTo>
                <a:lnTo>
                  <a:pt x="107571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6" name="C3_point0">
            <a:extLst>
              <a:ext uri="{FF2B5EF4-FFF2-40B4-BE49-F238E27FC236}">
                <a16:creationId xmlns:a16="http://schemas.microsoft.com/office/drawing/2014/main" id="{3C4A0EC9-9B98-4344-B722-54F8912C3412}"/>
              </a:ext>
            </a:extLst>
          </p:cNvPr>
          <p:cNvSpPr>
            <a:spLocks noGrp="1"/>
          </p:cNvSpPr>
          <p:nvPr/>
        </p:nvSpPr>
        <p:spPr>
          <a:xfrm>
            <a:off x="2751856" y="4480217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C3_value0">
            <a:extLst>
              <a:ext uri="{FF2B5EF4-FFF2-40B4-BE49-F238E27FC236}">
                <a16:creationId xmlns:a16="http://schemas.microsoft.com/office/drawing/2014/main" id="{58E67BD5-34D6-4629-B7F9-23401E904BE7}"/>
              </a:ext>
            </a:extLst>
          </p:cNvPr>
          <p:cNvSpPr>
            <a:spLocks noGrp="1"/>
          </p:cNvSpPr>
          <p:nvPr/>
        </p:nvSpPr>
        <p:spPr>
          <a:xfrm>
            <a:off x="828675" y="5229225"/>
            <a:ext cx="3562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3 步：w = 5.458</a:t>
            </a:r>
          </a:p>
        </p:txBody>
      </p:sp>
      <p:sp>
        <p:nvSpPr>
          <p:cNvPr id="38" name="C4_caption0">
            <a:extLst>
              <a:ext uri="{FF2B5EF4-FFF2-40B4-BE49-F238E27FC236}">
                <a16:creationId xmlns:a16="http://schemas.microsoft.com/office/drawing/2014/main" id="{462C414A-0AB3-450C-846E-98DFCE4F97E7}"/>
              </a:ext>
            </a:extLst>
          </p:cNvPr>
          <p:cNvSpPr>
            <a:spLocks noGrp="1"/>
          </p:cNvSpPr>
          <p:nvPr/>
        </p:nvSpPr>
        <p:spPr>
          <a:xfrm>
            <a:off x="828675" y="5572125"/>
            <a:ext cx="3562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进展慢</a:t>
            </a:r>
          </a:p>
        </p:txBody>
      </p:sp>
      <p:sp>
        <p:nvSpPr>
          <p:cNvPr id="39" name="rate1">
            <a:extLst>
              <a:ext uri="{FF2B5EF4-FFF2-40B4-BE49-F238E27FC236}">
                <a16:creationId xmlns:a16="http://schemas.microsoft.com/office/drawing/2014/main" id="{EBB86F60-1B53-4A2F-B849-84155A5E8338}"/>
              </a:ext>
            </a:extLst>
          </p:cNvPr>
          <p:cNvSpPr>
            <a:spLocks noGrp="1"/>
          </p:cNvSpPr>
          <p:nvPr/>
        </p:nvSpPr>
        <p:spPr>
          <a:xfrm>
            <a:off x="4743450" y="19050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η = 0.25</a:t>
            </a:r>
          </a:p>
        </p:txBody>
      </p:sp>
      <p:sp>
        <p:nvSpPr>
          <p:cNvPr id="40" name="xaxis1">
            <a:extLst>
              <a:ext uri="{FF2B5EF4-FFF2-40B4-BE49-F238E27FC236}">
                <a16:creationId xmlns:a16="http://schemas.microsoft.com/office/drawing/2014/main" id="{9AEA6735-5508-44B8-872A-43C54C413137}"/>
              </a:ext>
            </a:extLst>
          </p:cNvPr>
          <p:cNvSpPr>
            <a:spLocks noGrp="1"/>
          </p:cNvSpPr>
          <p:nvPr/>
        </p:nvSpPr>
        <p:spPr>
          <a:xfrm>
            <a:off x="4619625" y="4829175"/>
            <a:ext cx="3095625" cy="9525"/>
          </a:xfrm>
          <a:custGeom>
            <a:avLst/>
            <a:gdLst/>
            <a:ahLst/>
            <a:cxnLst/>
            <a:rect l="0" t="0" r="0" b="0"/>
            <a:pathLst>
              <a:path w="3095625" h="9525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1" name="xaxis1_a">
            <a:extLst>
              <a:ext uri="{FF2B5EF4-FFF2-40B4-BE49-F238E27FC236}">
                <a16:creationId xmlns:a16="http://schemas.microsoft.com/office/drawing/2014/main" id="{9833CECF-999E-460A-9DE0-DC9E19141B59}"/>
              </a:ext>
            </a:extLst>
          </p:cNvPr>
          <p:cNvSpPr>
            <a:spLocks noGrp="1"/>
          </p:cNvSpPr>
          <p:nvPr/>
        </p:nvSpPr>
        <p:spPr>
          <a:xfrm>
            <a:off x="7614942" y="48291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2" name="xaxis1_b">
            <a:extLst>
              <a:ext uri="{FF2B5EF4-FFF2-40B4-BE49-F238E27FC236}">
                <a16:creationId xmlns:a16="http://schemas.microsoft.com/office/drawing/2014/main" id="{ACE5F3F2-AD4F-4A45-ACAB-6D4ED1686A67}"/>
              </a:ext>
            </a:extLst>
          </p:cNvPr>
          <p:cNvSpPr>
            <a:spLocks noGrp="1"/>
          </p:cNvSpPr>
          <p:nvPr/>
        </p:nvSpPr>
        <p:spPr>
          <a:xfrm>
            <a:off x="7614942" y="47743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3" name="yaxis1">
            <a:extLst>
              <a:ext uri="{FF2B5EF4-FFF2-40B4-BE49-F238E27FC236}">
                <a16:creationId xmlns:a16="http://schemas.microsoft.com/office/drawing/2014/main" id="{B523024E-4903-4B07-BBC7-5ED79C81B4C5}"/>
              </a:ext>
            </a:extLst>
          </p:cNvPr>
          <p:cNvSpPr>
            <a:spLocks noGrp="1"/>
          </p:cNvSpPr>
          <p:nvPr/>
        </p:nvSpPr>
        <p:spPr>
          <a:xfrm>
            <a:off x="4619625" y="2400300"/>
            <a:ext cx="9525" cy="2428875"/>
          </a:xfrm>
          <a:custGeom>
            <a:avLst/>
            <a:gdLst/>
            <a:ahLst/>
            <a:cxnLst/>
            <a:rect l="0" t="0" r="0" b="0"/>
            <a:pathLst>
              <a:path w="9525" h="2428875">
                <a:moveTo>
                  <a:pt x="0" y="24288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4" name="yaxis1_a">
            <a:extLst>
              <a:ext uri="{FF2B5EF4-FFF2-40B4-BE49-F238E27FC236}">
                <a16:creationId xmlns:a16="http://schemas.microsoft.com/office/drawing/2014/main" id="{9339826C-BF82-4F9A-AB5B-D9BBB2DA7190}"/>
              </a:ext>
            </a:extLst>
          </p:cNvPr>
          <p:cNvSpPr>
            <a:spLocks noGrp="1"/>
          </p:cNvSpPr>
          <p:nvPr/>
        </p:nvSpPr>
        <p:spPr>
          <a:xfrm>
            <a:off x="4619625" y="24003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5" name="yaxis1_b">
            <a:extLst>
              <a:ext uri="{FF2B5EF4-FFF2-40B4-BE49-F238E27FC236}">
                <a16:creationId xmlns:a16="http://schemas.microsoft.com/office/drawing/2014/main" id="{AC9B8623-4EB8-477E-A72D-C16CB218F862}"/>
              </a:ext>
            </a:extLst>
          </p:cNvPr>
          <p:cNvSpPr>
            <a:spLocks noGrp="1"/>
          </p:cNvSpPr>
          <p:nvPr/>
        </p:nvSpPr>
        <p:spPr>
          <a:xfrm>
            <a:off x="4564827" y="24003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46" name="xt10">
            <a:extLst>
              <a:ext uri="{FF2B5EF4-FFF2-40B4-BE49-F238E27FC236}">
                <a16:creationId xmlns:a16="http://schemas.microsoft.com/office/drawing/2014/main" id="{61349BA2-C660-40F6-84EF-6D40E68A8599}"/>
              </a:ext>
            </a:extLst>
          </p:cNvPr>
          <p:cNvSpPr>
            <a:spLocks noGrp="1"/>
          </p:cNvSpPr>
          <p:nvPr/>
        </p:nvSpPr>
        <p:spPr>
          <a:xfrm>
            <a:off x="4572000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7" name="xt14">
            <a:extLst>
              <a:ext uri="{FF2B5EF4-FFF2-40B4-BE49-F238E27FC236}">
                <a16:creationId xmlns:a16="http://schemas.microsoft.com/office/drawing/2014/main" id="{2A4FE8CE-8F65-4987-BD39-41F8C63E0AC6}"/>
              </a:ext>
            </a:extLst>
          </p:cNvPr>
          <p:cNvSpPr>
            <a:spLocks noGrp="1"/>
          </p:cNvSpPr>
          <p:nvPr/>
        </p:nvSpPr>
        <p:spPr>
          <a:xfrm>
            <a:off x="6072188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8" name="xt18">
            <a:extLst>
              <a:ext uri="{FF2B5EF4-FFF2-40B4-BE49-F238E27FC236}">
                <a16:creationId xmlns:a16="http://schemas.microsoft.com/office/drawing/2014/main" id="{5F4A0151-B54B-4F5A-A70B-E962D3D0C93E}"/>
              </a:ext>
            </a:extLst>
          </p:cNvPr>
          <p:cNvSpPr>
            <a:spLocks noGrp="1"/>
          </p:cNvSpPr>
          <p:nvPr/>
        </p:nvSpPr>
        <p:spPr>
          <a:xfrm>
            <a:off x="7572375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9" name="yt10">
            <a:extLst>
              <a:ext uri="{FF2B5EF4-FFF2-40B4-BE49-F238E27FC236}">
                <a16:creationId xmlns:a16="http://schemas.microsoft.com/office/drawing/2014/main" id="{DB0E59A7-699C-4E30-BE2A-96B5CC270420}"/>
              </a:ext>
            </a:extLst>
          </p:cNvPr>
          <p:cNvSpPr>
            <a:spLocks noGrp="1"/>
          </p:cNvSpPr>
          <p:nvPr/>
        </p:nvSpPr>
        <p:spPr>
          <a:xfrm>
            <a:off x="4572000" y="4829175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0" name="yl10">
            <a:extLst>
              <a:ext uri="{FF2B5EF4-FFF2-40B4-BE49-F238E27FC236}">
                <a16:creationId xmlns:a16="http://schemas.microsoft.com/office/drawing/2014/main" id="{E35A72AB-16D0-43F7-A6BF-D6A7BBAEB1E3}"/>
              </a:ext>
            </a:extLst>
          </p:cNvPr>
          <p:cNvSpPr>
            <a:spLocks noGrp="1"/>
          </p:cNvSpPr>
          <p:nvPr/>
        </p:nvSpPr>
        <p:spPr>
          <a:xfrm>
            <a:off x="4333875" y="4705350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1" name="yt18">
            <a:extLst>
              <a:ext uri="{FF2B5EF4-FFF2-40B4-BE49-F238E27FC236}">
                <a16:creationId xmlns:a16="http://schemas.microsoft.com/office/drawing/2014/main" id="{E2468C95-36D7-42E5-BB1B-AA45D079E113}"/>
              </a:ext>
            </a:extLst>
          </p:cNvPr>
          <p:cNvSpPr>
            <a:spLocks noGrp="1"/>
          </p:cNvSpPr>
          <p:nvPr/>
        </p:nvSpPr>
        <p:spPr>
          <a:xfrm>
            <a:off x="4572000" y="3730999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2" name="yl18">
            <a:extLst>
              <a:ext uri="{FF2B5EF4-FFF2-40B4-BE49-F238E27FC236}">
                <a16:creationId xmlns:a16="http://schemas.microsoft.com/office/drawing/2014/main" id="{894C96D9-DB84-4AF2-9DAA-62B553B440C3}"/>
              </a:ext>
            </a:extLst>
          </p:cNvPr>
          <p:cNvSpPr>
            <a:spLocks noGrp="1"/>
          </p:cNvSpPr>
          <p:nvPr/>
        </p:nvSpPr>
        <p:spPr>
          <a:xfrm>
            <a:off x="4333875" y="3607174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3" name="yt116">
            <a:extLst>
              <a:ext uri="{FF2B5EF4-FFF2-40B4-BE49-F238E27FC236}">
                <a16:creationId xmlns:a16="http://schemas.microsoft.com/office/drawing/2014/main" id="{A598DBDE-86A8-4068-A467-0C6CF4375501}"/>
              </a:ext>
            </a:extLst>
          </p:cNvPr>
          <p:cNvSpPr>
            <a:spLocks noGrp="1"/>
          </p:cNvSpPr>
          <p:nvPr/>
        </p:nvSpPr>
        <p:spPr>
          <a:xfrm>
            <a:off x="4572000" y="2632822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54" name="yl116">
            <a:extLst>
              <a:ext uri="{FF2B5EF4-FFF2-40B4-BE49-F238E27FC236}">
                <a16:creationId xmlns:a16="http://schemas.microsoft.com/office/drawing/2014/main" id="{E9F0A5F3-693A-4FA4-87A4-A8BA5BBE51F1}"/>
              </a:ext>
            </a:extLst>
          </p:cNvPr>
          <p:cNvSpPr>
            <a:spLocks noGrp="1"/>
          </p:cNvSpPr>
          <p:nvPr/>
        </p:nvSpPr>
        <p:spPr>
          <a:xfrm>
            <a:off x="4333875" y="2508997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5" name="wname1">
            <a:extLst>
              <a:ext uri="{FF2B5EF4-FFF2-40B4-BE49-F238E27FC236}">
                <a16:creationId xmlns:a16="http://schemas.microsoft.com/office/drawing/2014/main" id="{2744F6ED-73C3-4775-84C5-658816534518}"/>
              </a:ext>
            </a:extLst>
          </p:cNvPr>
          <p:cNvSpPr>
            <a:spLocks noGrp="1"/>
          </p:cNvSpPr>
          <p:nvPr/>
        </p:nvSpPr>
        <p:spPr>
          <a:xfrm>
            <a:off x="7458075" y="5162550"/>
            <a:ext cx="381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56" name="Lname1">
            <a:extLst>
              <a:ext uri="{FF2B5EF4-FFF2-40B4-BE49-F238E27FC236}">
                <a16:creationId xmlns:a16="http://schemas.microsoft.com/office/drawing/2014/main" id="{5E83140E-0348-4072-9279-47731B47E17A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57" name="curve1">
            <a:extLst>
              <a:ext uri="{FF2B5EF4-FFF2-40B4-BE49-F238E27FC236}">
                <a16:creationId xmlns:a16="http://schemas.microsoft.com/office/drawing/2014/main" id="{349E9711-4C48-440A-8BA1-1A35B4D653B2}"/>
              </a:ext>
            </a:extLst>
          </p:cNvPr>
          <p:cNvSpPr>
            <a:spLocks noGrp="1"/>
          </p:cNvSpPr>
          <p:nvPr/>
        </p:nvSpPr>
        <p:spPr>
          <a:xfrm>
            <a:off x="4619625" y="2632822"/>
            <a:ext cx="3000375" cy="2196353"/>
          </a:xfrm>
          <a:custGeom>
            <a:avLst/>
            <a:gdLst/>
            <a:ahLst/>
            <a:cxnLst/>
            <a:rect l="0" t="0" r="0" b="0"/>
            <a:pathLst>
              <a:path w="3000375" h="2196353">
                <a:moveTo>
                  <a:pt x="0" y="0"/>
                </a:moveTo>
                <a:lnTo>
                  <a:pt x="25003" y="72602"/>
                </a:lnTo>
                <a:lnTo>
                  <a:pt x="50006" y="143983"/>
                </a:lnTo>
                <a:lnTo>
                  <a:pt x="75009" y="214144"/>
                </a:lnTo>
                <a:lnTo>
                  <a:pt x="100013" y="283085"/>
                </a:lnTo>
                <a:lnTo>
                  <a:pt x="125016" y="350806"/>
                </a:lnTo>
                <a:lnTo>
                  <a:pt x="150019" y="417307"/>
                </a:lnTo>
                <a:lnTo>
                  <a:pt x="175022" y="482588"/>
                </a:lnTo>
                <a:lnTo>
                  <a:pt x="200025" y="546648"/>
                </a:lnTo>
                <a:lnTo>
                  <a:pt x="225028" y="609488"/>
                </a:lnTo>
                <a:lnTo>
                  <a:pt x="250031" y="671108"/>
                </a:lnTo>
                <a:lnTo>
                  <a:pt x="275034" y="731508"/>
                </a:lnTo>
                <a:lnTo>
                  <a:pt x="300038" y="790687"/>
                </a:lnTo>
                <a:lnTo>
                  <a:pt x="325041" y="848646"/>
                </a:lnTo>
                <a:lnTo>
                  <a:pt x="350044" y="905385"/>
                </a:lnTo>
                <a:lnTo>
                  <a:pt x="375047" y="960904"/>
                </a:lnTo>
                <a:lnTo>
                  <a:pt x="400050" y="1015203"/>
                </a:lnTo>
                <a:lnTo>
                  <a:pt x="425053" y="1068282"/>
                </a:lnTo>
                <a:lnTo>
                  <a:pt x="450056" y="1120140"/>
                </a:lnTo>
                <a:lnTo>
                  <a:pt x="475059" y="1170778"/>
                </a:lnTo>
                <a:lnTo>
                  <a:pt x="500063" y="1220196"/>
                </a:lnTo>
                <a:lnTo>
                  <a:pt x="525066" y="1268394"/>
                </a:lnTo>
                <a:lnTo>
                  <a:pt x="550069" y="1315371"/>
                </a:lnTo>
                <a:lnTo>
                  <a:pt x="575072" y="1361129"/>
                </a:lnTo>
                <a:lnTo>
                  <a:pt x="600075" y="1405666"/>
                </a:lnTo>
                <a:lnTo>
                  <a:pt x="625078" y="1448983"/>
                </a:lnTo>
                <a:lnTo>
                  <a:pt x="650081" y="1491080"/>
                </a:lnTo>
                <a:lnTo>
                  <a:pt x="675084" y="1531956"/>
                </a:lnTo>
                <a:lnTo>
                  <a:pt x="700088" y="1571613"/>
                </a:lnTo>
                <a:lnTo>
                  <a:pt x="725091" y="1610049"/>
                </a:lnTo>
                <a:lnTo>
                  <a:pt x="750094" y="1647265"/>
                </a:lnTo>
                <a:lnTo>
                  <a:pt x="775097" y="1683260"/>
                </a:lnTo>
                <a:lnTo>
                  <a:pt x="800100" y="1718036"/>
                </a:lnTo>
                <a:lnTo>
                  <a:pt x="825103" y="1751591"/>
                </a:lnTo>
                <a:lnTo>
                  <a:pt x="850106" y="1783927"/>
                </a:lnTo>
                <a:lnTo>
                  <a:pt x="875109" y="1815042"/>
                </a:lnTo>
                <a:lnTo>
                  <a:pt x="900113" y="1844936"/>
                </a:lnTo>
                <a:lnTo>
                  <a:pt x="925116" y="1873611"/>
                </a:lnTo>
                <a:lnTo>
                  <a:pt x="950119" y="1901065"/>
                </a:lnTo>
                <a:lnTo>
                  <a:pt x="975122" y="1927300"/>
                </a:lnTo>
                <a:lnTo>
                  <a:pt x="1000125" y="1952314"/>
                </a:lnTo>
                <a:lnTo>
                  <a:pt x="1025128" y="1976108"/>
                </a:lnTo>
                <a:lnTo>
                  <a:pt x="1050131" y="1998681"/>
                </a:lnTo>
                <a:lnTo>
                  <a:pt x="1075134" y="2020035"/>
                </a:lnTo>
                <a:lnTo>
                  <a:pt x="1100138" y="2040168"/>
                </a:lnTo>
                <a:lnTo>
                  <a:pt x="1125141" y="2059081"/>
                </a:lnTo>
                <a:lnTo>
                  <a:pt x="1150144" y="2076774"/>
                </a:lnTo>
                <a:lnTo>
                  <a:pt x="1175147" y="2093246"/>
                </a:lnTo>
                <a:lnTo>
                  <a:pt x="1200150" y="2108499"/>
                </a:lnTo>
                <a:lnTo>
                  <a:pt x="1225153" y="2122531"/>
                </a:lnTo>
                <a:lnTo>
                  <a:pt x="1250156" y="2135343"/>
                </a:lnTo>
                <a:lnTo>
                  <a:pt x="1275159" y="2146935"/>
                </a:lnTo>
                <a:lnTo>
                  <a:pt x="1300163" y="2157307"/>
                </a:lnTo>
                <a:lnTo>
                  <a:pt x="1325166" y="2166458"/>
                </a:lnTo>
                <a:lnTo>
                  <a:pt x="1350169" y="2174389"/>
                </a:lnTo>
                <a:lnTo>
                  <a:pt x="1375172" y="2181100"/>
                </a:lnTo>
                <a:lnTo>
                  <a:pt x="1400175" y="2186591"/>
                </a:lnTo>
                <a:lnTo>
                  <a:pt x="1425178" y="2190862"/>
                </a:lnTo>
                <a:lnTo>
                  <a:pt x="1450181" y="2193913"/>
                </a:lnTo>
                <a:lnTo>
                  <a:pt x="1475184" y="2195743"/>
                </a:lnTo>
                <a:lnTo>
                  <a:pt x="1500188" y="2196353"/>
                </a:lnTo>
                <a:lnTo>
                  <a:pt x="1525191" y="2195743"/>
                </a:lnTo>
                <a:lnTo>
                  <a:pt x="1550194" y="2193913"/>
                </a:lnTo>
                <a:lnTo>
                  <a:pt x="1575197" y="2190862"/>
                </a:lnTo>
                <a:lnTo>
                  <a:pt x="1600200" y="2186591"/>
                </a:lnTo>
                <a:lnTo>
                  <a:pt x="1625203" y="2181100"/>
                </a:lnTo>
                <a:lnTo>
                  <a:pt x="1650206" y="2174389"/>
                </a:lnTo>
                <a:lnTo>
                  <a:pt x="1675209" y="2166458"/>
                </a:lnTo>
                <a:lnTo>
                  <a:pt x="1700213" y="2157307"/>
                </a:lnTo>
                <a:lnTo>
                  <a:pt x="1725216" y="2146935"/>
                </a:lnTo>
                <a:lnTo>
                  <a:pt x="1750219" y="2135343"/>
                </a:lnTo>
                <a:lnTo>
                  <a:pt x="1775222" y="2122531"/>
                </a:lnTo>
                <a:lnTo>
                  <a:pt x="1800225" y="2108499"/>
                </a:lnTo>
                <a:lnTo>
                  <a:pt x="1825228" y="2093246"/>
                </a:lnTo>
                <a:lnTo>
                  <a:pt x="1850231" y="2076774"/>
                </a:lnTo>
                <a:lnTo>
                  <a:pt x="1875234" y="2059081"/>
                </a:lnTo>
                <a:lnTo>
                  <a:pt x="1900238" y="2040168"/>
                </a:lnTo>
                <a:lnTo>
                  <a:pt x="1925241" y="2020035"/>
                </a:lnTo>
                <a:lnTo>
                  <a:pt x="1950244" y="1998681"/>
                </a:lnTo>
                <a:lnTo>
                  <a:pt x="1975247" y="1976108"/>
                </a:lnTo>
                <a:lnTo>
                  <a:pt x="2000250" y="1952314"/>
                </a:lnTo>
                <a:lnTo>
                  <a:pt x="2025253" y="1927300"/>
                </a:lnTo>
                <a:lnTo>
                  <a:pt x="2050256" y="1901065"/>
                </a:lnTo>
                <a:lnTo>
                  <a:pt x="2075259" y="1873611"/>
                </a:lnTo>
                <a:lnTo>
                  <a:pt x="2100263" y="1844936"/>
                </a:lnTo>
                <a:lnTo>
                  <a:pt x="2125266" y="1815042"/>
                </a:lnTo>
                <a:lnTo>
                  <a:pt x="2150269" y="1783927"/>
                </a:lnTo>
                <a:lnTo>
                  <a:pt x="2175272" y="1751591"/>
                </a:lnTo>
                <a:lnTo>
                  <a:pt x="2200275" y="1718036"/>
                </a:lnTo>
                <a:lnTo>
                  <a:pt x="2225278" y="1683260"/>
                </a:lnTo>
                <a:lnTo>
                  <a:pt x="2250281" y="1647265"/>
                </a:lnTo>
                <a:lnTo>
                  <a:pt x="2275284" y="1610049"/>
                </a:lnTo>
                <a:lnTo>
                  <a:pt x="2300288" y="1571613"/>
                </a:lnTo>
                <a:lnTo>
                  <a:pt x="2325291" y="1531956"/>
                </a:lnTo>
                <a:lnTo>
                  <a:pt x="2350294" y="1491080"/>
                </a:lnTo>
                <a:lnTo>
                  <a:pt x="2375297" y="1448983"/>
                </a:lnTo>
                <a:lnTo>
                  <a:pt x="2400300" y="1405666"/>
                </a:lnTo>
                <a:lnTo>
                  <a:pt x="2425303" y="1361129"/>
                </a:lnTo>
                <a:lnTo>
                  <a:pt x="2450306" y="1315371"/>
                </a:lnTo>
                <a:lnTo>
                  <a:pt x="2475309" y="1268394"/>
                </a:lnTo>
                <a:lnTo>
                  <a:pt x="2500313" y="1220196"/>
                </a:lnTo>
                <a:lnTo>
                  <a:pt x="2525316" y="1170778"/>
                </a:lnTo>
                <a:lnTo>
                  <a:pt x="2550319" y="1120140"/>
                </a:lnTo>
                <a:lnTo>
                  <a:pt x="2575322" y="1068282"/>
                </a:lnTo>
                <a:lnTo>
                  <a:pt x="2600325" y="1015203"/>
                </a:lnTo>
                <a:lnTo>
                  <a:pt x="2625328" y="960904"/>
                </a:lnTo>
                <a:lnTo>
                  <a:pt x="2650331" y="905385"/>
                </a:lnTo>
                <a:lnTo>
                  <a:pt x="2675334" y="848646"/>
                </a:lnTo>
                <a:lnTo>
                  <a:pt x="2700338" y="790687"/>
                </a:lnTo>
                <a:lnTo>
                  <a:pt x="2725341" y="731508"/>
                </a:lnTo>
                <a:lnTo>
                  <a:pt x="2750344" y="671108"/>
                </a:lnTo>
                <a:lnTo>
                  <a:pt x="2775347" y="609488"/>
                </a:lnTo>
                <a:lnTo>
                  <a:pt x="2800350" y="546648"/>
                </a:lnTo>
                <a:lnTo>
                  <a:pt x="2825353" y="482588"/>
                </a:lnTo>
                <a:lnTo>
                  <a:pt x="2850356" y="417307"/>
                </a:lnTo>
                <a:lnTo>
                  <a:pt x="2875359" y="350806"/>
                </a:lnTo>
                <a:lnTo>
                  <a:pt x="2900363" y="283085"/>
                </a:lnTo>
                <a:lnTo>
                  <a:pt x="2925366" y="214144"/>
                </a:lnTo>
                <a:lnTo>
                  <a:pt x="2950369" y="143983"/>
                </a:lnTo>
                <a:lnTo>
                  <a:pt x="2975372" y="72602"/>
                </a:lnTo>
                <a:lnTo>
                  <a:pt x="3000375" y="0"/>
                </a:lnTo>
              </a:path>
            </a:pathLst>
          </a:custGeom>
          <a:noFill/>
          <a:ln w="23813">
            <a:solidFill>
              <a:srgbClr val="CBD2DC"/>
            </a:solidFill>
            <a:prstDash val="solid"/>
          </a:ln>
        </p:spPr>
      </p:sp>
      <p:sp>
        <p:nvSpPr>
          <p:cNvPr id="58" name="start1">
            <a:extLst>
              <a:ext uri="{FF2B5EF4-FFF2-40B4-BE49-F238E27FC236}">
                <a16:creationId xmlns:a16="http://schemas.microsoft.com/office/drawing/2014/main" id="{957FB0E2-DCFC-4B2A-B8D1-67C22C565DC5}"/>
              </a:ext>
            </a:extLst>
          </p:cNvPr>
          <p:cNvSpPr>
            <a:spLocks noGrp="1"/>
          </p:cNvSpPr>
          <p:nvPr/>
        </p:nvSpPr>
        <p:spPr>
          <a:xfrm>
            <a:off x="6812756" y="4222937"/>
            <a:ext cx="114300" cy="1143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657182"/>
            </a:solidFill>
            <a:prstDash val="solid"/>
          </a:ln>
        </p:spPr>
      </p:sp>
      <p:sp>
        <p:nvSpPr>
          <p:cNvPr id="59" name="startLabel1">
            <a:extLst>
              <a:ext uri="{FF2B5EF4-FFF2-40B4-BE49-F238E27FC236}">
                <a16:creationId xmlns:a16="http://schemas.microsoft.com/office/drawing/2014/main" id="{F4CDBAB3-1121-4C18-8E2A-B51DF2F13BA7}"/>
              </a:ext>
            </a:extLst>
          </p:cNvPr>
          <p:cNvSpPr>
            <a:spLocks noGrp="1"/>
          </p:cNvSpPr>
          <p:nvPr/>
        </p:nvSpPr>
        <p:spPr>
          <a:xfrm>
            <a:off x="6946106" y="3984812"/>
            <a:ext cx="85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60" name="C1_step1">
            <a:extLst>
              <a:ext uri="{FF2B5EF4-FFF2-40B4-BE49-F238E27FC236}">
                <a16:creationId xmlns:a16="http://schemas.microsoft.com/office/drawing/2014/main" id="{6423A16E-FB32-4B36-8591-7812F5A216C6}"/>
              </a:ext>
            </a:extLst>
          </p:cNvPr>
          <p:cNvSpPr>
            <a:spLocks noGrp="1"/>
          </p:cNvSpPr>
          <p:nvPr/>
        </p:nvSpPr>
        <p:spPr>
          <a:xfrm>
            <a:off x="6494859" y="4280087"/>
            <a:ext cx="375047" cy="411816"/>
          </a:xfrm>
          <a:custGeom>
            <a:avLst/>
            <a:gdLst/>
            <a:ahLst/>
            <a:cxnLst/>
            <a:rect l="0" t="0" r="0" b="0"/>
            <a:pathLst>
              <a:path w="375047" h="411816">
                <a:moveTo>
                  <a:pt x="375047" y="0"/>
                </a:moveTo>
                <a:lnTo>
                  <a:pt x="0" y="411816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61" name="C1_step1_a">
            <a:extLst>
              <a:ext uri="{FF2B5EF4-FFF2-40B4-BE49-F238E27FC236}">
                <a16:creationId xmlns:a16="http://schemas.microsoft.com/office/drawing/2014/main" id="{998AB735-9850-476C-87D5-7964697DEA33}"/>
              </a:ext>
            </a:extLst>
          </p:cNvPr>
          <p:cNvSpPr>
            <a:spLocks noGrp="1"/>
          </p:cNvSpPr>
          <p:nvPr/>
        </p:nvSpPr>
        <p:spPr>
          <a:xfrm>
            <a:off x="6494859" y="4580844"/>
            <a:ext cx="27025" cy="111059"/>
          </a:xfrm>
          <a:custGeom>
            <a:avLst/>
            <a:gdLst/>
            <a:ahLst/>
            <a:cxnLst/>
            <a:rect l="0" t="0" r="0" b="0"/>
            <a:pathLst>
              <a:path w="27025" h="111059">
                <a:moveTo>
                  <a:pt x="0" y="111059"/>
                </a:moveTo>
                <a:lnTo>
                  <a:pt x="27025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62" name="C1_step1_b">
            <a:extLst>
              <a:ext uri="{FF2B5EF4-FFF2-40B4-BE49-F238E27FC236}">
                <a16:creationId xmlns:a16="http://schemas.microsoft.com/office/drawing/2014/main" id="{6EBD5DBD-741C-4931-8014-71CDBED1EDAE}"/>
              </a:ext>
            </a:extLst>
          </p:cNvPr>
          <p:cNvSpPr>
            <a:spLocks noGrp="1"/>
          </p:cNvSpPr>
          <p:nvPr/>
        </p:nvSpPr>
        <p:spPr>
          <a:xfrm>
            <a:off x="6494859" y="4654639"/>
            <a:ext cx="108055" cy="37264"/>
          </a:xfrm>
          <a:custGeom>
            <a:avLst/>
            <a:gdLst/>
            <a:ahLst/>
            <a:cxnLst/>
            <a:rect l="0" t="0" r="0" b="0"/>
            <a:pathLst>
              <a:path w="108055" h="37264">
                <a:moveTo>
                  <a:pt x="0" y="37264"/>
                </a:moveTo>
                <a:lnTo>
                  <a:pt x="108055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63" name="C1_point1">
            <a:extLst>
              <a:ext uri="{FF2B5EF4-FFF2-40B4-BE49-F238E27FC236}">
                <a16:creationId xmlns:a16="http://schemas.microsoft.com/office/drawing/2014/main" id="{E025BC7E-4A4B-45A2-A917-1DB1DB1E56B2}"/>
              </a:ext>
            </a:extLst>
          </p:cNvPr>
          <p:cNvSpPr>
            <a:spLocks noGrp="1"/>
          </p:cNvSpPr>
          <p:nvPr/>
        </p:nvSpPr>
        <p:spPr>
          <a:xfrm>
            <a:off x="6437709" y="4634753"/>
            <a:ext cx="114300" cy="114300"/>
          </a:xfrm>
          <a:prstGeom prst="ellipse">
            <a:avLst/>
          </a:prstGeom>
          <a:solidFill>
            <a:srgbClr val="087F72"/>
          </a:solidFill>
          <a:ln w="19050">
            <a:solidFill>
              <a:srgbClr val="087F72"/>
            </a:solidFill>
            <a:prstDash val="solid"/>
          </a:ln>
        </p:spPr>
      </p:sp>
      <p:sp>
        <p:nvSpPr>
          <p:cNvPr id="64" name="C2_step1">
            <a:extLst>
              <a:ext uri="{FF2B5EF4-FFF2-40B4-BE49-F238E27FC236}">
                <a16:creationId xmlns:a16="http://schemas.microsoft.com/office/drawing/2014/main" id="{D46712F3-BA92-42BE-88CB-81DEC42BC076}"/>
              </a:ext>
            </a:extLst>
          </p:cNvPr>
          <p:cNvSpPr>
            <a:spLocks noGrp="1"/>
          </p:cNvSpPr>
          <p:nvPr/>
        </p:nvSpPr>
        <p:spPr>
          <a:xfrm>
            <a:off x="6307336" y="4691903"/>
            <a:ext cx="187523" cy="102954"/>
          </a:xfrm>
          <a:custGeom>
            <a:avLst/>
            <a:gdLst/>
            <a:ahLst/>
            <a:cxnLst/>
            <a:rect l="0" t="0" r="0" b="0"/>
            <a:pathLst>
              <a:path w="187523" h="102954">
                <a:moveTo>
                  <a:pt x="187523" y="0"/>
                </a:moveTo>
                <a:lnTo>
                  <a:pt x="0" y="102954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65" name="C2_step1_a">
            <a:extLst>
              <a:ext uri="{FF2B5EF4-FFF2-40B4-BE49-F238E27FC236}">
                <a16:creationId xmlns:a16="http://schemas.microsoft.com/office/drawing/2014/main" id="{980372DD-BF71-4C0A-BB6E-3F3E7733CB66}"/>
              </a:ext>
            </a:extLst>
          </p:cNvPr>
          <p:cNvSpPr>
            <a:spLocks noGrp="1"/>
          </p:cNvSpPr>
          <p:nvPr/>
        </p:nvSpPr>
        <p:spPr>
          <a:xfrm>
            <a:off x="6307336" y="4698548"/>
            <a:ext cx="61555" cy="96309"/>
          </a:xfrm>
          <a:custGeom>
            <a:avLst/>
            <a:gdLst/>
            <a:ahLst/>
            <a:cxnLst/>
            <a:rect l="0" t="0" r="0" b="0"/>
            <a:pathLst>
              <a:path w="61555" h="96309">
                <a:moveTo>
                  <a:pt x="0" y="96309"/>
                </a:moveTo>
                <a:lnTo>
                  <a:pt x="61555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66" name="C2_step1_b">
            <a:extLst>
              <a:ext uri="{FF2B5EF4-FFF2-40B4-BE49-F238E27FC236}">
                <a16:creationId xmlns:a16="http://schemas.microsoft.com/office/drawing/2014/main" id="{0FC7DCE1-51B1-4578-B86D-C272F96CC7AD}"/>
              </a:ext>
            </a:extLst>
          </p:cNvPr>
          <p:cNvSpPr>
            <a:spLocks noGrp="1"/>
          </p:cNvSpPr>
          <p:nvPr/>
        </p:nvSpPr>
        <p:spPr>
          <a:xfrm>
            <a:off x="6307336" y="4794618"/>
            <a:ext cx="114300" cy="9525"/>
          </a:xfrm>
          <a:custGeom>
            <a:avLst/>
            <a:gdLst/>
            <a:ahLst/>
            <a:cxnLst/>
            <a:rect l="0" t="0" r="0" b="0"/>
            <a:pathLst>
              <a:path w="114300" h="9525">
                <a:moveTo>
                  <a:pt x="0" y="239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67" name="C2_point1">
            <a:extLst>
              <a:ext uri="{FF2B5EF4-FFF2-40B4-BE49-F238E27FC236}">
                <a16:creationId xmlns:a16="http://schemas.microsoft.com/office/drawing/2014/main" id="{88A684CA-9A4F-430F-B630-FCD5AB316CBE}"/>
              </a:ext>
            </a:extLst>
          </p:cNvPr>
          <p:cNvSpPr>
            <a:spLocks noGrp="1"/>
          </p:cNvSpPr>
          <p:nvPr/>
        </p:nvSpPr>
        <p:spPr>
          <a:xfrm>
            <a:off x="6250186" y="4737707"/>
            <a:ext cx="114300" cy="114300"/>
          </a:xfrm>
          <a:prstGeom prst="ellipse">
            <a:avLst/>
          </a:prstGeom>
          <a:solidFill>
            <a:srgbClr val="087F72"/>
          </a:solidFill>
          <a:ln w="19050">
            <a:solidFill>
              <a:srgbClr val="087F72"/>
            </a:solidFill>
            <a:prstDash val="solid"/>
          </a:ln>
        </p:spPr>
      </p:sp>
      <p:sp>
        <p:nvSpPr>
          <p:cNvPr id="68" name="C3_step1">
            <a:extLst>
              <a:ext uri="{FF2B5EF4-FFF2-40B4-BE49-F238E27FC236}">
                <a16:creationId xmlns:a16="http://schemas.microsoft.com/office/drawing/2014/main" id="{DEDCC3B3-3B6A-4DF8-8B72-AE522620726D}"/>
              </a:ext>
            </a:extLst>
          </p:cNvPr>
          <p:cNvSpPr>
            <a:spLocks noGrp="1"/>
          </p:cNvSpPr>
          <p:nvPr/>
        </p:nvSpPr>
        <p:spPr>
          <a:xfrm>
            <a:off x="6213574" y="4794857"/>
            <a:ext cx="93762" cy="25739"/>
          </a:xfrm>
          <a:custGeom>
            <a:avLst/>
            <a:gdLst/>
            <a:ahLst/>
            <a:cxnLst/>
            <a:rect l="0" t="0" r="0" b="0"/>
            <a:pathLst>
              <a:path w="93762" h="25739">
                <a:moveTo>
                  <a:pt x="93762" y="0"/>
                </a:moveTo>
                <a:lnTo>
                  <a:pt x="0" y="25739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69" name="C3_step1_a">
            <a:extLst>
              <a:ext uri="{FF2B5EF4-FFF2-40B4-BE49-F238E27FC236}">
                <a16:creationId xmlns:a16="http://schemas.microsoft.com/office/drawing/2014/main" id="{7D0CA1B2-4F07-45E5-B762-0052859F6089}"/>
              </a:ext>
            </a:extLst>
          </p:cNvPr>
          <p:cNvSpPr>
            <a:spLocks noGrp="1"/>
          </p:cNvSpPr>
          <p:nvPr/>
        </p:nvSpPr>
        <p:spPr>
          <a:xfrm>
            <a:off x="6213574" y="4741199"/>
            <a:ext cx="82223" cy="79397"/>
          </a:xfrm>
          <a:custGeom>
            <a:avLst/>
            <a:gdLst/>
            <a:ahLst/>
            <a:cxnLst/>
            <a:rect l="0" t="0" r="0" b="0"/>
            <a:pathLst>
              <a:path w="82223" h="79397">
                <a:moveTo>
                  <a:pt x="0" y="79397"/>
                </a:moveTo>
                <a:lnTo>
                  <a:pt x="82223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70" name="C3_step1_b">
            <a:extLst>
              <a:ext uri="{FF2B5EF4-FFF2-40B4-BE49-F238E27FC236}">
                <a16:creationId xmlns:a16="http://schemas.microsoft.com/office/drawing/2014/main" id="{92BBA3AA-7DA1-4D12-BBD4-3927E65A54AE}"/>
              </a:ext>
            </a:extLst>
          </p:cNvPr>
          <p:cNvSpPr>
            <a:spLocks noGrp="1"/>
          </p:cNvSpPr>
          <p:nvPr/>
        </p:nvSpPr>
        <p:spPr>
          <a:xfrm>
            <a:off x="6213574" y="4820595"/>
            <a:ext cx="111235" cy="26290"/>
          </a:xfrm>
          <a:custGeom>
            <a:avLst/>
            <a:gdLst/>
            <a:ahLst/>
            <a:cxnLst/>
            <a:rect l="0" t="0" r="0" b="0"/>
            <a:pathLst>
              <a:path w="111235" h="26290">
                <a:moveTo>
                  <a:pt x="0" y="0"/>
                </a:moveTo>
                <a:lnTo>
                  <a:pt x="111235" y="2629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71" name="C3_point1">
            <a:extLst>
              <a:ext uri="{FF2B5EF4-FFF2-40B4-BE49-F238E27FC236}">
                <a16:creationId xmlns:a16="http://schemas.microsoft.com/office/drawing/2014/main" id="{A451DA38-4512-459D-9111-1EAD1EEF187A}"/>
              </a:ext>
            </a:extLst>
          </p:cNvPr>
          <p:cNvSpPr>
            <a:spLocks noGrp="1"/>
          </p:cNvSpPr>
          <p:nvPr/>
        </p:nvSpPr>
        <p:spPr>
          <a:xfrm>
            <a:off x="6156424" y="4763445"/>
            <a:ext cx="114300" cy="114300"/>
          </a:xfrm>
          <a:prstGeom prst="ellipse">
            <a:avLst/>
          </a:prstGeom>
          <a:solidFill>
            <a:srgbClr val="087F72"/>
          </a:solidFill>
          <a:ln w="19050">
            <a:solidFill>
              <a:srgbClr val="087F72"/>
            </a:solidFill>
            <a:prstDash val="solid"/>
          </a:ln>
        </p:spPr>
      </p:sp>
      <p:sp>
        <p:nvSpPr>
          <p:cNvPr id="72" name="C3_value1">
            <a:extLst>
              <a:ext uri="{FF2B5EF4-FFF2-40B4-BE49-F238E27FC236}">
                <a16:creationId xmlns:a16="http://schemas.microsoft.com/office/drawing/2014/main" id="{B3227519-733E-46DA-B107-EA2ABC03BE44}"/>
              </a:ext>
            </a:extLst>
          </p:cNvPr>
          <p:cNvSpPr>
            <a:spLocks noGrp="1"/>
          </p:cNvSpPr>
          <p:nvPr/>
        </p:nvSpPr>
        <p:spPr>
          <a:xfrm>
            <a:off x="4686300" y="5229225"/>
            <a:ext cx="3562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第 3 步：w = 4.25</a:t>
            </a:r>
          </a:p>
        </p:txBody>
      </p:sp>
      <p:sp>
        <p:nvSpPr>
          <p:cNvPr id="73" name="C4_caption1">
            <a:extLst>
              <a:ext uri="{FF2B5EF4-FFF2-40B4-BE49-F238E27FC236}">
                <a16:creationId xmlns:a16="http://schemas.microsoft.com/office/drawing/2014/main" id="{F772612D-6842-4A52-B4E7-65B16D753366}"/>
              </a:ext>
            </a:extLst>
          </p:cNvPr>
          <p:cNvSpPr>
            <a:spLocks noGrp="1"/>
          </p:cNvSpPr>
          <p:nvPr/>
        </p:nvSpPr>
        <p:spPr>
          <a:xfrm>
            <a:off x="4686300" y="5572125"/>
            <a:ext cx="3562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逐步靠近</a:t>
            </a:r>
          </a:p>
        </p:txBody>
      </p:sp>
      <p:sp>
        <p:nvSpPr>
          <p:cNvPr id="74" name="rate2">
            <a:extLst>
              <a:ext uri="{FF2B5EF4-FFF2-40B4-BE49-F238E27FC236}">
                <a16:creationId xmlns:a16="http://schemas.microsoft.com/office/drawing/2014/main" id="{1CE1C15B-B621-42EA-B350-5B73CED54BD4}"/>
              </a:ext>
            </a:extLst>
          </p:cNvPr>
          <p:cNvSpPr>
            <a:spLocks noGrp="1"/>
          </p:cNvSpPr>
          <p:nvPr/>
        </p:nvSpPr>
        <p:spPr>
          <a:xfrm>
            <a:off x="8601075" y="19050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η = 1.1</a:t>
            </a:r>
          </a:p>
        </p:txBody>
      </p:sp>
      <p:sp>
        <p:nvSpPr>
          <p:cNvPr id="75" name="xaxis2">
            <a:extLst>
              <a:ext uri="{FF2B5EF4-FFF2-40B4-BE49-F238E27FC236}">
                <a16:creationId xmlns:a16="http://schemas.microsoft.com/office/drawing/2014/main" id="{24D80591-20BC-45BF-A29A-094BB96FA30C}"/>
              </a:ext>
            </a:extLst>
          </p:cNvPr>
          <p:cNvSpPr>
            <a:spLocks noGrp="1"/>
          </p:cNvSpPr>
          <p:nvPr/>
        </p:nvSpPr>
        <p:spPr>
          <a:xfrm>
            <a:off x="8477250" y="4829175"/>
            <a:ext cx="3095625" cy="9525"/>
          </a:xfrm>
          <a:custGeom>
            <a:avLst/>
            <a:gdLst/>
            <a:ahLst/>
            <a:cxnLst/>
            <a:rect l="0" t="0" r="0" b="0"/>
            <a:pathLst>
              <a:path w="3095625" h="9525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6" name="xaxis2_a">
            <a:extLst>
              <a:ext uri="{FF2B5EF4-FFF2-40B4-BE49-F238E27FC236}">
                <a16:creationId xmlns:a16="http://schemas.microsoft.com/office/drawing/2014/main" id="{99AE41B7-0207-43EE-984C-370C5FBBC902}"/>
              </a:ext>
            </a:extLst>
          </p:cNvPr>
          <p:cNvSpPr>
            <a:spLocks noGrp="1"/>
          </p:cNvSpPr>
          <p:nvPr/>
        </p:nvSpPr>
        <p:spPr>
          <a:xfrm>
            <a:off x="11472567" y="48291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7" name="xaxis2_b">
            <a:extLst>
              <a:ext uri="{FF2B5EF4-FFF2-40B4-BE49-F238E27FC236}">
                <a16:creationId xmlns:a16="http://schemas.microsoft.com/office/drawing/2014/main" id="{103D9F6C-C41C-4D5E-93F8-52F7AF42B630}"/>
              </a:ext>
            </a:extLst>
          </p:cNvPr>
          <p:cNvSpPr>
            <a:spLocks noGrp="1"/>
          </p:cNvSpPr>
          <p:nvPr/>
        </p:nvSpPr>
        <p:spPr>
          <a:xfrm>
            <a:off x="11472567" y="47743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8" name="yaxis2">
            <a:extLst>
              <a:ext uri="{FF2B5EF4-FFF2-40B4-BE49-F238E27FC236}">
                <a16:creationId xmlns:a16="http://schemas.microsoft.com/office/drawing/2014/main" id="{D85D2939-B34B-4E60-8BB0-CA45B74A8E3D}"/>
              </a:ext>
            </a:extLst>
          </p:cNvPr>
          <p:cNvSpPr>
            <a:spLocks noGrp="1"/>
          </p:cNvSpPr>
          <p:nvPr/>
        </p:nvSpPr>
        <p:spPr>
          <a:xfrm>
            <a:off x="8477250" y="2400300"/>
            <a:ext cx="9525" cy="2428875"/>
          </a:xfrm>
          <a:custGeom>
            <a:avLst/>
            <a:gdLst/>
            <a:ahLst/>
            <a:cxnLst/>
            <a:rect l="0" t="0" r="0" b="0"/>
            <a:pathLst>
              <a:path w="9525" h="2428875">
                <a:moveTo>
                  <a:pt x="0" y="24288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79" name="yaxis2_a">
            <a:extLst>
              <a:ext uri="{FF2B5EF4-FFF2-40B4-BE49-F238E27FC236}">
                <a16:creationId xmlns:a16="http://schemas.microsoft.com/office/drawing/2014/main" id="{295378DC-0B7B-4134-85C4-5770C36FB02F}"/>
              </a:ext>
            </a:extLst>
          </p:cNvPr>
          <p:cNvSpPr>
            <a:spLocks noGrp="1"/>
          </p:cNvSpPr>
          <p:nvPr/>
        </p:nvSpPr>
        <p:spPr>
          <a:xfrm>
            <a:off x="8477250" y="24003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80" name="yaxis2_b">
            <a:extLst>
              <a:ext uri="{FF2B5EF4-FFF2-40B4-BE49-F238E27FC236}">
                <a16:creationId xmlns:a16="http://schemas.microsoft.com/office/drawing/2014/main" id="{60AA2854-0D39-481C-AB52-1B7178C6BC88}"/>
              </a:ext>
            </a:extLst>
          </p:cNvPr>
          <p:cNvSpPr>
            <a:spLocks noGrp="1"/>
          </p:cNvSpPr>
          <p:nvPr/>
        </p:nvSpPr>
        <p:spPr>
          <a:xfrm>
            <a:off x="8422452" y="240030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19050">
            <a:solidFill>
              <a:srgbClr val="657182"/>
            </a:solidFill>
            <a:prstDash val="solid"/>
          </a:ln>
        </p:spPr>
      </p:sp>
      <p:sp>
        <p:nvSpPr>
          <p:cNvPr id="81" name="xt20">
            <a:extLst>
              <a:ext uri="{FF2B5EF4-FFF2-40B4-BE49-F238E27FC236}">
                <a16:creationId xmlns:a16="http://schemas.microsoft.com/office/drawing/2014/main" id="{8A00C95A-58D1-4959-872E-7EC6337027CF}"/>
              </a:ext>
            </a:extLst>
          </p:cNvPr>
          <p:cNvSpPr>
            <a:spLocks noGrp="1"/>
          </p:cNvSpPr>
          <p:nvPr/>
        </p:nvSpPr>
        <p:spPr>
          <a:xfrm>
            <a:off x="8429625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2" name="xt24">
            <a:extLst>
              <a:ext uri="{FF2B5EF4-FFF2-40B4-BE49-F238E27FC236}">
                <a16:creationId xmlns:a16="http://schemas.microsoft.com/office/drawing/2014/main" id="{80C24C33-B17C-4579-BCE8-1310D25E6025}"/>
              </a:ext>
            </a:extLst>
          </p:cNvPr>
          <p:cNvSpPr>
            <a:spLocks noGrp="1"/>
          </p:cNvSpPr>
          <p:nvPr/>
        </p:nvSpPr>
        <p:spPr>
          <a:xfrm>
            <a:off x="9929813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3" name="xt28">
            <a:extLst>
              <a:ext uri="{FF2B5EF4-FFF2-40B4-BE49-F238E27FC236}">
                <a16:creationId xmlns:a16="http://schemas.microsoft.com/office/drawing/2014/main" id="{B2DB1D29-647C-4E4E-8219-145586A226DF}"/>
              </a:ext>
            </a:extLst>
          </p:cNvPr>
          <p:cNvSpPr>
            <a:spLocks noGrp="1"/>
          </p:cNvSpPr>
          <p:nvPr/>
        </p:nvSpPr>
        <p:spPr>
          <a:xfrm>
            <a:off x="11430000" y="4895850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4" name="yt20">
            <a:extLst>
              <a:ext uri="{FF2B5EF4-FFF2-40B4-BE49-F238E27FC236}">
                <a16:creationId xmlns:a16="http://schemas.microsoft.com/office/drawing/2014/main" id="{FB76776C-746B-44F7-BC5A-DD00873083F2}"/>
              </a:ext>
            </a:extLst>
          </p:cNvPr>
          <p:cNvSpPr>
            <a:spLocks noGrp="1"/>
          </p:cNvSpPr>
          <p:nvPr/>
        </p:nvSpPr>
        <p:spPr>
          <a:xfrm>
            <a:off x="8429625" y="4829175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5" name="yl20">
            <a:extLst>
              <a:ext uri="{FF2B5EF4-FFF2-40B4-BE49-F238E27FC236}">
                <a16:creationId xmlns:a16="http://schemas.microsoft.com/office/drawing/2014/main" id="{909235AB-9BF3-4FA0-91FF-E886C33A4D30}"/>
              </a:ext>
            </a:extLst>
          </p:cNvPr>
          <p:cNvSpPr>
            <a:spLocks noGrp="1"/>
          </p:cNvSpPr>
          <p:nvPr/>
        </p:nvSpPr>
        <p:spPr>
          <a:xfrm>
            <a:off x="8191500" y="4705350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6" name="yt28">
            <a:extLst>
              <a:ext uri="{FF2B5EF4-FFF2-40B4-BE49-F238E27FC236}">
                <a16:creationId xmlns:a16="http://schemas.microsoft.com/office/drawing/2014/main" id="{416A9AB2-3E52-4058-8A53-73AD45020C90}"/>
              </a:ext>
            </a:extLst>
          </p:cNvPr>
          <p:cNvSpPr>
            <a:spLocks noGrp="1"/>
          </p:cNvSpPr>
          <p:nvPr/>
        </p:nvSpPr>
        <p:spPr>
          <a:xfrm>
            <a:off x="8429625" y="3730999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7" name="yl28">
            <a:extLst>
              <a:ext uri="{FF2B5EF4-FFF2-40B4-BE49-F238E27FC236}">
                <a16:creationId xmlns:a16="http://schemas.microsoft.com/office/drawing/2014/main" id="{9BA90D1C-B2A2-4F1F-9969-C7213403DF81}"/>
              </a:ext>
            </a:extLst>
          </p:cNvPr>
          <p:cNvSpPr>
            <a:spLocks noGrp="1"/>
          </p:cNvSpPr>
          <p:nvPr/>
        </p:nvSpPr>
        <p:spPr>
          <a:xfrm>
            <a:off x="8191500" y="3607174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8" name="yt216">
            <a:extLst>
              <a:ext uri="{FF2B5EF4-FFF2-40B4-BE49-F238E27FC236}">
                <a16:creationId xmlns:a16="http://schemas.microsoft.com/office/drawing/2014/main" id="{99CCA9DC-BE21-4828-AC98-56AA573542D3}"/>
              </a:ext>
            </a:extLst>
          </p:cNvPr>
          <p:cNvSpPr>
            <a:spLocks noGrp="1"/>
          </p:cNvSpPr>
          <p:nvPr/>
        </p:nvSpPr>
        <p:spPr>
          <a:xfrm>
            <a:off x="8429625" y="2632822"/>
            <a:ext cx="47625" cy="9525"/>
          </a:xfrm>
          <a:custGeom>
            <a:avLst/>
            <a:gdLst/>
            <a:ahLst/>
            <a:cxnLst/>
            <a:rect l="0" t="0" r="0" b="0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657182"/>
            </a:solidFill>
            <a:prstDash val="solid"/>
          </a:ln>
        </p:spPr>
      </p:sp>
      <p:sp>
        <p:nvSpPr>
          <p:cNvPr id="89" name="yl216">
            <a:extLst>
              <a:ext uri="{FF2B5EF4-FFF2-40B4-BE49-F238E27FC236}">
                <a16:creationId xmlns:a16="http://schemas.microsoft.com/office/drawing/2014/main" id="{524262D0-DA4F-4EAA-8B64-8A97870C69D2}"/>
              </a:ext>
            </a:extLst>
          </p:cNvPr>
          <p:cNvSpPr>
            <a:spLocks noGrp="1"/>
          </p:cNvSpPr>
          <p:nvPr/>
        </p:nvSpPr>
        <p:spPr>
          <a:xfrm>
            <a:off x="8191500" y="2508997"/>
            <a:ext cx="2762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0" name="wname2">
            <a:extLst>
              <a:ext uri="{FF2B5EF4-FFF2-40B4-BE49-F238E27FC236}">
                <a16:creationId xmlns:a16="http://schemas.microsoft.com/office/drawing/2014/main" id="{0D7ED93F-E3C6-42D4-AB52-EF8A1223E39F}"/>
              </a:ext>
            </a:extLst>
          </p:cNvPr>
          <p:cNvSpPr>
            <a:spLocks noGrp="1"/>
          </p:cNvSpPr>
          <p:nvPr/>
        </p:nvSpPr>
        <p:spPr>
          <a:xfrm>
            <a:off x="11315700" y="5162550"/>
            <a:ext cx="381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91" name="Lname2">
            <a:extLst>
              <a:ext uri="{FF2B5EF4-FFF2-40B4-BE49-F238E27FC236}">
                <a16:creationId xmlns:a16="http://schemas.microsoft.com/office/drawing/2014/main" id="{22D34D01-81AE-4143-A9D3-1B3837ACDECD}"/>
              </a:ext>
            </a:extLst>
          </p:cNvPr>
          <p:cNvSpPr>
            <a:spLocks noGrp="1"/>
          </p:cNvSpPr>
          <p:nvPr/>
        </p:nvSpPr>
        <p:spPr>
          <a:xfrm>
            <a:off x="8191500" y="233362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92" name="curve2">
            <a:extLst>
              <a:ext uri="{FF2B5EF4-FFF2-40B4-BE49-F238E27FC236}">
                <a16:creationId xmlns:a16="http://schemas.microsoft.com/office/drawing/2014/main" id="{53825E6B-FF18-4E80-80C0-28F6A55314A7}"/>
              </a:ext>
            </a:extLst>
          </p:cNvPr>
          <p:cNvSpPr>
            <a:spLocks noGrp="1"/>
          </p:cNvSpPr>
          <p:nvPr/>
        </p:nvSpPr>
        <p:spPr>
          <a:xfrm>
            <a:off x="8477250" y="2632822"/>
            <a:ext cx="3000375" cy="2196353"/>
          </a:xfrm>
          <a:custGeom>
            <a:avLst/>
            <a:gdLst/>
            <a:ahLst/>
            <a:cxnLst/>
            <a:rect l="0" t="0" r="0" b="0"/>
            <a:pathLst>
              <a:path w="3000375" h="2196353">
                <a:moveTo>
                  <a:pt x="0" y="0"/>
                </a:moveTo>
                <a:lnTo>
                  <a:pt x="25003" y="72602"/>
                </a:lnTo>
                <a:lnTo>
                  <a:pt x="50006" y="143983"/>
                </a:lnTo>
                <a:lnTo>
                  <a:pt x="75009" y="214144"/>
                </a:lnTo>
                <a:lnTo>
                  <a:pt x="100013" y="283085"/>
                </a:lnTo>
                <a:lnTo>
                  <a:pt x="125016" y="350806"/>
                </a:lnTo>
                <a:lnTo>
                  <a:pt x="150019" y="417307"/>
                </a:lnTo>
                <a:lnTo>
                  <a:pt x="175022" y="482588"/>
                </a:lnTo>
                <a:lnTo>
                  <a:pt x="200025" y="546648"/>
                </a:lnTo>
                <a:lnTo>
                  <a:pt x="225028" y="609488"/>
                </a:lnTo>
                <a:lnTo>
                  <a:pt x="250031" y="671108"/>
                </a:lnTo>
                <a:lnTo>
                  <a:pt x="275034" y="731508"/>
                </a:lnTo>
                <a:lnTo>
                  <a:pt x="300038" y="790687"/>
                </a:lnTo>
                <a:lnTo>
                  <a:pt x="325041" y="848646"/>
                </a:lnTo>
                <a:lnTo>
                  <a:pt x="350044" y="905385"/>
                </a:lnTo>
                <a:lnTo>
                  <a:pt x="375047" y="960904"/>
                </a:lnTo>
                <a:lnTo>
                  <a:pt x="400050" y="1015203"/>
                </a:lnTo>
                <a:lnTo>
                  <a:pt x="425053" y="1068282"/>
                </a:lnTo>
                <a:lnTo>
                  <a:pt x="450056" y="1120140"/>
                </a:lnTo>
                <a:lnTo>
                  <a:pt x="475059" y="1170778"/>
                </a:lnTo>
                <a:lnTo>
                  <a:pt x="500063" y="1220196"/>
                </a:lnTo>
                <a:lnTo>
                  <a:pt x="525066" y="1268394"/>
                </a:lnTo>
                <a:lnTo>
                  <a:pt x="550069" y="1315371"/>
                </a:lnTo>
                <a:lnTo>
                  <a:pt x="575072" y="1361129"/>
                </a:lnTo>
                <a:lnTo>
                  <a:pt x="600075" y="1405666"/>
                </a:lnTo>
                <a:lnTo>
                  <a:pt x="625078" y="1448983"/>
                </a:lnTo>
                <a:lnTo>
                  <a:pt x="650081" y="1491080"/>
                </a:lnTo>
                <a:lnTo>
                  <a:pt x="675084" y="1531956"/>
                </a:lnTo>
                <a:lnTo>
                  <a:pt x="700088" y="1571613"/>
                </a:lnTo>
                <a:lnTo>
                  <a:pt x="725091" y="1610049"/>
                </a:lnTo>
                <a:lnTo>
                  <a:pt x="750094" y="1647265"/>
                </a:lnTo>
                <a:lnTo>
                  <a:pt x="775097" y="1683260"/>
                </a:lnTo>
                <a:lnTo>
                  <a:pt x="800100" y="1718036"/>
                </a:lnTo>
                <a:lnTo>
                  <a:pt x="825103" y="1751591"/>
                </a:lnTo>
                <a:lnTo>
                  <a:pt x="850106" y="1783927"/>
                </a:lnTo>
                <a:lnTo>
                  <a:pt x="875109" y="1815042"/>
                </a:lnTo>
                <a:lnTo>
                  <a:pt x="900113" y="1844936"/>
                </a:lnTo>
                <a:lnTo>
                  <a:pt x="925116" y="1873611"/>
                </a:lnTo>
                <a:lnTo>
                  <a:pt x="950119" y="1901065"/>
                </a:lnTo>
                <a:lnTo>
                  <a:pt x="975122" y="1927300"/>
                </a:lnTo>
                <a:lnTo>
                  <a:pt x="1000125" y="1952314"/>
                </a:lnTo>
                <a:lnTo>
                  <a:pt x="1025128" y="1976108"/>
                </a:lnTo>
                <a:lnTo>
                  <a:pt x="1050131" y="1998681"/>
                </a:lnTo>
                <a:lnTo>
                  <a:pt x="1075134" y="2020035"/>
                </a:lnTo>
                <a:lnTo>
                  <a:pt x="1100138" y="2040168"/>
                </a:lnTo>
                <a:lnTo>
                  <a:pt x="1125141" y="2059081"/>
                </a:lnTo>
                <a:lnTo>
                  <a:pt x="1150144" y="2076774"/>
                </a:lnTo>
                <a:lnTo>
                  <a:pt x="1175147" y="2093246"/>
                </a:lnTo>
                <a:lnTo>
                  <a:pt x="1200150" y="2108499"/>
                </a:lnTo>
                <a:lnTo>
                  <a:pt x="1225153" y="2122531"/>
                </a:lnTo>
                <a:lnTo>
                  <a:pt x="1250156" y="2135343"/>
                </a:lnTo>
                <a:lnTo>
                  <a:pt x="1275159" y="2146935"/>
                </a:lnTo>
                <a:lnTo>
                  <a:pt x="1300163" y="2157307"/>
                </a:lnTo>
                <a:lnTo>
                  <a:pt x="1325166" y="2166458"/>
                </a:lnTo>
                <a:lnTo>
                  <a:pt x="1350169" y="2174389"/>
                </a:lnTo>
                <a:lnTo>
                  <a:pt x="1375172" y="2181100"/>
                </a:lnTo>
                <a:lnTo>
                  <a:pt x="1400175" y="2186591"/>
                </a:lnTo>
                <a:lnTo>
                  <a:pt x="1425178" y="2190862"/>
                </a:lnTo>
                <a:lnTo>
                  <a:pt x="1450181" y="2193913"/>
                </a:lnTo>
                <a:lnTo>
                  <a:pt x="1475184" y="2195743"/>
                </a:lnTo>
                <a:lnTo>
                  <a:pt x="1500188" y="2196353"/>
                </a:lnTo>
                <a:lnTo>
                  <a:pt x="1525191" y="2195743"/>
                </a:lnTo>
                <a:lnTo>
                  <a:pt x="1550194" y="2193913"/>
                </a:lnTo>
                <a:lnTo>
                  <a:pt x="1575197" y="2190862"/>
                </a:lnTo>
                <a:lnTo>
                  <a:pt x="1600200" y="2186591"/>
                </a:lnTo>
                <a:lnTo>
                  <a:pt x="1625203" y="2181100"/>
                </a:lnTo>
                <a:lnTo>
                  <a:pt x="1650206" y="2174389"/>
                </a:lnTo>
                <a:lnTo>
                  <a:pt x="1675209" y="2166458"/>
                </a:lnTo>
                <a:lnTo>
                  <a:pt x="1700213" y="2157307"/>
                </a:lnTo>
                <a:lnTo>
                  <a:pt x="1725216" y="2146935"/>
                </a:lnTo>
                <a:lnTo>
                  <a:pt x="1750219" y="2135343"/>
                </a:lnTo>
                <a:lnTo>
                  <a:pt x="1775222" y="2122531"/>
                </a:lnTo>
                <a:lnTo>
                  <a:pt x="1800225" y="2108499"/>
                </a:lnTo>
                <a:lnTo>
                  <a:pt x="1825228" y="2093246"/>
                </a:lnTo>
                <a:lnTo>
                  <a:pt x="1850231" y="2076774"/>
                </a:lnTo>
                <a:lnTo>
                  <a:pt x="1875234" y="2059081"/>
                </a:lnTo>
                <a:lnTo>
                  <a:pt x="1900238" y="2040168"/>
                </a:lnTo>
                <a:lnTo>
                  <a:pt x="1925241" y="2020035"/>
                </a:lnTo>
                <a:lnTo>
                  <a:pt x="1950244" y="1998681"/>
                </a:lnTo>
                <a:lnTo>
                  <a:pt x="1975247" y="1976108"/>
                </a:lnTo>
                <a:lnTo>
                  <a:pt x="2000250" y="1952314"/>
                </a:lnTo>
                <a:lnTo>
                  <a:pt x="2025253" y="1927300"/>
                </a:lnTo>
                <a:lnTo>
                  <a:pt x="2050256" y="1901065"/>
                </a:lnTo>
                <a:lnTo>
                  <a:pt x="2075259" y="1873611"/>
                </a:lnTo>
                <a:lnTo>
                  <a:pt x="2100263" y="1844936"/>
                </a:lnTo>
                <a:lnTo>
                  <a:pt x="2125266" y="1815042"/>
                </a:lnTo>
                <a:lnTo>
                  <a:pt x="2150269" y="1783927"/>
                </a:lnTo>
                <a:lnTo>
                  <a:pt x="2175272" y="1751591"/>
                </a:lnTo>
                <a:lnTo>
                  <a:pt x="2200275" y="1718036"/>
                </a:lnTo>
                <a:lnTo>
                  <a:pt x="2225278" y="1683260"/>
                </a:lnTo>
                <a:lnTo>
                  <a:pt x="2250281" y="1647265"/>
                </a:lnTo>
                <a:lnTo>
                  <a:pt x="2275284" y="1610049"/>
                </a:lnTo>
                <a:lnTo>
                  <a:pt x="2300288" y="1571613"/>
                </a:lnTo>
                <a:lnTo>
                  <a:pt x="2325291" y="1531956"/>
                </a:lnTo>
                <a:lnTo>
                  <a:pt x="2350294" y="1491080"/>
                </a:lnTo>
                <a:lnTo>
                  <a:pt x="2375297" y="1448983"/>
                </a:lnTo>
                <a:lnTo>
                  <a:pt x="2400300" y="1405666"/>
                </a:lnTo>
                <a:lnTo>
                  <a:pt x="2425303" y="1361129"/>
                </a:lnTo>
                <a:lnTo>
                  <a:pt x="2450306" y="1315371"/>
                </a:lnTo>
                <a:lnTo>
                  <a:pt x="2475309" y="1268394"/>
                </a:lnTo>
                <a:lnTo>
                  <a:pt x="2500313" y="1220196"/>
                </a:lnTo>
                <a:lnTo>
                  <a:pt x="2525316" y="1170778"/>
                </a:lnTo>
                <a:lnTo>
                  <a:pt x="2550319" y="1120140"/>
                </a:lnTo>
                <a:lnTo>
                  <a:pt x="2575322" y="1068282"/>
                </a:lnTo>
                <a:lnTo>
                  <a:pt x="2600325" y="1015203"/>
                </a:lnTo>
                <a:lnTo>
                  <a:pt x="2625328" y="960904"/>
                </a:lnTo>
                <a:lnTo>
                  <a:pt x="2650331" y="905385"/>
                </a:lnTo>
                <a:lnTo>
                  <a:pt x="2675334" y="848646"/>
                </a:lnTo>
                <a:lnTo>
                  <a:pt x="2700338" y="790687"/>
                </a:lnTo>
                <a:lnTo>
                  <a:pt x="2725341" y="731508"/>
                </a:lnTo>
                <a:lnTo>
                  <a:pt x="2750344" y="671108"/>
                </a:lnTo>
                <a:lnTo>
                  <a:pt x="2775347" y="609488"/>
                </a:lnTo>
                <a:lnTo>
                  <a:pt x="2800350" y="546648"/>
                </a:lnTo>
                <a:lnTo>
                  <a:pt x="2825353" y="482588"/>
                </a:lnTo>
                <a:lnTo>
                  <a:pt x="2850356" y="417307"/>
                </a:lnTo>
                <a:lnTo>
                  <a:pt x="2875359" y="350806"/>
                </a:lnTo>
                <a:lnTo>
                  <a:pt x="2900363" y="283085"/>
                </a:lnTo>
                <a:lnTo>
                  <a:pt x="2925366" y="214144"/>
                </a:lnTo>
                <a:lnTo>
                  <a:pt x="2950369" y="143983"/>
                </a:lnTo>
                <a:lnTo>
                  <a:pt x="2975372" y="72602"/>
                </a:lnTo>
                <a:lnTo>
                  <a:pt x="3000375" y="0"/>
                </a:lnTo>
              </a:path>
            </a:pathLst>
          </a:custGeom>
          <a:noFill/>
          <a:ln w="23813">
            <a:solidFill>
              <a:srgbClr val="CBD2DC"/>
            </a:solidFill>
            <a:prstDash val="solid"/>
          </a:ln>
        </p:spPr>
      </p:sp>
      <p:sp>
        <p:nvSpPr>
          <p:cNvPr id="93" name="start2">
            <a:extLst>
              <a:ext uri="{FF2B5EF4-FFF2-40B4-BE49-F238E27FC236}">
                <a16:creationId xmlns:a16="http://schemas.microsoft.com/office/drawing/2014/main" id="{9E4A9185-4422-4566-8581-839BD5375464}"/>
              </a:ext>
            </a:extLst>
          </p:cNvPr>
          <p:cNvSpPr>
            <a:spLocks noGrp="1"/>
          </p:cNvSpPr>
          <p:nvPr/>
        </p:nvSpPr>
        <p:spPr>
          <a:xfrm>
            <a:off x="10670381" y="4222937"/>
            <a:ext cx="114300" cy="1143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657182"/>
            </a:solidFill>
            <a:prstDash val="solid"/>
          </a:ln>
        </p:spPr>
      </p:sp>
      <p:sp>
        <p:nvSpPr>
          <p:cNvPr id="94" name="startLabel2">
            <a:extLst>
              <a:ext uri="{FF2B5EF4-FFF2-40B4-BE49-F238E27FC236}">
                <a16:creationId xmlns:a16="http://schemas.microsoft.com/office/drawing/2014/main" id="{4E4ED4ED-53A8-41AE-B903-FD47DFB7F75C}"/>
              </a:ext>
            </a:extLst>
          </p:cNvPr>
          <p:cNvSpPr>
            <a:spLocks noGrp="1"/>
          </p:cNvSpPr>
          <p:nvPr/>
        </p:nvSpPr>
        <p:spPr>
          <a:xfrm>
            <a:off x="10803731" y="3984812"/>
            <a:ext cx="85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95" name="C1_step2">
            <a:extLst>
              <a:ext uri="{FF2B5EF4-FFF2-40B4-BE49-F238E27FC236}">
                <a16:creationId xmlns:a16="http://schemas.microsoft.com/office/drawing/2014/main" id="{DA75D2D5-D34C-4519-ABCC-289D736B2198}"/>
              </a:ext>
            </a:extLst>
          </p:cNvPr>
          <p:cNvSpPr>
            <a:spLocks noGrp="1"/>
          </p:cNvSpPr>
          <p:nvPr/>
        </p:nvSpPr>
        <p:spPr>
          <a:xfrm>
            <a:off x="9077325" y="4038488"/>
            <a:ext cx="1650206" cy="241599"/>
          </a:xfrm>
          <a:custGeom>
            <a:avLst/>
            <a:gdLst/>
            <a:ahLst/>
            <a:cxnLst/>
            <a:rect l="0" t="0" r="0" b="0"/>
            <a:pathLst>
              <a:path w="1650206" h="241599">
                <a:moveTo>
                  <a:pt x="1650206" y="24159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96" name="C1_step2_a">
            <a:extLst>
              <a:ext uri="{FF2B5EF4-FFF2-40B4-BE49-F238E27FC236}">
                <a16:creationId xmlns:a16="http://schemas.microsoft.com/office/drawing/2014/main" id="{3B8C3E2B-8BEC-40EF-AC45-59D0FEC08B51}"/>
              </a:ext>
            </a:extLst>
          </p:cNvPr>
          <p:cNvSpPr>
            <a:spLocks noGrp="1"/>
          </p:cNvSpPr>
          <p:nvPr/>
        </p:nvSpPr>
        <p:spPr>
          <a:xfrm>
            <a:off x="9077325" y="3998798"/>
            <a:ext cx="107188" cy="39690"/>
          </a:xfrm>
          <a:custGeom>
            <a:avLst/>
            <a:gdLst/>
            <a:ahLst/>
            <a:cxnLst/>
            <a:rect l="0" t="0" r="0" b="0"/>
            <a:pathLst>
              <a:path w="107188" h="39690">
                <a:moveTo>
                  <a:pt x="0" y="39690"/>
                </a:moveTo>
                <a:lnTo>
                  <a:pt x="107188" y="0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97" name="C1_step2_b">
            <a:extLst>
              <a:ext uri="{FF2B5EF4-FFF2-40B4-BE49-F238E27FC236}">
                <a16:creationId xmlns:a16="http://schemas.microsoft.com/office/drawing/2014/main" id="{D930D728-41E0-4A01-A23E-03B9957D9AD8}"/>
              </a:ext>
            </a:extLst>
          </p:cNvPr>
          <p:cNvSpPr>
            <a:spLocks noGrp="1"/>
          </p:cNvSpPr>
          <p:nvPr/>
        </p:nvSpPr>
        <p:spPr>
          <a:xfrm>
            <a:off x="9077325" y="4038488"/>
            <a:ext cx="91312" cy="68751"/>
          </a:xfrm>
          <a:custGeom>
            <a:avLst/>
            <a:gdLst/>
            <a:ahLst/>
            <a:cxnLst/>
            <a:rect l="0" t="0" r="0" b="0"/>
            <a:pathLst>
              <a:path w="91312" h="68751">
                <a:moveTo>
                  <a:pt x="0" y="0"/>
                </a:moveTo>
                <a:lnTo>
                  <a:pt x="91312" y="68751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98" name="C1_point2">
            <a:extLst>
              <a:ext uri="{FF2B5EF4-FFF2-40B4-BE49-F238E27FC236}">
                <a16:creationId xmlns:a16="http://schemas.microsoft.com/office/drawing/2014/main" id="{01D38BC4-9964-4928-939F-2FAF7E2DCF0A}"/>
              </a:ext>
            </a:extLst>
          </p:cNvPr>
          <p:cNvSpPr>
            <a:spLocks noGrp="1"/>
          </p:cNvSpPr>
          <p:nvPr/>
        </p:nvSpPr>
        <p:spPr>
          <a:xfrm>
            <a:off x="9020175" y="3981338"/>
            <a:ext cx="114300" cy="114300"/>
          </a:xfrm>
          <a:prstGeom prst="ellipse">
            <a:avLst/>
          </a:prstGeom>
          <a:solidFill>
            <a:srgbClr val="C65D16"/>
          </a:solidFill>
          <a:ln w="19050">
            <a:solidFill>
              <a:srgbClr val="C65D16"/>
            </a:solidFill>
            <a:prstDash val="solid"/>
          </a:ln>
        </p:spPr>
      </p:sp>
      <p:sp>
        <p:nvSpPr>
          <p:cNvPr id="99" name="C2_step2">
            <a:extLst>
              <a:ext uri="{FF2B5EF4-FFF2-40B4-BE49-F238E27FC236}">
                <a16:creationId xmlns:a16="http://schemas.microsoft.com/office/drawing/2014/main" id="{A1D2EE34-CB06-4ACA-AB42-661063E6E2B0}"/>
              </a:ext>
            </a:extLst>
          </p:cNvPr>
          <p:cNvSpPr>
            <a:spLocks noGrp="1"/>
          </p:cNvSpPr>
          <p:nvPr/>
        </p:nvSpPr>
        <p:spPr>
          <a:xfrm>
            <a:off x="9077325" y="3690586"/>
            <a:ext cx="1980248" cy="347902"/>
          </a:xfrm>
          <a:custGeom>
            <a:avLst/>
            <a:gdLst/>
            <a:ahLst/>
            <a:cxnLst/>
            <a:rect l="0" t="0" r="0" b="0"/>
            <a:pathLst>
              <a:path w="1980248" h="347902">
                <a:moveTo>
                  <a:pt x="0" y="347902"/>
                </a:moveTo>
                <a:lnTo>
                  <a:pt x="1980248" y="0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100" name="C2_step2_a">
            <a:extLst>
              <a:ext uri="{FF2B5EF4-FFF2-40B4-BE49-F238E27FC236}">
                <a16:creationId xmlns:a16="http://schemas.microsoft.com/office/drawing/2014/main" id="{84913C65-08FD-4EAD-9091-CD1A895AF0D8}"/>
              </a:ext>
            </a:extLst>
          </p:cNvPr>
          <p:cNvSpPr>
            <a:spLocks noGrp="1"/>
          </p:cNvSpPr>
          <p:nvPr/>
        </p:nvSpPr>
        <p:spPr>
          <a:xfrm>
            <a:off x="10968260" y="3690586"/>
            <a:ext cx="89313" cy="71329"/>
          </a:xfrm>
          <a:custGeom>
            <a:avLst/>
            <a:gdLst/>
            <a:ahLst/>
            <a:cxnLst/>
            <a:rect l="0" t="0" r="0" b="0"/>
            <a:pathLst>
              <a:path w="89313" h="71329">
                <a:moveTo>
                  <a:pt x="89313" y="0"/>
                </a:moveTo>
                <a:lnTo>
                  <a:pt x="0" y="71329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101" name="C2_step2_b">
            <a:extLst>
              <a:ext uri="{FF2B5EF4-FFF2-40B4-BE49-F238E27FC236}">
                <a16:creationId xmlns:a16="http://schemas.microsoft.com/office/drawing/2014/main" id="{8E203CF8-8B32-44BF-AA77-533B206DA029}"/>
              </a:ext>
            </a:extLst>
          </p:cNvPr>
          <p:cNvSpPr>
            <a:spLocks noGrp="1"/>
          </p:cNvSpPr>
          <p:nvPr/>
        </p:nvSpPr>
        <p:spPr>
          <a:xfrm>
            <a:off x="10949296" y="3653971"/>
            <a:ext cx="108277" cy="36615"/>
          </a:xfrm>
          <a:custGeom>
            <a:avLst/>
            <a:gdLst/>
            <a:ahLst/>
            <a:cxnLst/>
            <a:rect l="0" t="0" r="0" b="0"/>
            <a:pathLst>
              <a:path w="108277" h="36615">
                <a:moveTo>
                  <a:pt x="108277" y="3661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102" name="C2_point2">
            <a:extLst>
              <a:ext uri="{FF2B5EF4-FFF2-40B4-BE49-F238E27FC236}">
                <a16:creationId xmlns:a16="http://schemas.microsoft.com/office/drawing/2014/main" id="{35A1C37A-76EE-4B66-9219-0EBBA54E98CF}"/>
              </a:ext>
            </a:extLst>
          </p:cNvPr>
          <p:cNvSpPr>
            <a:spLocks noGrp="1"/>
          </p:cNvSpPr>
          <p:nvPr/>
        </p:nvSpPr>
        <p:spPr>
          <a:xfrm>
            <a:off x="11000423" y="3633436"/>
            <a:ext cx="114300" cy="114300"/>
          </a:xfrm>
          <a:prstGeom prst="ellipse">
            <a:avLst/>
          </a:prstGeom>
          <a:solidFill>
            <a:srgbClr val="C65D16"/>
          </a:solidFill>
          <a:ln w="19050">
            <a:solidFill>
              <a:srgbClr val="C65D16"/>
            </a:solidFill>
            <a:prstDash val="solid"/>
          </a:ln>
        </p:spPr>
      </p:sp>
      <p:sp>
        <p:nvSpPr>
          <p:cNvPr id="103" name="C3_step2">
            <a:extLst>
              <a:ext uri="{FF2B5EF4-FFF2-40B4-BE49-F238E27FC236}">
                <a16:creationId xmlns:a16="http://schemas.microsoft.com/office/drawing/2014/main" id="{CA502CFD-BAA1-4B33-89E4-2C38B9C5E9A7}"/>
              </a:ext>
            </a:extLst>
          </p:cNvPr>
          <p:cNvSpPr>
            <a:spLocks noGrp="1"/>
          </p:cNvSpPr>
          <p:nvPr/>
        </p:nvSpPr>
        <p:spPr>
          <a:xfrm>
            <a:off x="8681276" y="3189606"/>
            <a:ext cx="2376297" cy="500979"/>
          </a:xfrm>
          <a:custGeom>
            <a:avLst/>
            <a:gdLst/>
            <a:ahLst/>
            <a:cxnLst/>
            <a:rect l="0" t="0" r="0" b="0"/>
            <a:pathLst>
              <a:path w="2376297" h="500979">
                <a:moveTo>
                  <a:pt x="2376297" y="50097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104" name="C3_step2_a">
            <a:extLst>
              <a:ext uri="{FF2B5EF4-FFF2-40B4-BE49-F238E27FC236}">
                <a16:creationId xmlns:a16="http://schemas.microsoft.com/office/drawing/2014/main" id="{50ACA49C-AC40-4979-8336-68E977F11252}"/>
              </a:ext>
            </a:extLst>
          </p:cNvPr>
          <p:cNvSpPr>
            <a:spLocks noGrp="1"/>
          </p:cNvSpPr>
          <p:nvPr/>
        </p:nvSpPr>
        <p:spPr>
          <a:xfrm>
            <a:off x="8681276" y="3156679"/>
            <a:ext cx="109454" cy="32927"/>
          </a:xfrm>
          <a:custGeom>
            <a:avLst/>
            <a:gdLst/>
            <a:ahLst/>
            <a:cxnLst/>
            <a:rect l="0" t="0" r="0" b="0"/>
            <a:pathLst>
              <a:path w="109454" h="32927">
                <a:moveTo>
                  <a:pt x="0" y="32927"/>
                </a:moveTo>
                <a:lnTo>
                  <a:pt x="109454" y="0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105" name="C3_step2_b">
            <a:extLst>
              <a:ext uri="{FF2B5EF4-FFF2-40B4-BE49-F238E27FC236}">
                <a16:creationId xmlns:a16="http://schemas.microsoft.com/office/drawing/2014/main" id="{3DA8C185-BFE3-4A7F-A384-E282938AB0F6}"/>
              </a:ext>
            </a:extLst>
          </p:cNvPr>
          <p:cNvSpPr>
            <a:spLocks noGrp="1"/>
          </p:cNvSpPr>
          <p:nvPr/>
        </p:nvSpPr>
        <p:spPr>
          <a:xfrm>
            <a:off x="8681276" y="3189606"/>
            <a:ext cx="86846" cy="74312"/>
          </a:xfrm>
          <a:custGeom>
            <a:avLst/>
            <a:gdLst/>
            <a:ahLst/>
            <a:cxnLst/>
            <a:rect l="0" t="0" r="0" b="0"/>
            <a:pathLst>
              <a:path w="86846" h="74312">
                <a:moveTo>
                  <a:pt x="0" y="0"/>
                </a:moveTo>
                <a:lnTo>
                  <a:pt x="86846" y="74312"/>
                </a:lnTo>
              </a:path>
            </a:pathLst>
          </a:custGeom>
          <a:noFill/>
          <a:ln w="19050">
            <a:solidFill>
              <a:srgbClr val="C65D16"/>
            </a:solidFill>
            <a:prstDash val="solid"/>
          </a:ln>
        </p:spPr>
      </p:sp>
      <p:sp>
        <p:nvSpPr>
          <p:cNvPr id="106" name="C3_point2">
            <a:extLst>
              <a:ext uri="{FF2B5EF4-FFF2-40B4-BE49-F238E27FC236}">
                <a16:creationId xmlns:a16="http://schemas.microsoft.com/office/drawing/2014/main" id="{98F3FB70-D7D1-498A-8D10-CCEA7C09B499}"/>
              </a:ext>
            </a:extLst>
          </p:cNvPr>
          <p:cNvSpPr>
            <a:spLocks noGrp="1"/>
          </p:cNvSpPr>
          <p:nvPr/>
        </p:nvSpPr>
        <p:spPr>
          <a:xfrm>
            <a:off x="8624126" y="3132456"/>
            <a:ext cx="114300" cy="114300"/>
          </a:xfrm>
          <a:prstGeom prst="ellipse">
            <a:avLst/>
          </a:prstGeom>
          <a:solidFill>
            <a:srgbClr val="C65D16"/>
          </a:solidFill>
          <a:ln w="19050">
            <a:solidFill>
              <a:srgbClr val="C65D16"/>
            </a:solidFill>
            <a:prstDash val="solid"/>
          </a:ln>
        </p:spPr>
      </p:sp>
      <p:sp>
        <p:nvSpPr>
          <p:cNvPr id="107" name="C3_value2">
            <a:extLst>
              <a:ext uri="{FF2B5EF4-FFF2-40B4-BE49-F238E27FC236}">
                <a16:creationId xmlns:a16="http://schemas.microsoft.com/office/drawing/2014/main" id="{87C737C6-03A2-4B01-BC5A-D8C6B2A7ACD8}"/>
              </a:ext>
            </a:extLst>
          </p:cNvPr>
          <p:cNvSpPr>
            <a:spLocks noGrp="1"/>
          </p:cNvSpPr>
          <p:nvPr/>
        </p:nvSpPr>
        <p:spPr>
          <a:xfrm>
            <a:off x="8543925" y="5229225"/>
            <a:ext cx="3562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第 3 步：w = 0.544</a:t>
            </a:r>
          </a:p>
        </p:txBody>
      </p:sp>
      <p:sp>
        <p:nvSpPr>
          <p:cNvPr id="108" name="C4_caption2">
            <a:extLst>
              <a:ext uri="{FF2B5EF4-FFF2-40B4-BE49-F238E27FC236}">
                <a16:creationId xmlns:a16="http://schemas.microsoft.com/office/drawing/2014/main" id="{F0CB9AF5-BC67-4508-B447-3BF0DC16345A}"/>
              </a:ext>
            </a:extLst>
          </p:cNvPr>
          <p:cNvSpPr>
            <a:spLocks noGrp="1"/>
          </p:cNvSpPr>
          <p:nvPr/>
        </p:nvSpPr>
        <p:spPr>
          <a:xfrm>
            <a:off x="8543925" y="5572125"/>
            <a:ext cx="3562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越跳越远</a:t>
            </a:r>
            <a:endParaRPr sz="2025" b="1" dirty="0">
              <a:solidFill>
                <a:srgbClr val="C65D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C4_conclusion">
            <a:extLst>
              <a:ext uri="{FF2B5EF4-FFF2-40B4-BE49-F238E27FC236}">
                <a16:creationId xmlns:a16="http://schemas.microsoft.com/office/drawing/2014/main" id="{274467B5-C6FD-4F2C-849C-4C7DD9D9C654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步长由学习率和当前梯度共同决定</a:t>
            </a:r>
          </a:p>
        </p:txBody>
      </p:sp>
    </p:spTree>
    <p:extLst>
      <p:ext uri="{BB962C8B-B14F-4D97-AF65-F5344CB8AC3E}">
        <p14:creationId xmlns:p14="http://schemas.microsoft.com/office/powerpoint/2010/main" val="271053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72" grpId="0"/>
      <p:bldP spid="73" grpId="0"/>
      <p:bldP spid="107" grpId="0"/>
      <p:bldP spid="108" grpId="0"/>
      <p:bldP spid="1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">
            <a:extLst>
              <a:ext uri="{FF2B5EF4-FFF2-40B4-BE49-F238E27FC236}">
                <a16:creationId xmlns:a16="http://schemas.microsoft.com/office/drawing/2014/main" id="{C8C52A6E-DF83-47C9-A0C1-2CE11A552B6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梯度怎样算出来？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F8FD67B-D78D-4656-9891-3526FBAC2E13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3323265-0CAD-46D4-B9E6-1FD559C38B95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逐个试探</a:t>
            </a:r>
            <a:r>
              <a:rPr lang="en-US" altLang="en-US"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太</a:t>
            </a:r>
            <a:r>
              <a:rPr lang="en-US"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麻烦</a:t>
            </a: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，反向传播复用计算结果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leftHead">
            <a:extLst>
              <a:ext uri="{FF2B5EF4-FFF2-40B4-BE49-F238E27FC236}">
                <a16:creationId xmlns:a16="http://schemas.microsoft.com/office/drawing/2014/main" id="{ACCF579F-7DF1-4F04-A4EC-5FBF6B1C8862}"/>
              </a:ext>
            </a:extLst>
          </p:cNvPr>
          <p:cNvSpPr>
            <a:spLocks noGrp="1"/>
          </p:cNvSpPr>
          <p:nvPr/>
        </p:nvSpPr>
        <p:spPr>
          <a:xfrm>
            <a:off x="752475" y="2105025"/>
            <a:ext cx="41624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逐个试探</a:t>
            </a:r>
          </a:p>
        </p:txBody>
      </p:sp>
      <p:sp>
        <p:nvSpPr>
          <p:cNvPr id="5" name="leftSub">
            <a:extLst>
              <a:ext uri="{FF2B5EF4-FFF2-40B4-BE49-F238E27FC236}">
                <a16:creationId xmlns:a16="http://schemas.microsoft.com/office/drawing/2014/main" id="{2255F15A-D320-49D7-A3FC-1E5CBB326CF9}"/>
              </a:ext>
            </a:extLst>
          </p:cNvPr>
          <p:cNvSpPr>
            <a:spLocks noGrp="1"/>
          </p:cNvSpPr>
          <p:nvPr/>
        </p:nvSpPr>
        <p:spPr>
          <a:xfrm>
            <a:off x="752475" y="2619375"/>
            <a:ext cx="4362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每改一个参数，再评估</a:t>
            </a:r>
          </a:p>
        </p:txBody>
      </p:sp>
      <p:sp>
        <p:nvSpPr>
          <p:cNvPr id="6" name="try0">
            <a:extLst>
              <a:ext uri="{FF2B5EF4-FFF2-40B4-BE49-F238E27FC236}">
                <a16:creationId xmlns:a16="http://schemas.microsoft.com/office/drawing/2014/main" id="{FE511D87-437D-4675-AFFE-8C20C725E935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微调 w₁</a:t>
            </a:r>
          </a:p>
        </p:txBody>
      </p:sp>
      <p:sp>
        <p:nvSpPr>
          <p:cNvPr id="7" name="tryArrow0">
            <a:extLst>
              <a:ext uri="{FF2B5EF4-FFF2-40B4-BE49-F238E27FC236}">
                <a16:creationId xmlns:a16="http://schemas.microsoft.com/office/drawing/2014/main" id="{36C609DF-8E23-4AD6-B1EA-95688E6AE113}"/>
              </a:ext>
            </a:extLst>
          </p:cNvPr>
          <p:cNvSpPr>
            <a:spLocks noGrp="1"/>
          </p:cNvSpPr>
          <p:nvPr/>
        </p:nvSpPr>
        <p:spPr>
          <a:xfrm>
            <a:off x="2333625" y="3581400"/>
            <a:ext cx="771525" cy="9525"/>
          </a:xfrm>
          <a:custGeom>
            <a:avLst/>
            <a:gdLst/>
            <a:ahLst/>
            <a:cxnLst/>
            <a:rect l="0" t="0" r="0" b="0"/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8" name="tryArrow0_a">
            <a:extLst>
              <a:ext uri="{FF2B5EF4-FFF2-40B4-BE49-F238E27FC236}">
                <a16:creationId xmlns:a16="http://schemas.microsoft.com/office/drawing/2014/main" id="{5F0A551D-44B1-42B5-9509-3E2E717AFC85}"/>
              </a:ext>
            </a:extLst>
          </p:cNvPr>
          <p:cNvSpPr>
            <a:spLocks noGrp="1"/>
          </p:cNvSpPr>
          <p:nvPr/>
        </p:nvSpPr>
        <p:spPr>
          <a:xfrm>
            <a:off x="3004842" y="35814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9" name="tryArrow0_b">
            <a:extLst>
              <a:ext uri="{FF2B5EF4-FFF2-40B4-BE49-F238E27FC236}">
                <a16:creationId xmlns:a16="http://schemas.microsoft.com/office/drawing/2014/main" id="{262F8162-C50F-4894-808B-BEC788903B6F}"/>
              </a:ext>
            </a:extLst>
          </p:cNvPr>
          <p:cNvSpPr>
            <a:spLocks noGrp="1"/>
          </p:cNvSpPr>
          <p:nvPr/>
        </p:nvSpPr>
        <p:spPr>
          <a:xfrm>
            <a:off x="3004842" y="35266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0" name="eval0">
            <a:extLst>
              <a:ext uri="{FF2B5EF4-FFF2-40B4-BE49-F238E27FC236}">
                <a16:creationId xmlns:a16="http://schemas.microsoft.com/office/drawing/2014/main" id="{FA97D9D0-171E-4FBA-80EE-7EBF55CAFC43}"/>
              </a:ext>
            </a:extLst>
          </p:cNvPr>
          <p:cNvSpPr>
            <a:spLocks noGrp="1"/>
          </p:cNvSpPr>
          <p:nvPr/>
        </p:nvSpPr>
        <p:spPr>
          <a:xfrm>
            <a:off x="3295650" y="3381375"/>
            <a:ext cx="2276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重新计算 Loss</a:t>
            </a:r>
          </a:p>
        </p:txBody>
      </p:sp>
      <p:sp>
        <p:nvSpPr>
          <p:cNvPr id="11" name="try1">
            <a:extLst>
              <a:ext uri="{FF2B5EF4-FFF2-40B4-BE49-F238E27FC236}">
                <a16:creationId xmlns:a16="http://schemas.microsoft.com/office/drawing/2014/main" id="{D1997A13-A14F-4212-A378-9258C99196C3}"/>
              </a:ext>
            </a:extLst>
          </p:cNvPr>
          <p:cNvSpPr>
            <a:spLocks noGrp="1"/>
          </p:cNvSpPr>
          <p:nvPr/>
        </p:nvSpPr>
        <p:spPr>
          <a:xfrm>
            <a:off x="781050" y="406717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微调 w₂</a:t>
            </a:r>
          </a:p>
        </p:txBody>
      </p:sp>
      <p:sp>
        <p:nvSpPr>
          <p:cNvPr id="12" name="tryArrow1">
            <a:extLst>
              <a:ext uri="{FF2B5EF4-FFF2-40B4-BE49-F238E27FC236}">
                <a16:creationId xmlns:a16="http://schemas.microsoft.com/office/drawing/2014/main" id="{2384187D-B3D0-43D1-AECF-CB0411F1C10D}"/>
              </a:ext>
            </a:extLst>
          </p:cNvPr>
          <p:cNvSpPr>
            <a:spLocks noGrp="1"/>
          </p:cNvSpPr>
          <p:nvPr/>
        </p:nvSpPr>
        <p:spPr>
          <a:xfrm>
            <a:off x="2333625" y="4267200"/>
            <a:ext cx="771525" cy="9525"/>
          </a:xfrm>
          <a:custGeom>
            <a:avLst/>
            <a:gdLst/>
            <a:ahLst/>
            <a:cxnLst/>
            <a:rect l="0" t="0" r="0" b="0"/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3" name="tryArrow1_a">
            <a:extLst>
              <a:ext uri="{FF2B5EF4-FFF2-40B4-BE49-F238E27FC236}">
                <a16:creationId xmlns:a16="http://schemas.microsoft.com/office/drawing/2014/main" id="{77E647DD-8612-42D8-9FEC-AC95EB16AFAC}"/>
              </a:ext>
            </a:extLst>
          </p:cNvPr>
          <p:cNvSpPr>
            <a:spLocks noGrp="1"/>
          </p:cNvSpPr>
          <p:nvPr/>
        </p:nvSpPr>
        <p:spPr>
          <a:xfrm>
            <a:off x="3004842" y="42672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4" name="tryArrow1_b">
            <a:extLst>
              <a:ext uri="{FF2B5EF4-FFF2-40B4-BE49-F238E27FC236}">
                <a16:creationId xmlns:a16="http://schemas.microsoft.com/office/drawing/2014/main" id="{4B57375F-D7A8-4A01-B27D-49EF12F230A8}"/>
              </a:ext>
            </a:extLst>
          </p:cNvPr>
          <p:cNvSpPr>
            <a:spLocks noGrp="1"/>
          </p:cNvSpPr>
          <p:nvPr/>
        </p:nvSpPr>
        <p:spPr>
          <a:xfrm>
            <a:off x="3004842" y="42124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5" name="eval1">
            <a:extLst>
              <a:ext uri="{FF2B5EF4-FFF2-40B4-BE49-F238E27FC236}">
                <a16:creationId xmlns:a16="http://schemas.microsoft.com/office/drawing/2014/main" id="{9CAF9AE5-AE33-4BFF-BDC0-899CAE6A7AF3}"/>
              </a:ext>
            </a:extLst>
          </p:cNvPr>
          <p:cNvSpPr>
            <a:spLocks noGrp="1"/>
          </p:cNvSpPr>
          <p:nvPr/>
        </p:nvSpPr>
        <p:spPr>
          <a:xfrm>
            <a:off x="3295650" y="4067175"/>
            <a:ext cx="2276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重新计算 Loss</a:t>
            </a:r>
          </a:p>
        </p:txBody>
      </p:sp>
      <p:sp>
        <p:nvSpPr>
          <p:cNvPr id="16" name="try2">
            <a:extLst>
              <a:ext uri="{FF2B5EF4-FFF2-40B4-BE49-F238E27FC236}">
                <a16:creationId xmlns:a16="http://schemas.microsoft.com/office/drawing/2014/main" id="{DA2B8381-CAF3-4D35-9F6E-D958A38BED25}"/>
              </a:ext>
            </a:extLst>
          </p:cNvPr>
          <p:cNvSpPr>
            <a:spLocks noGrp="1"/>
          </p:cNvSpPr>
          <p:nvPr/>
        </p:nvSpPr>
        <p:spPr>
          <a:xfrm>
            <a:off x="781050" y="475297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微调 w₃</a:t>
            </a:r>
          </a:p>
        </p:txBody>
      </p:sp>
      <p:sp>
        <p:nvSpPr>
          <p:cNvPr id="17" name="tryArrow2">
            <a:extLst>
              <a:ext uri="{FF2B5EF4-FFF2-40B4-BE49-F238E27FC236}">
                <a16:creationId xmlns:a16="http://schemas.microsoft.com/office/drawing/2014/main" id="{1715AB0A-92FC-44CA-8FFF-408A0A39D930}"/>
              </a:ext>
            </a:extLst>
          </p:cNvPr>
          <p:cNvSpPr>
            <a:spLocks noGrp="1"/>
          </p:cNvSpPr>
          <p:nvPr/>
        </p:nvSpPr>
        <p:spPr>
          <a:xfrm>
            <a:off x="2333625" y="4953000"/>
            <a:ext cx="771525" cy="9525"/>
          </a:xfrm>
          <a:custGeom>
            <a:avLst/>
            <a:gdLst/>
            <a:ahLst/>
            <a:cxnLst/>
            <a:rect l="0" t="0" r="0" b="0"/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8" name="tryArrow2_a">
            <a:extLst>
              <a:ext uri="{FF2B5EF4-FFF2-40B4-BE49-F238E27FC236}">
                <a16:creationId xmlns:a16="http://schemas.microsoft.com/office/drawing/2014/main" id="{B5E8FEAD-85F3-4CD7-80A4-EFF98A73D16E}"/>
              </a:ext>
            </a:extLst>
          </p:cNvPr>
          <p:cNvSpPr>
            <a:spLocks noGrp="1"/>
          </p:cNvSpPr>
          <p:nvPr/>
        </p:nvSpPr>
        <p:spPr>
          <a:xfrm>
            <a:off x="3004842" y="4953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9" name="tryArrow2_b">
            <a:extLst>
              <a:ext uri="{FF2B5EF4-FFF2-40B4-BE49-F238E27FC236}">
                <a16:creationId xmlns:a16="http://schemas.microsoft.com/office/drawing/2014/main" id="{279008B7-D496-4B02-BAD1-67932CCA31F0}"/>
              </a:ext>
            </a:extLst>
          </p:cNvPr>
          <p:cNvSpPr>
            <a:spLocks noGrp="1"/>
          </p:cNvSpPr>
          <p:nvPr/>
        </p:nvSpPr>
        <p:spPr>
          <a:xfrm>
            <a:off x="3004842" y="4898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0" name="eval2">
            <a:extLst>
              <a:ext uri="{FF2B5EF4-FFF2-40B4-BE49-F238E27FC236}">
                <a16:creationId xmlns:a16="http://schemas.microsoft.com/office/drawing/2014/main" id="{9A6523F3-AC13-4E23-AFFF-437FF832710D}"/>
              </a:ext>
            </a:extLst>
          </p:cNvPr>
          <p:cNvSpPr>
            <a:spLocks noGrp="1"/>
          </p:cNvSpPr>
          <p:nvPr/>
        </p:nvSpPr>
        <p:spPr>
          <a:xfrm>
            <a:off x="3295650" y="4752975"/>
            <a:ext cx="2276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重新计算 Loss</a:t>
            </a:r>
          </a:p>
        </p:txBody>
      </p:sp>
      <p:sp>
        <p:nvSpPr>
          <p:cNvPr id="21" name="divider">
            <a:extLst>
              <a:ext uri="{FF2B5EF4-FFF2-40B4-BE49-F238E27FC236}">
                <a16:creationId xmlns:a16="http://schemas.microsoft.com/office/drawing/2014/main" id="{9E981D0A-3DFC-4224-A17D-EDDC2931C5B3}"/>
              </a:ext>
            </a:extLst>
          </p:cNvPr>
          <p:cNvSpPr>
            <a:spLocks noGrp="1"/>
          </p:cNvSpPr>
          <p:nvPr/>
        </p:nvSpPr>
        <p:spPr>
          <a:xfrm>
            <a:off x="5886450" y="2152650"/>
            <a:ext cx="9525" cy="3238500"/>
          </a:xfrm>
          <a:custGeom>
            <a:avLst/>
            <a:gdLst/>
            <a:ahLst/>
            <a:cxnLst/>
            <a:rect l="0" t="0" r="0" b="0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9525">
            <a:solidFill>
              <a:srgbClr val="CBD2DC"/>
            </a:solidFill>
            <a:prstDash val="solid"/>
          </a:ln>
        </p:spPr>
      </p:sp>
      <p:sp>
        <p:nvSpPr>
          <p:cNvPr id="22" name="C1_rightHead">
            <a:extLst>
              <a:ext uri="{FF2B5EF4-FFF2-40B4-BE49-F238E27FC236}">
                <a16:creationId xmlns:a16="http://schemas.microsoft.com/office/drawing/2014/main" id="{75AEA5D3-499E-4F37-BA88-E3269DA971E7}"/>
              </a:ext>
            </a:extLst>
          </p:cNvPr>
          <p:cNvSpPr>
            <a:spLocks noGrp="1"/>
          </p:cNvSpPr>
          <p:nvPr/>
        </p:nvSpPr>
        <p:spPr>
          <a:xfrm>
            <a:off x="6524625" y="2105025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反向传播</a:t>
            </a:r>
          </a:p>
        </p:txBody>
      </p:sp>
      <p:sp>
        <p:nvSpPr>
          <p:cNvPr id="23" name="C1_rightSub">
            <a:extLst>
              <a:ext uri="{FF2B5EF4-FFF2-40B4-BE49-F238E27FC236}">
                <a16:creationId xmlns:a16="http://schemas.microsoft.com/office/drawing/2014/main" id="{2CF0949D-3974-44C8-AE85-B2026EA2A0A4}"/>
              </a:ext>
            </a:extLst>
          </p:cNvPr>
          <p:cNvSpPr>
            <a:spLocks noGrp="1"/>
          </p:cNvSpPr>
          <p:nvPr/>
        </p:nvSpPr>
        <p:spPr>
          <a:xfrm>
            <a:off x="6524625" y="2619375"/>
            <a:ext cx="48672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保存中间结果，复用计算</a:t>
            </a:r>
          </a:p>
        </p:txBody>
      </p:sp>
      <p:sp>
        <p:nvSpPr>
          <p:cNvPr id="24" name="C1_node0">
            <a:extLst>
              <a:ext uri="{FF2B5EF4-FFF2-40B4-BE49-F238E27FC236}">
                <a16:creationId xmlns:a16="http://schemas.microsoft.com/office/drawing/2014/main" id="{DB6497F6-8701-4194-9F66-60DD1FD8C55E}"/>
              </a:ext>
            </a:extLst>
          </p:cNvPr>
          <p:cNvSpPr>
            <a:spLocks noGrp="1"/>
          </p:cNvSpPr>
          <p:nvPr/>
        </p:nvSpPr>
        <p:spPr>
          <a:xfrm>
            <a:off x="6848475" y="3476625"/>
            <a:ext cx="190500" cy="1905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CBD2DC"/>
            </a:solidFill>
            <a:prstDash val="solid"/>
          </a:ln>
        </p:spPr>
      </p:sp>
      <p:sp>
        <p:nvSpPr>
          <p:cNvPr id="25" name="C1_link0">
            <a:extLst>
              <a:ext uri="{FF2B5EF4-FFF2-40B4-BE49-F238E27FC236}">
                <a16:creationId xmlns:a16="http://schemas.microsoft.com/office/drawing/2014/main" id="{8D9FA68D-BC20-4119-8304-E8FBB031B763}"/>
              </a:ext>
            </a:extLst>
          </p:cNvPr>
          <p:cNvSpPr>
            <a:spLocks noGrp="1"/>
          </p:cNvSpPr>
          <p:nvPr/>
        </p:nvSpPr>
        <p:spPr>
          <a:xfrm>
            <a:off x="7134225" y="3571875"/>
            <a:ext cx="1600200" cy="9525"/>
          </a:xfrm>
          <a:custGeom>
            <a:avLst/>
            <a:gdLst/>
            <a:ahLst/>
            <a:cxnLst/>
            <a:rect l="0" t="0" r="0" b="0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6" name="C1_link0_a">
            <a:extLst>
              <a:ext uri="{FF2B5EF4-FFF2-40B4-BE49-F238E27FC236}">
                <a16:creationId xmlns:a16="http://schemas.microsoft.com/office/drawing/2014/main" id="{6D028846-253D-42BC-BCE0-69280759FE9D}"/>
              </a:ext>
            </a:extLst>
          </p:cNvPr>
          <p:cNvSpPr>
            <a:spLocks noGrp="1"/>
          </p:cNvSpPr>
          <p:nvPr/>
        </p:nvSpPr>
        <p:spPr>
          <a:xfrm>
            <a:off x="8634117" y="35718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7" name="C1_link0_b">
            <a:extLst>
              <a:ext uri="{FF2B5EF4-FFF2-40B4-BE49-F238E27FC236}">
                <a16:creationId xmlns:a16="http://schemas.microsoft.com/office/drawing/2014/main" id="{EA19EF55-E50C-436B-8F3D-8BEB1F4B33A3}"/>
              </a:ext>
            </a:extLst>
          </p:cNvPr>
          <p:cNvSpPr>
            <a:spLocks noGrp="1"/>
          </p:cNvSpPr>
          <p:nvPr/>
        </p:nvSpPr>
        <p:spPr>
          <a:xfrm>
            <a:off x="8634117" y="35170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8" name="C1_node1">
            <a:extLst>
              <a:ext uri="{FF2B5EF4-FFF2-40B4-BE49-F238E27FC236}">
                <a16:creationId xmlns:a16="http://schemas.microsoft.com/office/drawing/2014/main" id="{6C1EB39F-6BFA-4CB8-81EB-094F5C1CEB01}"/>
              </a:ext>
            </a:extLst>
          </p:cNvPr>
          <p:cNvSpPr>
            <a:spLocks noGrp="1"/>
          </p:cNvSpPr>
          <p:nvPr/>
        </p:nvSpPr>
        <p:spPr>
          <a:xfrm>
            <a:off x="8829675" y="3476625"/>
            <a:ext cx="190500" cy="1905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CBD2DC"/>
            </a:solidFill>
            <a:prstDash val="solid"/>
          </a:ln>
        </p:spPr>
      </p:sp>
      <p:sp>
        <p:nvSpPr>
          <p:cNvPr id="29" name="C1_link1">
            <a:extLst>
              <a:ext uri="{FF2B5EF4-FFF2-40B4-BE49-F238E27FC236}">
                <a16:creationId xmlns:a16="http://schemas.microsoft.com/office/drawing/2014/main" id="{08E2A231-A400-47CF-AA39-13F7B4060BA3}"/>
              </a:ext>
            </a:extLst>
          </p:cNvPr>
          <p:cNvSpPr>
            <a:spLocks noGrp="1"/>
          </p:cNvSpPr>
          <p:nvPr/>
        </p:nvSpPr>
        <p:spPr>
          <a:xfrm>
            <a:off x="9115425" y="3571875"/>
            <a:ext cx="1647825" cy="9525"/>
          </a:xfrm>
          <a:custGeom>
            <a:avLst/>
            <a:gdLst/>
            <a:ahLst/>
            <a:cxnLst/>
            <a:rect l="0" t="0" r="0" b="0"/>
            <a:pathLst>
              <a:path w="1647825" h="9525">
                <a:moveTo>
                  <a:pt x="0" y="0"/>
                </a:moveTo>
                <a:lnTo>
                  <a:pt x="16478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30" name="C1_link1_a">
            <a:extLst>
              <a:ext uri="{FF2B5EF4-FFF2-40B4-BE49-F238E27FC236}">
                <a16:creationId xmlns:a16="http://schemas.microsoft.com/office/drawing/2014/main" id="{8B2EC20D-3126-4651-8942-A99D4CDD93F9}"/>
              </a:ext>
            </a:extLst>
          </p:cNvPr>
          <p:cNvSpPr>
            <a:spLocks noGrp="1"/>
          </p:cNvSpPr>
          <p:nvPr/>
        </p:nvSpPr>
        <p:spPr>
          <a:xfrm>
            <a:off x="10662942" y="35718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31" name="C1_link1_b">
            <a:extLst>
              <a:ext uri="{FF2B5EF4-FFF2-40B4-BE49-F238E27FC236}">
                <a16:creationId xmlns:a16="http://schemas.microsoft.com/office/drawing/2014/main" id="{200FCC5E-882B-4B7D-822E-03E7251FA9FF}"/>
              </a:ext>
            </a:extLst>
          </p:cNvPr>
          <p:cNvSpPr>
            <a:spLocks noGrp="1"/>
          </p:cNvSpPr>
          <p:nvPr/>
        </p:nvSpPr>
        <p:spPr>
          <a:xfrm>
            <a:off x="10662942" y="35170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32" name="C1_node2">
            <a:extLst>
              <a:ext uri="{FF2B5EF4-FFF2-40B4-BE49-F238E27FC236}">
                <a16:creationId xmlns:a16="http://schemas.microsoft.com/office/drawing/2014/main" id="{29DF6911-ACDA-4BB4-A605-59CAB42477B4}"/>
              </a:ext>
            </a:extLst>
          </p:cNvPr>
          <p:cNvSpPr>
            <a:spLocks noGrp="1"/>
          </p:cNvSpPr>
          <p:nvPr/>
        </p:nvSpPr>
        <p:spPr>
          <a:xfrm>
            <a:off x="10858500" y="3476625"/>
            <a:ext cx="190500" cy="19050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CBD2DC"/>
            </a:solidFill>
            <a:prstDash val="solid"/>
          </a:ln>
        </p:spPr>
      </p:sp>
      <p:sp>
        <p:nvSpPr>
          <p:cNvPr id="33" name="C2_node0">
            <a:extLst>
              <a:ext uri="{FF2B5EF4-FFF2-40B4-BE49-F238E27FC236}">
                <a16:creationId xmlns:a16="http://schemas.microsoft.com/office/drawing/2014/main" id="{3D210F52-B211-4372-A62F-477B2D5C8B29}"/>
              </a:ext>
            </a:extLst>
          </p:cNvPr>
          <p:cNvSpPr>
            <a:spLocks noGrp="1"/>
          </p:cNvSpPr>
          <p:nvPr/>
        </p:nvSpPr>
        <p:spPr>
          <a:xfrm>
            <a:off x="6848475" y="3476625"/>
            <a:ext cx="190500" cy="1905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C2_link0">
            <a:extLst>
              <a:ext uri="{FF2B5EF4-FFF2-40B4-BE49-F238E27FC236}">
                <a16:creationId xmlns:a16="http://schemas.microsoft.com/office/drawing/2014/main" id="{BE9CB846-1C01-4879-BF09-42B87285D524}"/>
              </a:ext>
            </a:extLst>
          </p:cNvPr>
          <p:cNvSpPr>
            <a:spLocks noGrp="1"/>
          </p:cNvSpPr>
          <p:nvPr/>
        </p:nvSpPr>
        <p:spPr>
          <a:xfrm>
            <a:off x="7134225" y="3571875"/>
            <a:ext cx="1600200" cy="9525"/>
          </a:xfrm>
          <a:custGeom>
            <a:avLst/>
            <a:gdLst/>
            <a:ahLst/>
            <a:cxnLst/>
            <a:rect l="0" t="0" r="0" b="0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5" name="C2_link0_a">
            <a:extLst>
              <a:ext uri="{FF2B5EF4-FFF2-40B4-BE49-F238E27FC236}">
                <a16:creationId xmlns:a16="http://schemas.microsoft.com/office/drawing/2014/main" id="{F302E56D-AE66-4491-8D72-6408C963E581}"/>
              </a:ext>
            </a:extLst>
          </p:cNvPr>
          <p:cNvSpPr>
            <a:spLocks noGrp="1"/>
          </p:cNvSpPr>
          <p:nvPr/>
        </p:nvSpPr>
        <p:spPr>
          <a:xfrm>
            <a:off x="8634117" y="35718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6" name="C2_link0_b">
            <a:extLst>
              <a:ext uri="{FF2B5EF4-FFF2-40B4-BE49-F238E27FC236}">
                <a16:creationId xmlns:a16="http://schemas.microsoft.com/office/drawing/2014/main" id="{5412833F-13B9-4D2D-973D-CE54AF6FFF8F}"/>
              </a:ext>
            </a:extLst>
          </p:cNvPr>
          <p:cNvSpPr>
            <a:spLocks noGrp="1"/>
          </p:cNvSpPr>
          <p:nvPr/>
        </p:nvSpPr>
        <p:spPr>
          <a:xfrm>
            <a:off x="8634117" y="35170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7" name="C2_record0">
            <a:extLst>
              <a:ext uri="{FF2B5EF4-FFF2-40B4-BE49-F238E27FC236}">
                <a16:creationId xmlns:a16="http://schemas.microsoft.com/office/drawing/2014/main" id="{7EC433DC-8BF5-451F-A9BA-48865486AE59}"/>
              </a:ext>
            </a:extLst>
          </p:cNvPr>
          <p:cNvSpPr>
            <a:spLocks noGrp="1"/>
          </p:cNvSpPr>
          <p:nvPr/>
        </p:nvSpPr>
        <p:spPr>
          <a:xfrm>
            <a:off x="6438900" y="3876675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38" name="C2_node1">
            <a:extLst>
              <a:ext uri="{FF2B5EF4-FFF2-40B4-BE49-F238E27FC236}">
                <a16:creationId xmlns:a16="http://schemas.microsoft.com/office/drawing/2014/main" id="{ED441276-6464-4C7E-96FE-83FDCCA538C3}"/>
              </a:ext>
            </a:extLst>
          </p:cNvPr>
          <p:cNvSpPr>
            <a:spLocks noGrp="1"/>
          </p:cNvSpPr>
          <p:nvPr/>
        </p:nvSpPr>
        <p:spPr>
          <a:xfrm>
            <a:off x="8829675" y="3476625"/>
            <a:ext cx="190500" cy="1905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9" name="C2_link1">
            <a:extLst>
              <a:ext uri="{FF2B5EF4-FFF2-40B4-BE49-F238E27FC236}">
                <a16:creationId xmlns:a16="http://schemas.microsoft.com/office/drawing/2014/main" id="{1542EAD2-D8F8-4BE9-A86B-0F6BCC05A743}"/>
              </a:ext>
            </a:extLst>
          </p:cNvPr>
          <p:cNvSpPr>
            <a:spLocks noGrp="1"/>
          </p:cNvSpPr>
          <p:nvPr/>
        </p:nvSpPr>
        <p:spPr>
          <a:xfrm>
            <a:off x="9115425" y="3571875"/>
            <a:ext cx="1647825" cy="9525"/>
          </a:xfrm>
          <a:custGeom>
            <a:avLst/>
            <a:gdLst/>
            <a:ahLst/>
            <a:cxnLst/>
            <a:rect l="0" t="0" r="0" b="0"/>
            <a:pathLst>
              <a:path w="1647825" h="9525">
                <a:moveTo>
                  <a:pt x="0" y="0"/>
                </a:moveTo>
                <a:lnTo>
                  <a:pt x="1647825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0" name="C2_link1_a">
            <a:extLst>
              <a:ext uri="{FF2B5EF4-FFF2-40B4-BE49-F238E27FC236}">
                <a16:creationId xmlns:a16="http://schemas.microsoft.com/office/drawing/2014/main" id="{013A06C4-5DE9-4610-A130-AE31428DFE4E}"/>
              </a:ext>
            </a:extLst>
          </p:cNvPr>
          <p:cNvSpPr>
            <a:spLocks noGrp="1"/>
          </p:cNvSpPr>
          <p:nvPr/>
        </p:nvSpPr>
        <p:spPr>
          <a:xfrm>
            <a:off x="10662942" y="35718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1" name="C2_link1_b">
            <a:extLst>
              <a:ext uri="{FF2B5EF4-FFF2-40B4-BE49-F238E27FC236}">
                <a16:creationId xmlns:a16="http://schemas.microsoft.com/office/drawing/2014/main" id="{4B103074-F6C1-4AB9-9AFD-21B0EDA32BA6}"/>
              </a:ext>
            </a:extLst>
          </p:cNvPr>
          <p:cNvSpPr>
            <a:spLocks noGrp="1"/>
          </p:cNvSpPr>
          <p:nvPr/>
        </p:nvSpPr>
        <p:spPr>
          <a:xfrm>
            <a:off x="10662942" y="35170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2" name="C2_record1">
            <a:extLst>
              <a:ext uri="{FF2B5EF4-FFF2-40B4-BE49-F238E27FC236}">
                <a16:creationId xmlns:a16="http://schemas.microsoft.com/office/drawing/2014/main" id="{56CCDE16-E146-43C6-B676-CDE46A1ED512}"/>
              </a:ext>
            </a:extLst>
          </p:cNvPr>
          <p:cNvSpPr>
            <a:spLocks noGrp="1"/>
          </p:cNvSpPr>
          <p:nvPr/>
        </p:nvSpPr>
        <p:spPr>
          <a:xfrm>
            <a:off x="8420100" y="3876675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中间结果</a:t>
            </a:r>
          </a:p>
        </p:txBody>
      </p:sp>
      <p:sp>
        <p:nvSpPr>
          <p:cNvPr id="43" name="C2_node2">
            <a:extLst>
              <a:ext uri="{FF2B5EF4-FFF2-40B4-BE49-F238E27FC236}">
                <a16:creationId xmlns:a16="http://schemas.microsoft.com/office/drawing/2014/main" id="{ED2C7CB6-F084-466B-9CA4-0F388B56F66C}"/>
              </a:ext>
            </a:extLst>
          </p:cNvPr>
          <p:cNvSpPr>
            <a:spLocks noGrp="1"/>
          </p:cNvSpPr>
          <p:nvPr/>
        </p:nvSpPr>
        <p:spPr>
          <a:xfrm>
            <a:off x="10858500" y="3476625"/>
            <a:ext cx="190500" cy="1905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4" name="C2_record2">
            <a:extLst>
              <a:ext uri="{FF2B5EF4-FFF2-40B4-BE49-F238E27FC236}">
                <a16:creationId xmlns:a16="http://schemas.microsoft.com/office/drawing/2014/main" id="{EB56250A-F39A-4E78-9631-E57EA50939F9}"/>
              </a:ext>
            </a:extLst>
          </p:cNvPr>
          <p:cNvSpPr>
            <a:spLocks noGrp="1"/>
          </p:cNvSpPr>
          <p:nvPr/>
        </p:nvSpPr>
        <p:spPr>
          <a:xfrm>
            <a:off x="10448925" y="3876675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Loss</a:t>
            </a:r>
          </a:p>
        </p:txBody>
      </p:sp>
      <p:sp>
        <p:nvSpPr>
          <p:cNvPr id="45" name="C3_reverse1">
            <a:extLst>
              <a:ext uri="{FF2B5EF4-FFF2-40B4-BE49-F238E27FC236}">
                <a16:creationId xmlns:a16="http://schemas.microsoft.com/office/drawing/2014/main" id="{8E69A1E7-1CFB-4B81-8E22-A3B188575E25}"/>
              </a:ext>
            </a:extLst>
          </p:cNvPr>
          <p:cNvSpPr>
            <a:spLocks noGrp="1"/>
          </p:cNvSpPr>
          <p:nvPr/>
        </p:nvSpPr>
        <p:spPr>
          <a:xfrm>
            <a:off x="9115425" y="4667250"/>
            <a:ext cx="1647825" cy="9525"/>
          </a:xfrm>
          <a:custGeom>
            <a:avLst/>
            <a:gdLst/>
            <a:ahLst/>
            <a:cxnLst/>
            <a:rect l="0" t="0" r="0" b="0"/>
            <a:pathLst>
              <a:path w="1647825" h="9525">
                <a:moveTo>
                  <a:pt x="1647825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6" name="C3_reverse1_a">
            <a:extLst>
              <a:ext uri="{FF2B5EF4-FFF2-40B4-BE49-F238E27FC236}">
                <a16:creationId xmlns:a16="http://schemas.microsoft.com/office/drawing/2014/main" id="{5D77722A-F57E-4CA8-A898-B8F4FD6D6B5E}"/>
              </a:ext>
            </a:extLst>
          </p:cNvPr>
          <p:cNvSpPr>
            <a:spLocks noGrp="1"/>
          </p:cNvSpPr>
          <p:nvPr/>
        </p:nvSpPr>
        <p:spPr>
          <a:xfrm>
            <a:off x="9115425" y="461245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7" name="C3_reverse1_b">
            <a:extLst>
              <a:ext uri="{FF2B5EF4-FFF2-40B4-BE49-F238E27FC236}">
                <a16:creationId xmlns:a16="http://schemas.microsoft.com/office/drawing/2014/main" id="{E2F91B46-88FB-43B4-80F6-5AE4A84C63E3}"/>
              </a:ext>
            </a:extLst>
          </p:cNvPr>
          <p:cNvSpPr>
            <a:spLocks noGrp="1"/>
          </p:cNvSpPr>
          <p:nvPr/>
        </p:nvSpPr>
        <p:spPr>
          <a:xfrm>
            <a:off x="9115425" y="466725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8" name="C3_reverse2">
            <a:extLst>
              <a:ext uri="{FF2B5EF4-FFF2-40B4-BE49-F238E27FC236}">
                <a16:creationId xmlns:a16="http://schemas.microsoft.com/office/drawing/2014/main" id="{B92E99E9-7584-4C8E-B846-74FF73FFD2AE}"/>
              </a:ext>
            </a:extLst>
          </p:cNvPr>
          <p:cNvSpPr>
            <a:spLocks noGrp="1"/>
          </p:cNvSpPr>
          <p:nvPr/>
        </p:nvSpPr>
        <p:spPr>
          <a:xfrm>
            <a:off x="7134225" y="4667250"/>
            <a:ext cx="1600200" cy="9525"/>
          </a:xfrm>
          <a:custGeom>
            <a:avLst/>
            <a:gdLst/>
            <a:ahLst/>
            <a:cxnLst/>
            <a:rect l="0" t="0" r="0" b="0"/>
            <a:pathLst>
              <a:path w="1600200" h="9525">
                <a:moveTo>
                  <a:pt x="16002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9" name="C3_reverse2_a">
            <a:extLst>
              <a:ext uri="{FF2B5EF4-FFF2-40B4-BE49-F238E27FC236}">
                <a16:creationId xmlns:a16="http://schemas.microsoft.com/office/drawing/2014/main" id="{953A2AB2-E264-43D2-B847-727CC88B401F}"/>
              </a:ext>
            </a:extLst>
          </p:cNvPr>
          <p:cNvSpPr>
            <a:spLocks noGrp="1"/>
          </p:cNvSpPr>
          <p:nvPr/>
        </p:nvSpPr>
        <p:spPr>
          <a:xfrm>
            <a:off x="7134225" y="461245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0" name="C3_reverse2_b">
            <a:extLst>
              <a:ext uri="{FF2B5EF4-FFF2-40B4-BE49-F238E27FC236}">
                <a16:creationId xmlns:a16="http://schemas.microsoft.com/office/drawing/2014/main" id="{50CC52D7-EF22-4B5A-AA1A-5682849EAE45}"/>
              </a:ext>
            </a:extLst>
          </p:cNvPr>
          <p:cNvSpPr>
            <a:spLocks noGrp="1"/>
          </p:cNvSpPr>
          <p:nvPr/>
        </p:nvSpPr>
        <p:spPr>
          <a:xfrm>
            <a:off x="7134225" y="466725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1" name="C3_reuse">
            <a:extLst>
              <a:ext uri="{FF2B5EF4-FFF2-40B4-BE49-F238E27FC236}">
                <a16:creationId xmlns:a16="http://schemas.microsoft.com/office/drawing/2014/main" id="{B3693ACE-6F46-4A43-9D1D-0D225ABCF104}"/>
              </a:ext>
            </a:extLst>
          </p:cNvPr>
          <p:cNvSpPr>
            <a:spLocks noGrp="1"/>
          </p:cNvSpPr>
          <p:nvPr/>
        </p:nvSpPr>
        <p:spPr>
          <a:xfrm>
            <a:off x="6515100" y="5029200"/>
            <a:ext cx="4981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沿计算关系回传，复用结果</a:t>
            </a:r>
          </a:p>
        </p:txBody>
      </p:sp>
      <p:sp>
        <p:nvSpPr>
          <p:cNvPr id="52" name="C3_conclusion">
            <a:extLst>
              <a:ext uri="{FF2B5EF4-FFF2-40B4-BE49-F238E27FC236}">
                <a16:creationId xmlns:a16="http://schemas.microsoft.com/office/drawing/2014/main" id="{935BF604-CAAE-47EA-BFA3-89498A812A72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得到各参数的梯度</a:t>
            </a:r>
          </a:p>
        </p:txBody>
      </p:sp>
    </p:spTree>
    <p:extLst>
      <p:ext uri="{BB962C8B-B14F-4D97-AF65-F5344CB8AC3E}">
        <p14:creationId xmlns:p14="http://schemas.microsoft.com/office/powerpoint/2010/main" val="140543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7" grpId="0"/>
      <p:bldP spid="42" grpId="0"/>
      <p:bldP spid="44" grpId="0"/>
      <p:bldP spid="51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DBA5E939-70B2-4550-8CA7-8D28BB9875A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链式法则的传递倍率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9F5E5D9F-16DE-415F-9586-57379280FE6C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7DFE99B-FF05-445C-8320-333D5A36905F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沿一条计算路径，观察微小变化怎样传递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tation0">
            <a:extLst>
              <a:ext uri="{FF2B5EF4-FFF2-40B4-BE49-F238E27FC236}">
                <a16:creationId xmlns:a16="http://schemas.microsoft.com/office/drawing/2014/main" id="{478A5DDC-3566-4510-8658-4FFB7127E276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2095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5" name="station1">
            <a:extLst>
              <a:ext uri="{FF2B5EF4-FFF2-40B4-BE49-F238E27FC236}">
                <a16:creationId xmlns:a16="http://schemas.microsoft.com/office/drawing/2014/main" id="{E8CD5807-494D-412E-A840-E0C1AAADE1B1}"/>
              </a:ext>
            </a:extLst>
          </p:cNvPr>
          <p:cNvSpPr>
            <a:spLocks noGrp="1"/>
          </p:cNvSpPr>
          <p:nvPr/>
        </p:nvSpPr>
        <p:spPr>
          <a:xfrm>
            <a:off x="4943475" y="2228850"/>
            <a:ext cx="2095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中间</a:t>
            </a:r>
          </a:p>
        </p:txBody>
      </p:sp>
      <p:sp>
        <p:nvSpPr>
          <p:cNvPr id="6" name="station2">
            <a:extLst>
              <a:ext uri="{FF2B5EF4-FFF2-40B4-BE49-F238E27FC236}">
                <a16:creationId xmlns:a16="http://schemas.microsoft.com/office/drawing/2014/main" id="{6766404D-F7C5-4E96-BBEF-0860C0D5C726}"/>
              </a:ext>
            </a:extLst>
          </p:cNvPr>
          <p:cNvSpPr>
            <a:spLocks noGrp="1"/>
          </p:cNvSpPr>
          <p:nvPr/>
        </p:nvSpPr>
        <p:spPr>
          <a:xfrm>
            <a:off x="9029700" y="2228850"/>
            <a:ext cx="2095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终点</a:t>
            </a:r>
          </a:p>
        </p:txBody>
      </p:sp>
      <p:sp>
        <p:nvSpPr>
          <p:cNvPr id="7" name="delta">
            <a:extLst>
              <a:ext uri="{FF2B5EF4-FFF2-40B4-BE49-F238E27FC236}">
                <a16:creationId xmlns:a16="http://schemas.microsoft.com/office/drawing/2014/main" id="{97F1AA72-9290-416B-8549-39379CD374F7}"/>
              </a:ext>
            </a:extLst>
          </p:cNvPr>
          <p:cNvSpPr>
            <a:spLocks noGrp="1"/>
          </p:cNvSpPr>
          <p:nvPr/>
        </p:nvSpPr>
        <p:spPr>
          <a:xfrm>
            <a:off x="981075" y="3057525"/>
            <a:ext cx="212407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δ</a:t>
            </a:r>
          </a:p>
        </p:txBody>
      </p:sp>
      <p:sp>
        <p:nvSpPr>
          <p:cNvPr id="8" name="C1_first">
            <a:extLst>
              <a:ext uri="{FF2B5EF4-FFF2-40B4-BE49-F238E27FC236}">
                <a16:creationId xmlns:a16="http://schemas.microsoft.com/office/drawing/2014/main" id="{14A50332-E26D-422B-841D-79D3C6779FF1}"/>
              </a:ext>
            </a:extLst>
          </p:cNvPr>
          <p:cNvSpPr>
            <a:spLocks noGrp="1"/>
          </p:cNvSpPr>
          <p:nvPr/>
        </p:nvSpPr>
        <p:spPr>
          <a:xfrm>
            <a:off x="2505075" y="3419475"/>
            <a:ext cx="2047875" cy="9525"/>
          </a:xfrm>
          <a:custGeom>
            <a:avLst/>
            <a:gdLst/>
            <a:ahLst/>
            <a:cxnLst/>
            <a:rect l="0" t="0" r="0" b="0"/>
            <a:pathLst>
              <a:path w="2047875" h="9525">
                <a:moveTo>
                  <a:pt x="0" y="0"/>
                </a:moveTo>
                <a:lnTo>
                  <a:pt x="2047875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C1_first_a">
            <a:extLst>
              <a:ext uri="{FF2B5EF4-FFF2-40B4-BE49-F238E27FC236}">
                <a16:creationId xmlns:a16="http://schemas.microsoft.com/office/drawing/2014/main" id="{4833D91E-0F31-49D3-B581-E4BA908B9996}"/>
              </a:ext>
            </a:extLst>
          </p:cNvPr>
          <p:cNvSpPr>
            <a:spLocks noGrp="1"/>
          </p:cNvSpPr>
          <p:nvPr/>
        </p:nvSpPr>
        <p:spPr>
          <a:xfrm>
            <a:off x="4452642" y="34194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C1_first_b">
            <a:extLst>
              <a:ext uri="{FF2B5EF4-FFF2-40B4-BE49-F238E27FC236}">
                <a16:creationId xmlns:a16="http://schemas.microsoft.com/office/drawing/2014/main" id="{617EA7FF-AEC4-4F57-8448-33EFEFC55135}"/>
              </a:ext>
            </a:extLst>
          </p:cNvPr>
          <p:cNvSpPr>
            <a:spLocks noGrp="1"/>
          </p:cNvSpPr>
          <p:nvPr/>
        </p:nvSpPr>
        <p:spPr>
          <a:xfrm>
            <a:off x="4452642" y="33646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C1_mult">
            <a:extLst>
              <a:ext uri="{FF2B5EF4-FFF2-40B4-BE49-F238E27FC236}">
                <a16:creationId xmlns:a16="http://schemas.microsoft.com/office/drawing/2014/main" id="{04F570C6-CE0E-4E33-88FC-E7A63ADDD45E}"/>
              </a:ext>
            </a:extLst>
          </p:cNvPr>
          <p:cNvSpPr>
            <a:spLocks noGrp="1"/>
          </p:cNvSpPr>
          <p:nvPr/>
        </p:nvSpPr>
        <p:spPr>
          <a:xfrm>
            <a:off x="3143250" y="27432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×3</a:t>
            </a:r>
          </a:p>
        </p:txBody>
      </p:sp>
      <p:sp>
        <p:nvSpPr>
          <p:cNvPr id="12" name="C1_middle">
            <a:extLst>
              <a:ext uri="{FF2B5EF4-FFF2-40B4-BE49-F238E27FC236}">
                <a16:creationId xmlns:a16="http://schemas.microsoft.com/office/drawing/2014/main" id="{26DB7AB2-22DB-4E35-B314-D373507A8841}"/>
              </a:ext>
            </a:extLst>
          </p:cNvPr>
          <p:cNvSpPr>
            <a:spLocks noGrp="1"/>
          </p:cNvSpPr>
          <p:nvPr/>
        </p:nvSpPr>
        <p:spPr>
          <a:xfrm>
            <a:off x="5019675" y="3057525"/>
            <a:ext cx="20955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3δ</a:t>
            </a:r>
          </a:p>
        </p:txBody>
      </p:sp>
      <p:sp>
        <p:nvSpPr>
          <p:cNvPr id="13" name="C2_second">
            <a:extLst>
              <a:ext uri="{FF2B5EF4-FFF2-40B4-BE49-F238E27FC236}">
                <a16:creationId xmlns:a16="http://schemas.microsoft.com/office/drawing/2014/main" id="{96E99BD9-69EB-4B8F-A718-1E452DF59515}"/>
              </a:ext>
            </a:extLst>
          </p:cNvPr>
          <p:cNvSpPr>
            <a:spLocks noGrp="1"/>
          </p:cNvSpPr>
          <p:nvPr/>
        </p:nvSpPr>
        <p:spPr>
          <a:xfrm>
            <a:off x="6753225" y="3419475"/>
            <a:ext cx="2038350" cy="9525"/>
          </a:xfrm>
          <a:custGeom>
            <a:avLst/>
            <a:gdLst/>
            <a:ahLst/>
            <a:cxnLst/>
            <a:rect l="0" t="0" r="0" b="0"/>
            <a:pathLst>
              <a:path w="2038350" h="9525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C2_second_a">
            <a:extLst>
              <a:ext uri="{FF2B5EF4-FFF2-40B4-BE49-F238E27FC236}">
                <a16:creationId xmlns:a16="http://schemas.microsoft.com/office/drawing/2014/main" id="{202977BA-C236-46CC-8599-50236D1748DA}"/>
              </a:ext>
            </a:extLst>
          </p:cNvPr>
          <p:cNvSpPr>
            <a:spLocks noGrp="1"/>
          </p:cNvSpPr>
          <p:nvPr/>
        </p:nvSpPr>
        <p:spPr>
          <a:xfrm>
            <a:off x="8691267" y="34194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5" name="C2_second_b">
            <a:extLst>
              <a:ext uri="{FF2B5EF4-FFF2-40B4-BE49-F238E27FC236}">
                <a16:creationId xmlns:a16="http://schemas.microsoft.com/office/drawing/2014/main" id="{19F5D3E1-868C-449A-AB6B-FD74D7471F31}"/>
              </a:ext>
            </a:extLst>
          </p:cNvPr>
          <p:cNvSpPr>
            <a:spLocks noGrp="1"/>
          </p:cNvSpPr>
          <p:nvPr/>
        </p:nvSpPr>
        <p:spPr>
          <a:xfrm>
            <a:off x="8691267" y="33646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6" name="C2_mult">
            <a:extLst>
              <a:ext uri="{FF2B5EF4-FFF2-40B4-BE49-F238E27FC236}">
                <a16:creationId xmlns:a16="http://schemas.microsoft.com/office/drawing/2014/main" id="{B4110AB1-65BD-4B0C-91EF-8D9DA7803062}"/>
              </a:ext>
            </a:extLst>
          </p:cNvPr>
          <p:cNvSpPr>
            <a:spLocks noGrp="1"/>
          </p:cNvSpPr>
          <p:nvPr/>
        </p:nvSpPr>
        <p:spPr>
          <a:xfrm>
            <a:off x="7305675" y="27432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×4</a:t>
            </a:r>
          </a:p>
        </p:txBody>
      </p:sp>
      <p:sp>
        <p:nvSpPr>
          <p:cNvPr id="17" name="C2_final">
            <a:extLst>
              <a:ext uri="{FF2B5EF4-FFF2-40B4-BE49-F238E27FC236}">
                <a16:creationId xmlns:a16="http://schemas.microsoft.com/office/drawing/2014/main" id="{8F91EDEB-336F-415D-890F-DC58B2BD936E}"/>
              </a:ext>
            </a:extLst>
          </p:cNvPr>
          <p:cNvSpPr>
            <a:spLocks noGrp="1"/>
          </p:cNvSpPr>
          <p:nvPr/>
        </p:nvSpPr>
        <p:spPr>
          <a:xfrm>
            <a:off x="8924925" y="3057525"/>
            <a:ext cx="28575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4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≈ 12δ</a:t>
            </a:r>
          </a:p>
        </p:txBody>
      </p:sp>
      <p:sp>
        <p:nvSpPr>
          <p:cNvPr id="18" name="C3_meaning0">
            <a:extLst>
              <a:ext uri="{FF2B5EF4-FFF2-40B4-BE49-F238E27FC236}">
                <a16:creationId xmlns:a16="http://schemas.microsoft.com/office/drawing/2014/main" id="{50BFF1F6-1B82-4730-B4A5-91172C093F74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参数的微调</a:t>
            </a:r>
          </a:p>
        </p:txBody>
      </p:sp>
      <p:sp>
        <p:nvSpPr>
          <p:cNvPr id="19" name="C3_meaning1">
            <a:extLst>
              <a:ext uri="{FF2B5EF4-FFF2-40B4-BE49-F238E27FC236}">
                <a16:creationId xmlns:a16="http://schemas.microsoft.com/office/drawing/2014/main" id="{504C8596-1295-480C-ACEA-1DF851C3A4C2}"/>
              </a:ext>
            </a:extLst>
          </p:cNvPr>
          <p:cNvSpPr>
            <a:spLocks noGrp="1"/>
          </p:cNvSpPr>
          <p:nvPr/>
        </p:nvSpPr>
        <p:spPr>
          <a:xfrm>
            <a:off x="4943475" y="44291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输出的变化</a:t>
            </a:r>
          </a:p>
        </p:txBody>
      </p:sp>
      <p:sp>
        <p:nvSpPr>
          <p:cNvPr id="20" name="C3_meaning2">
            <a:extLst>
              <a:ext uri="{FF2B5EF4-FFF2-40B4-BE49-F238E27FC236}">
                <a16:creationId xmlns:a16="http://schemas.microsoft.com/office/drawing/2014/main" id="{FE4D580F-40C3-4700-892D-82AD61C10FA1}"/>
              </a:ext>
            </a:extLst>
          </p:cNvPr>
          <p:cNvSpPr>
            <a:spLocks noGrp="1"/>
          </p:cNvSpPr>
          <p:nvPr/>
        </p:nvSpPr>
        <p:spPr>
          <a:xfrm>
            <a:off x="9029700" y="44291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Loss 的变化</a:t>
            </a:r>
          </a:p>
        </p:txBody>
      </p:sp>
      <p:sp>
        <p:nvSpPr>
          <p:cNvPr id="21" name="C4_conclusion">
            <a:extLst>
              <a:ext uri="{FF2B5EF4-FFF2-40B4-BE49-F238E27FC236}">
                <a16:creationId xmlns:a16="http://schemas.microsoft.com/office/drawing/2014/main" id="{C91594C9-B34B-4E49-B7C8-9BDB761FCD0F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沿一条路径，局部倍率相乘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32036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">
            <a:extLst>
              <a:ext uri="{FF2B5EF4-FFF2-40B4-BE49-F238E27FC236}">
                <a16:creationId xmlns:a16="http://schemas.microsoft.com/office/drawing/2014/main" id="{424A90BD-7C7C-45FA-95C1-9D1DDC98C4D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前向计算</a:t>
            </a:r>
            <a:endParaRPr sz="36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8E40F9B1-091F-40F5-81B7-229AEFDAEDE6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label0">
            <a:extLst>
              <a:ext uri="{FF2B5EF4-FFF2-40B4-BE49-F238E27FC236}">
                <a16:creationId xmlns:a16="http://schemas.microsoft.com/office/drawing/2014/main" id="{2A083ED4-2CE7-4CB1-B411-34BA31D7688E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value0">
            <a:extLst>
              <a:ext uri="{FF2B5EF4-FFF2-40B4-BE49-F238E27FC236}">
                <a16:creationId xmlns:a16="http://schemas.microsoft.com/office/drawing/2014/main" id="{C88C75DB-F124-4249-9BA5-CDB7CBDEE5B7}"/>
              </a:ext>
            </a:extLst>
          </p:cNvPr>
          <p:cNvSpPr>
            <a:spLocks noGrp="1"/>
          </p:cNvSpPr>
          <p:nvPr/>
        </p:nvSpPr>
        <p:spPr>
          <a:xfrm>
            <a:off x="74295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6" name="link0">
            <a:extLst>
              <a:ext uri="{FF2B5EF4-FFF2-40B4-BE49-F238E27FC236}">
                <a16:creationId xmlns:a16="http://schemas.microsoft.com/office/drawing/2014/main" id="{07FC695D-69DB-4555-8F03-B431CFFA3B59}"/>
              </a:ext>
            </a:extLst>
          </p:cNvPr>
          <p:cNvSpPr>
            <a:spLocks noGrp="1"/>
          </p:cNvSpPr>
          <p:nvPr/>
        </p:nvSpPr>
        <p:spPr>
          <a:xfrm>
            <a:off x="2038350" y="3657600"/>
            <a:ext cx="304800" cy="9525"/>
          </a:xfrm>
          <a:custGeom>
            <a:avLst/>
            <a:gdLst/>
            <a:ahLst/>
            <a:cxnLst/>
            <a:rect l="0" t="0" r="0" b="0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7" name="link0_a">
            <a:extLst>
              <a:ext uri="{FF2B5EF4-FFF2-40B4-BE49-F238E27FC236}">
                <a16:creationId xmlns:a16="http://schemas.microsoft.com/office/drawing/2014/main" id="{B7B97E0E-6C98-4883-914A-1F4D77AAA971}"/>
              </a:ext>
            </a:extLst>
          </p:cNvPr>
          <p:cNvSpPr>
            <a:spLocks noGrp="1"/>
          </p:cNvSpPr>
          <p:nvPr/>
        </p:nvSpPr>
        <p:spPr>
          <a:xfrm>
            <a:off x="2242842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8" name="link0_b">
            <a:extLst>
              <a:ext uri="{FF2B5EF4-FFF2-40B4-BE49-F238E27FC236}">
                <a16:creationId xmlns:a16="http://schemas.microsoft.com/office/drawing/2014/main" id="{60B2AFDF-6D59-44C2-B264-EC4721179716}"/>
              </a:ext>
            </a:extLst>
          </p:cNvPr>
          <p:cNvSpPr>
            <a:spLocks noGrp="1"/>
          </p:cNvSpPr>
          <p:nvPr/>
        </p:nvSpPr>
        <p:spPr>
          <a:xfrm>
            <a:off x="2242842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9" name="label1">
            <a:extLst>
              <a:ext uri="{FF2B5EF4-FFF2-40B4-BE49-F238E27FC236}">
                <a16:creationId xmlns:a16="http://schemas.microsoft.com/office/drawing/2014/main" id="{8D5A7E68-2563-420A-BD75-695FFE862D73}"/>
              </a:ext>
            </a:extLst>
          </p:cNvPr>
          <p:cNvSpPr>
            <a:spLocks noGrp="1"/>
          </p:cNvSpPr>
          <p:nvPr/>
        </p:nvSpPr>
        <p:spPr>
          <a:xfrm>
            <a:off x="247650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乘权重</a:t>
            </a:r>
          </a:p>
        </p:txBody>
      </p:sp>
      <p:sp>
        <p:nvSpPr>
          <p:cNvPr id="10" name="value1">
            <a:extLst>
              <a:ext uri="{FF2B5EF4-FFF2-40B4-BE49-F238E27FC236}">
                <a16:creationId xmlns:a16="http://schemas.microsoft.com/office/drawing/2014/main" id="{18EF7565-9516-4DB0-86E8-8D23084CA4D5}"/>
              </a:ext>
            </a:extLst>
          </p:cNvPr>
          <p:cNvSpPr>
            <a:spLocks noGrp="1"/>
          </p:cNvSpPr>
          <p:nvPr/>
        </p:nvSpPr>
        <p:spPr>
          <a:xfrm>
            <a:off x="247650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× w₁</a:t>
            </a:r>
          </a:p>
        </p:txBody>
      </p:sp>
      <p:sp>
        <p:nvSpPr>
          <p:cNvPr id="11" name="link1">
            <a:extLst>
              <a:ext uri="{FF2B5EF4-FFF2-40B4-BE49-F238E27FC236}">
                <a16:creationId xmlns:a16="http://schemas.microsoft.com/office/drawing/2014/main" id="{F6670C0A-BFE7-4744-8E40-32E885F58761}"/>
              </a:ext>
            </a:extLst>
          </p:cNvPr>
          <p:cNvSpPr>
            <a:spLocks noGrp="1"/>
          </p:cNvSpPr>
          <p:nvPr/>
        </p:nvSpPr>
        <p:spPr>
          <a:xfrm>
            <a:off x="3771900" y="3657600"/>
            <a:ext cx="314325" cy="9525"/>
          </a:xfrm>
          <a:custGeom>
            <a:avLst/>
            <a:gdLst/>
            <a:ahLst/>
            <a:cxnLst/>
            <a:rect l="0" t="0" r="0" b="0"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2" name="link1_a">
            <a:extLst>
              <a:ext uri="{FF2B5EF4-FFF2-40B4-BE49-F238E27FC236}">
                <a16:creationId xmlns:a16="http://schemas.microsoft.com/office/drawing/2014/main" id="{0AF9AF1A-355F-49F9-8522-DE06319AC02D}"/>
              </a:ext>
            </a:extLst>
          </p:cNvPr>
          <p:cNvSpPr>
            <a:spLocks noGrp="1"/>
          </p:cNvSpPr>
          <p:nvPr/>
        </p:nvSpPr>
        <p:spPr>
          <a:xfrm>
            <a:off x="398591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3" name="link1_b">
            <a:extLst>
              <a:ext uri="{FF2B5EF4-FFF2-40B4-BE49-F238E27FC236}">
                <a16:creationId xmlns:a16="http://schemas.microsoft.com/office/drawing/2014/main" id="{EA97E090-6C40-41D0-83B3-840FEBE2B020}"/>
              </a:ext>
            </a:extLst>
          </p:cNvPr>
          <p:cNvSpPr>
            <a:spLocks noGrp="1"/>
          </p:cNvSpPr>
          <p:nvPr/>
        </p:nvSpPr>
        <p:spPr>
          <a:xfrm>
            <a:off x="398591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4" name="label2">
            <a:extLst>
              <a:ext uri="{FF2B5EF4-FFF2-40B4-BE49-F238E27FC236}">
                <a16:creationId xmlns:a16="http://schemas.microsoft.com/office/drawing/2014/main" id="{381B3EF1-A06F-4502-A6A1-55FA811A1107}"/>
              </a:ext>
            </a:extLst>
          </p:cNvPr>
          <p:cNvSpPr>
            <a:spLocks noGrp="1"/>
          </p:cNvSpPr>
          <p:nvPr/>
        </p:nvSpPr>
        <p:spPr>
          <a:xfrm>
            <a:off x="421957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中间值</a:t>
            </a:r>
          </a:p>
        </p:txBody>
      </p:sp>
      <p:sp>
        <p:nvSpPr>
          <p:cNvPr id="15" name="C1_value2">
            <a:extLst>
              <a:ext uri="{FF2B5EF4-FFF2-40B4-BE49-F238E27FC236}">
                <a16:creationId xmlns:a16="http://schemas.microsoft.com/office/drawing/2014/main" id="{390965EC-EDE8-4E8B-A4C9-A3834BD89DA3}"/>
              </a:ext>
            </a:extLst>
          </p:cNvPr>
          <p:cNvSpPr>
            <a:spLocks noGrp="1"/>
          </p:cNvSpPr>
          <p:nvPr/>
        </p:nvSpPr>
        <p:spPr>
          <a:xfrm>
            <a:off x="421957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 = 2</a:t>
            </a:r>
          </a:p>
        </p:txBody>
      </p:sp>
      <p:sp>
        <p:nvSpPr>
          <p:cNvPr id="16" name="link2">
            <a:extLst>
              <a:ext uri="{FF2B5EF4-FFF2-40B4-BE49-F238E27FC236}">
                <a16:creationId xmlns:a16="http://schemas.microsoft.com/office/drawing/2014/main" id="{B93A6D5B-4B4A-4780-BA76-23B155FD2CFB}"/>
              </a:ext>
            </a:extLst>
          </p:cNvPr>
          <p:cNvSpPr>
            <a:spLocks noGrp="1"/>
          </p:cNvSpPr>
          <p:nvPr/>
        </p:nvSpPr>
        <p:spPr>
          <a:xfrm>
            <a:off x="5514975" y="3657600"/>
            <a:ext cx="352425" cy="9525"/>
          </a:xfrm>
          <a:custGeom>
            <a:avLst/>
            <a:gdLst/>
            <a:ahLst/>
            <a:cxnLst/>
            <a:rect l="0" t="0" r="0" b="0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7" name="link2_a">
            <a:extLst>
              <a:ext uri="{FF2B5EF4-FFF2-40B4-BE49-F238E27FC236}">
                <a16:creationId xmlns:a16="http://schemas.microsoft.com/office/drawing/2014/main" id="{8114EC6F-304C-40E2-940A-CD7FD974A444}"/>
              </a:ext>
            </a:extLst>
          </p:cNvPr>
          <p:cNvSpPr>
            <a:spLocks noGrp="1"/>
          </p:cNvSpPr>
          <p:nvPr/>
        </p:nvSpPr>
        <p:spPr>
          <a:xfrm>
            <a:off x="5767092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8" name="link2_b">
            <a:extLst>
              <a:ext uri="{FF2B5EF4-FFF2-40B4-BE49-F238E27FC236}">
                <a16:creationId xmlns:a16="http://schemas.microsoft.com/office/drawing/2014/main" id="{351A4B35-2F65-457D-B1A6-3B77AE01BD5A}"/>
              </a:ext>
            </a:extLst>
          </p:cNvPr>
          <p:cNvSpPr>
            <a:spLocks noGrp="1"/>
          </p:cNvSpPr>
          <p:nvPr/>
        </p:nvSpPr>
        <p:spPr>
          <a:xfrm>
            <a:off x="5767092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9" name="label3">
            <a:extLst>
              <a:ext uri="{FF2B5EF4-FFF2-40B4-BE49-F238E27FC236}">
                <a16:creationId xmlns:a16="http://schemas.microsoft.com/office/drawing/2014/main" id="{E41890A2-202C-4200-A8B9-35B5ACD9A351}"/>
              </a:ext>
            </a:extLst>
          </p:cNvPr>
          <p:cNvSpPr>
            <a:spLocks noGrp="1"/>
          </p:cNvSpPr>
          <p:nvPr/>
        </p:nvSpPr>
        <p:spPr>
          <a:xfrm>
            <a:off x="600075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乘权重</a:t>
            </a:r>
          </a:p>
        </p:txBody>
      </p:sp>
      <p:sp>
        <p:nvSpPr>
          <p:cNvPr id="20" name="value3">
            <a:extLst>
              <a:ext uri="{FF2B5EF4-FFF2-40B4-BE49-F238E27FC236}">
                <a16:creationId xmlns:a16="http://schemas.microsoft.com/office/drawing/2014/main" id="{CAB3124E-A71B-4537-A196-0ACA6E86FCB8}"/>
              </a:ext>
            </a:extLst>
          </p:cNvPr>
          <p:cNvSpPr>
            <a:spLocks noGrp="1"/>
          </p:cNvSpPr>
          <p:nvPr/>
        </p:nvSpPr>
        <p:spPr>
          <a:xfrm>
            <a:off x="600075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× w₂</a:t>
            </a:r>
          </a:p>
        </p:txBody>
      </p:sp>
      <p:sp>
        <p:nvSpPr>
          <p:cNvPr id="21" name="link3">
            <a:extLst>
              <a:ext uri="{FF2B5EF4-FFF2-40B4-BE49-F238E27FC236}">
                <a16:creationId xmlns:a16="http://schemas.microsoft.com/office/drawing/2014/main" id="{95AC88FB-4DBF-47BF-9CA8-327291FE251B}"/>
              </a:ext>
            </a:extLst>
          </p:cNvPr>
          <p:cNvSpPr>
            <a:spLocks noGrp="1"/>
          </p:cNvSpPr>
          <p:nvPr/>
        </p:nvSpPr>
        <p:spPr>
          <a:xfrm>
            <a:off x="7296150" y="3657600"/>
            <a:ext cx="352425" cy="9525"/>
          </a:xfrm>
          <a:custGeom>
            <a:avLst/>
            <a:gdLst/>
            <a:ahLst/>
            <a:cxnLst/>
            <a:rect l="0" t="0" r="0" b="0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2" name="link3_a">
            <a:extLst>
              <a:ext uri="{FF2B5EF4-FFF2-40B4-BE49-F238E27FC236}">
                <a16:creationId xmlns:a16="http://schemas.microsoft.com/office/drawing/2014/main" id="{A0437E0D-15B0-44A6-A963-BC5CF2254CDC}"/>
              </a:ext>
            </a:extLst>
          </p:cNvPr>
          <p:cNvSpPr>
            <a:spLocks noGrp="1"/>
          </p:cNvSpPr>
          <p:nvPr/>
        </p:nvSpPr>
        <p:spPr>
          <a:xfrm>
            <a:off x="754826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3" name="link3_b">
            <a:extLst>
              <a:ext uri="{FF2B5EF4-FFF2-40B4-BE49-F238E27FC236}">
                <a16:creationId xmlns:a16="http://schemas.microsoft.com/office/drawing/2014/main" id="{832B6444-B4B1-40D8-ADA1-791E106064A0}"/>
              </a:ext>
            </a:extLst>
          </p:cNvPr>
          <p:cNvSpPr>
            <a:spLocks noGrp="1"/>
          </p:cNvSpPr>
          <p:nvPr/>
        </p:nvSpPr>
        <p:spPr>
          <a:xfrm>
            <a:off x="754826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4" name="label4">
            <a:extLst>
              <a:ext uri="{FF2B5EF4-FFF2-40B4-BE49-F238E27FC236}">
                <a16:creationId xmlns:a16="http://schemas.microsoft.com/office/drawing/2014/main" id="{163635D1-3CFD-45DC-B20D-6030CC9497F3}"/>
              </a:ext>
            </a:extLst>
          </p:cNvPr>
          <p:cNvSpPr>
            <a:spLocks noGrp="1"/>
          </p:cNvSpPr>
          <p:nvPr/>
        </p:nvSpPr>
        <p:spPr>
          <a:xfrm>
            <a:off x="778192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C2_value4">
            <a:extLst>
              <a:ext uri="{FF2B5EF4-FFF2-40B4-BE49-F238E27FC236}">
                <a16:creationId xmlns:a16="http://schemas.microsoft.com/office/drawing/2014/main" id="{92E0FF78-052E-46D7-9E2E-9681BAAF6931}"/>
              </a:ext>
            </a:extLst>
          </p:cNvPr>
          <p:cNvSpPr>
            <a:spLocks noGrp="1"/>
          </p:cNvSpPr>
          <p:nvPr/>
        </p:nvSpPr>
        <p:spPr>
          <a:xfrm>
            <a:off x="778192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y = 6</a:t>
            </a:r>
          </a:p>
        </p:txBody>
      </p:sp>
      <p:sp>
        <p:nvSpPr>
          <p:cNvPr id="26" name="link4">
            <a:extLst>
              <a:ext uri="{FF2B5EF4-FFF2-40B4-BE49-F238E27FC236}">
                <a16:creationId xmlns:a16="http://schemas.microsoft.com/office/drawing/2014/main" id="{0FE059B0-4FA8-4767-AB5F-92DA806E69F4}"/>
              </a:ext>
            </a:extLst>
          </p:cNvPr>
          <p:cNvSpPr>
            <a:spLocks noGrp="1"/>
          </p:cNvSpPr>
          <p:nvPr/>
        </p:nvSpPr>
        <p:spPr>
          <a:xfrm>
            <a:off x="9077325" y="3657600"/>
            <a:ext cx="742950" cy="9525"/>
          </a:xfrm>
          <a:custGeom>
            <a:avLst/>
            <a:gdLst/>
            <a:ahLst/>
            <a:cxnLst/>
            <a:rect l="0" t="0" r="0" b="0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7" name="link4_a">
            <a:extLst>
              <a:ext uri="{FF2B5EF4-FFF2-40B4-BE49-F238E27FC236}">
                <a16:creationId xmlns:a16="http://schemas.microsoft.com/office/drawing/2014/main" id="{CB9CED18-A566-4B65-830C-19FF0BC6BA42}"/>
              </a:ext>
            </a:extLst>
          </p:cNvPr>
          <p:cNvSpPr>
            <a:spLocks noGrp="1"/>
          </p:cNvSpPr>
          <p:nvPr/>
        </p:nvSpPr>
        <p:spPr>
          <a:xfrm>
            <a:off x="971996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8" name="link4_b">
            <a:extLst>
              <a:ext uri="{FF2B5EF4-FFF2-40B4-BE49-F238E27FC236}">
                <a16:creationId xmlns:a16="http://schemas.microsoft.com/office/drawing/2014/main" id="{0EC185B4-4574-4106-B098-1CF93AA177E1}"/>
              </a:ext>
            </a:extLst>
          </p:cNvPr>
          <p:cNvSpPr>
            <a:spLocks noGrp="1"/>
          </p:cNvSpPr>
          <p:nvPr/>
        </p:nvSpPr>
        <p:spPr>
          <a:xfrm>
            <a:off x="971996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9" name="label5">
            <a:extLst>
              <a:ext uri="{FF2B5EF4-FFF2-40B4-BE49-F238E27FC236}">
                <a16:creationId xmlns:a16="http://schemas.microsoft.com/office/drawing/2014/main" id="{4C00DFC4-9E46-4AC8-805A-660C4EEE7E01}"/>
              </a:ext>
            </a:extLst>
          </p:cNvPr>
          <p:cNvSpPr>
            <a:spLocks noGrp="1"/>
          </p:cNvSpPr>
          <p:nvPr/>
        </p:nvSpPr>
        <p:spPr>
          <a:xfrm>
            <a:off x="995362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</a:t>
            </a:r>
          </a:p>
        </p:txBody>
      </p:sp>
      <p:sp>
        <p:nvSpPr>
          <p:cNvPr id="30" name="C3_value5">
            <a:extLst>
              <a:ext uri="{FF2B5EF4-FFF2-40B4-BE49-F238E27FC236}">
                <a16:creationId xmlns:a16="http://schemas.microsoft.com/office/drawing/2014/main" id="{C27E5B19-BDCC-4610-9FCA-5C85D4828ED5}"/>
              </a:ext>
            </a:extLst>
          </p:cNvPr>
          <p:cNvSpPr>
            <a:spLocks noGrp="1"/>
          </p:cNvSpPr>
          <p:nvPr/>
        </p:nvSpPr>
        <p:spPr>
          <a:xfrm>
            <a:off x="995362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 = 4</a:t>
            </a:r>
          </a:p>
        </p:txBody>
      </p:sp>
      <p:sp>
        <p:nvSpPr>
          <p:cNvPr id="33" name="target">
            <a:extLst>
              <a:ext uri="{FF2B5EF4-FFF2-40B4-BE49-F238E27FC236}">
                <a16:creationId xmlns:a16="http://schemas.microsoft.com/office/drawing/2014/main" id="{38893C5C-E46D-4948-A62B-07024FDDE272}"/>
              </a:ext>
            </a:extLst>
          </p:cNvPr>
          <p:cNvSpPr>
            <a:spLocks noGrp="1"/>
          </p:cNvSpPr>
          <p:nvPr/>
        </p:nvSpPr>
        <p:spPr>
          <a:xfrm>
            <a:off x="9906000" y="1952625"/>
            <a:ext cx="19526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目标 t = 4</a:t>
            </a:r>
          </a:p>
        </p:txBody>
      </p:sp>
      <p:sp>
        <p:nvSpPr>
          <p:cNvPr id="34" name="targetArrow">
            <a:extLst>
              <a:ext uri="{FF2B5EF4-FFF2-40B4-BE49-F238E27FC236}">
                <a16:creationId xmlns:a16="http://schemas.microsoft.com/office/drawing/2014/main" id="{79030E85-317C-438F-A0A0-AC995D11B2DE}"/>
              </a:ext>
            </a:extLst>
          </p:cNvPr>
          <p:cNvSpPr>
            <a:spLocks noGrp="1"/>
          </p:cNvSpPr>
          <p:nvPr/>
        </p:nvSpPr>
        <p:spPr>
          <a:xfrm>
            <a:off x="10601325" y="2428875"/>
            <a:ext cx="9525" cy="466725"/>
          </a:xfrm>
          <a:custGeom>
            <a:avLst/>
            <a:gdLst/>
            <a:ahLst/>
            <a:cxnLst/>
            <a:rect l="0" t="0" r="0" b="0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5" name="targetArrow_a">
            <a:extLst>
              <a:ext uri="{FF2B5EF4-FFF2-40B4-BE49-F238E27FC236}">
                <a16:creationId xmlns:a16="http://schemas.microsoft.com/office/drawing/2014/main" id="{CCC26004-9090-400B-9ADA-E0B8D66C84C1}"/>
              </a:ext>
            </a:extLst>
          </p:cNvPr>
          <p:cNvSpPr>
            <a:spLocks noGrp="1"/>
          </p:cNvSpPr>
          <p:nvPr/>
        </p:nvSpPr>
        <p:spPr>
          <a:xfrm>
            <a:off x="10546527" y="279529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6" name="targetArrow_b">
            <a:extLst>
              <a:ext uri="{FF2B5EF4-FFF2-40B4-BE49-F238E27FC236}">
                <a16:creationId xmlns:a16="http://schemas.microsoft.com/office/drawing/2014/main" id="{4D980E58-08FA-42BC-8333-54AE1CC0A3F0}"/>
              </a:ext>
            </a:extLst>
          </p:cNvPr>
          <p:cNvSpPr>
            <a:spLocks noGrp="1"/>
          </p:cNvSpPr>
          <p:nvPr/>
        </p:nvSpPr>
        <p:spPr>
          <a:xfrm>
            <a:off x="10601325" y="279529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41" name="C3_lossFormula">
            <a:extLst>
              <a:ext uri="{FF2B5EF4-FFF2-40B4-BE49-F238E27FC236}">
                <a16:creationId xmlns:a16="http://schemas.microsoft.com/office/drawing/2014/main" id="{CF0E23FD-420B-4DC7-949F-1C77ABEC44F2}"/>
              </a:ext>
            </a:extLst>
          </p:cNvPr>
          <p:cNvSpPr>
            <a:spLocks noGrp="1"/>
          </p:cNvSpPr>
          <p:nvPr/>
        </p:nvSpPr>
        <p:spPr>
          <a:xfrm>
            <a:off x="9953625" y="3914775"/>
            <a:ext cx="22098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L=</a:t>
            </a:r>
            <a:r>
              <a:rPr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en-US" altLang="zh-CN"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y</a:t>
            </a:r>
            <a:r>
              <a:rPr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−</a:t>
            </a:r>
            <a:r>
              <a:rPr lang="en-US" altLang="zh-CN"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)²=4</a:t>
            </a:r>
          </a:p>
        </p:txBody>
      </p:sp>
      <p:sp>
        <p:nvSpPr>
          <p:cNvPr id="38" name="weight2">
            <a:extLst>
              <a:ext uri="{FF2B5EF4-FFF2-40B4-BE49-F238E27FC236}">
                <a16:creationId xmlns:a16="http://schemas.microsoft.com/office/drawing/2014/main" id="{290E1826-5019-505C-A232-09238E213FC8}"/>
              </a:ext>
            </a:extLst>
          </p:cNvPr>
          <p:cNvSpPr>
            <a:spLocks noGrp="1"/>
          </p:cNvSpPr>
          <p:nvPr/>
        </p:nvSpPr>
        <p:spPr>
          <a:xfrm>
            <a:off x="5934075" y="3752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w₂ = 3</a:t>
            </a:r>
          </a:p>
        </p:txBody>
      </p:sp>
      <p:sp>
        <p:nvSpPr>
          <p:cNvPr id="40" name="weight1">
            <a:extLst>
              <a:ext uri="{FF2B5EF4-FFF2-40B4-BE49-F238E27FC236}">
                <a16:creationId xmlns:a16="http://schemas.microsoft.com/office/drawing/2014/main" id="{C48860F5-2075-9FFC-DA5D-2DCC14A151F9}"/>
              </a:ext>
            </a:extLst>
          </p:cNvPr>
          <p:cNvSpPr>
            <a:spLocks noGrp="1"/>
          </p:cNvSpPr>
          <p:nvPr/>
        </p:nvSpPr>
        <p:spPr>
          <a:xfrm>
            <a:off x="2457450" y="3769548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w₁ = 2</a:t>
            </a:r>
          </a:p>
        </p:txBody>
      </p:sp>
      <p:sp>
        <p:nvSpPr>
          <p:cNvPr id="32" name="subtitle">
            <a:extLst>
              <a:ext uri="{FF2B5EF4-FFF2-40B4-BE49-F238E27FC236}">
                <a16:creationId xmlns:a16="http://schemas.microsoft.com/office/drawing/2014/main" id="{D60C5FFB-0D21-60E0-BF9E-C0024EF769A7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dirty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从输入出发，逐步算出中间值、输出和 </a:t>
            </a:r>
            <a:r>
              <a:rPr lang="en-US" altLang="zh-CN" sz="1875" dirty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Loss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C4_conclusion">
            <a:extLst>
              <a:ext uri="{FF2B5EF4-FFF2-40B4-BE49-F238E27FC236}">
                <a16:creationId xmlns:a16="http://schemas.microsoft.com/office/drawing/2014/main" id="{9CAC4C17-4CF9-5E91-8099-A84F7D13F123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Loss </a:t>
            </a:r>
            <a:r>
              <a:rPr lang="zh-CN" altLang="en-US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已经算出来了，怎么知道哪些参数要改？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9458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30" grpId="0"/>
      <p:bldP spid="41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">
            <a:extLst>
              <a:ext uri="{FF2B5EF4-FFF2-40B4-BE49-F238E27FC236}">
                <a16:creationId xmlns:a16="http://schemas.microsoft.com/office/drawing/2014/main" id="{6C697C84-905E-44B7-96E8-80A7E89812D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从 Loss 开始，计算第一个梯度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6767692-8492-40D6-8FB0-8300D4A3EDAC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7CA2834-917E-4E09-BA5B-636A0758664B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前向算数值，反向算局部敏感度</a:t>
            </a:r>
          </a:p>
        </p:txBody>
      </p:sp>
      <p:sp>
        <p:nvSpPr>
          <p:cNvPr id="4" name="label0">
            <a:extLst>
              <a:ext uri="{FF2B5EF4-FFF2-40B4-BE49-F238E27FC236}">
                <a16:creationId xmlns:a16="http://schemas.microsoft.com/office/drawing/2014/main" id="{D7C75F1E-42F4-463A-9F9B-EDB7070C3F14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value0">
            <a:extLst>
              <a:ext uri="{FF2B5EF4-FFF2-40B4-BE49-F238E27FC236}">
                <a16:creationId xmlns:a16="http://schemas.microsoft.com/office/drawing/2014/main" id="{ED9FEAEA-CEA0-4811-AA08-6F24AE09A50E}"/>
              </a:ext>
            </a:extLst>
          </p:cNvPr>
          <p:cNvSpPr>
            <a:spLocks noGrp="1"/>
          </p:cNvSpPr>
          <p:nvPr/>
        </p:nvSpPr>
        <p:spPr>
          <a:xfrm>
            <a:off x="74295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6" name="link0">
            <a:extLst>
              <a:ext uri="{FF2B5EF4-FFF2-40B4-BE49-F238E27FC236}">
                <a16:creationId xmlns:a16="http://schemas.microsoft.com/office/drawing/2014/main" id="{1F5157F7-EA94-46F4-8CE9-9497C8844C00}"/>
              </a:ext>
            </a:extLst>
          </p:cNvPr>
          <p:cNvSpPr>
            <a:spLocks noGrp="1"/>
          </p:cNvSpPr>
          <p:nvPr/>
        </p:nvSpPr>
        <p:spPr>
          <a:xfrm>
            <a:off x="2038350" y="3657600"/>
            <a:ext cx="304800" cy="9525"/>
          </a:xfrm>
          <a:custGeom>
            <a:avLst/>
            <a:gdLst/>
            <a:ahLst/>
            <a:cxnLst/>
            <a:rect l="0" t="0" r="0" b="0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7" name="link0_a">
            <a:extLst>
              <a:ext uri="{FF2B5EF4-FFF2-40B4-BE49-F238E27FC236}">
                <a16:creationId xmlns:a16="http://schemas.microsoft.com/office/drawing/2014/main" id="{4F77425C-373B-424C-910A-84C4141803E0}"/>
              </a:ext>
            </a:extLst>
          </p:cNvPr>
          <p:cNvSpPr>
            <a:spLocks noGrp="1"/>
          </p:cNvSpPr>
          <p:nvPr/>
        </p:nvSpPr>
        <p:spPr>
          <a:xfrm>
            <a:off x="2242842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8" name="link0_b">
            <a:extLst>
              <a:ext uri="{FF2B5EF4-FFF2-40B4-BE49-F238E27FC236}">
                <a16:creationId xmlns:a16="http://schemas.microsoft.com/office/drawing/2014/main" id="{C0523AA3-97A0-45E0-8560-9AC7DC26952C}"/>
              </a:ext>
            </a:extLst>
          </p:cNvPr>
          <p:cNvSpPr>
            <a:spLocks noGrp="1"/>
          </p:cNvSpPr>
          <p:nvPr/>
        </p:nvSpPr>
        <p:spPr>
          <a:xfrm>
            <a:off x="2242842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9" name="label1">
            <a:extLst>
              <a:ext uri="{FF2B5EF4-FFF2-40B4-BE49-F238E27FC236}">
                <a16:creationId xmlns:a16="http://schemas.microsoft.com/office/drawing/2014/main" id="{06A5456A-90C2-49FC-9E15-8D92D2885BC9}"/>
              </a:ext>
            </a:extLst>
          </p:cNvPr>
          <p:cNvSpPr>
            <a:spLocks noGrp="1"/>
          </p:cNvSpPr>
          <p:nvPr/>
        </p:nvSpPr>
        <p:spPr>
          <a:xfrm>
            <a:off x="247650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乘权重</a:t>
            </a:r>
          </a:p>
        </p:txBody>
      </p:sp>
      <p:sp>
        <p:nvSpPr>
          <p:cNvPr id="10" name="value1">
            <a:extLst>
              <a:ext uri="{FF2B5EF4-FFF2-40B4-BE49-F238E27FC236}">
                <a16:creationId xmlns:a16="http://schemas.microsoft.com/office/drawing/2014/main" id="{775AA6DD-E3AB-4B0B-AA81-9E1EAC966218}"/>
              </a:ext>
            </a:extLst>
          </p:cNvPr>
          <p:cNvSpPr>
            <a:spLocks noGrp="1"/>
          </p:cNvSpPr>
          <p:nvPr/>
        </p:nvSpPr>
        <p:spPr>
          <a:xfrm>
            <a:off x="247650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× w₁</a:t>
            </a:r>
          </a:p>
        </p:txBody>
      </p:sp>
      <p:sp>
        <p:nvSpPr>
          <p:cNvPr id="11" name="link1">
            <a:extLst>
              <a:ext uri="{FF2B5EF4-FFF2-40B4-BE49-F238E27FC236}">
                <a16:creationId xmlns:a16="http://schemas.microsoft.com/office/drawing/2014/main" id="{35A2B844-9A05-4C99-86D1-A9FB9A68A235}"/>
              </a:ext>
            </a:extLst>
          </p:cNvPr>
          <p:cNvSpPr>
            <a:spLocks noGrp="1"/>
          </p:cNvSpPr>
          <p:nvPr/>
        </p:nvSpPr>
        <p:spPr>
          <a:xfrm>
            <a:off x="3771900" y="3657600"/>
            <a:ext cx="314325" cy="9525"/>
          </a:xfrm>
          <a:custGeom>
            <a:avLst/>
            <a:gdLst/>
            <a:ahLst/>
            <a:cxnLst/>
            <a:rect l="0" t="0" r="0" b="0"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2" name="link1_a">
            <a:extLst>
              <a:ext uri="{FF2B5EF4-FFF2-40B4-BE49-F238E27FC236}">
                <a16:creationId xmlns:a16="http://schemas.microsoft.com/office/drawing/2014/main" id="{94C9F3B7-9A53-495B-8EB7-6517DE0A6EAB}"/>
              </a:ext>
            </a:extLst>
          </p:cNvPr>
          <p:cNvSpPr>
            <a:spLocks noGrp="1"/>
          </p:cNvSpPr>
          <p:nvPr/>
        </p:nvSpPr>
        <p:spPr>
          <a:xfrm>
            <a:off x="398591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3" name="link1_b">
            <a:extLst>
              <a:ext uri="{FF2B5EF4-FFF2-40B4-BE49-F238E27FC236}">
                <a16:creationId xmlns:a16="http://schemas.microsoft.com/office/drawing/2014/main" id="{CDCA16D1-80EF-4798-90C8-1E9B116785D2}"/>
              </a:ext>
            </a:extLst>
          </p:cNvPr>
          <p:cNvSpPr>
            <a:spLocks noGrp="1"/>
          </p:cNvSpPr>
          <p:nvPr/>
        </p:nvSpPr>
        <p:spPr>
          <a:xfrm>
            <a:off x="398591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4" name="label2">
            <a:extLst>
              <a:ext uri="{FF2B5EF4-FFF2-40B4-BE49-F238E27FC236}">
                <a16:creationId xmlns:a16="http://schemas.microsoft.com/office/drawing/2014/main" id="{4726EED8-8A9E-46CE-87AF-F8906B2EF8DE}"/>
              </a:ext>
            </a:extLst>
          </p:cNvPr>
          <p:cNvSpPr>
            <a:spLocks noGrp="1"/>
          </p:cNvSpPr>
          <p:nvPr/>
        </p:nvSpPr>
        <p:spPr>
          <a:xfrm>
            <a:off x="421957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中间值</a:t>
            </a:r>
          </a:p>
        </p:txBody>
      </p:sp>
      <p:sp>
        <p:nvSpPr>
          <p:cNvPr id="15" name="value2">
            <a:extLst>
              <a:ext uri="{FF2B5EF4-FFF2-40B4-BE49-F238E27FC236}">
                <a16:creationId xmlns:a16="http://schemas.microsoft.com/office/drawing/2014/main" id="{FF88CB2C-9404-443E-AD4F-C4701B0068D6}"/>
              </a:ext>
            </a:extLst>
          </p:cNvPr>
          <p:cNvSpPr>
            <a:spLocks noGrp="1"/>
          </p:cNvSpPr>
          <p:nvPr/>
        </p:nvSpPr>
        <p:spPr>
          <a:xfrm>
            <a:off x="421957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h = 2</a:t>
            </a:r>
          </a:p>
        </p:txBody>
      </p:sp>
      <p:sp>
        <p:nvSpPr>
          <p:cNvPr id="16" name="link2">
            <a:extLst>
              <a:ext uri="{FF2B5EF4-FFF2-40B4-BE49-F238E27FC236}">
                <a16:creationId xmlns:a16="http://schemas.microsoft.com/office/drawing/2014/main" id="{72677D53-9D2E-4D12-B521-BFA7AD812838}"/>
              </a:ext>
            </a:extLst>
          </p:cNvPr>
          <p:cNvSpPr>
            <a:spLocks noGrp="1"/>
          </p:cNvSpPr>
          <p:nvPr/>
        </p:nvSpPr>
        <p:spPr>
          <a:xfrm>
            <a:off x="5514975" y="3657600"/>
            <a:ext cx="352425" cy="9525"/>
          </a:xfrm>
          <a:custGeom>
            <a:avLst/>
            <a:gdLst/>
            <a:ahLst/>
            <a:cxnLst/>
            <a:rect l="0" t="0" r="0" b="0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7" name="link2_a">
            <a:extLst>
              <a:ext uri="{FF2B5EF4-FFF2-40B4-BE49-F238E27FC236}">
                <a16:creationId xmlns:a16="http://schemas.microsoft.com/office/drawing/2014/main" id="{C6C0CF6A-FF1E-471E-90D0-0C9E1AEA9D01}"/>
              </a:ext>
            </a:extLst>
          </p:cNvPr>
          <p:cNvSpPr>
            <a:spLocks noGrp="1"/>
          </p:cNvSpPr>
          <p:nvPr/>
        </p:nvSpPr>
        <p:spPr>
          <a:xfrm>
            <a:off x="5767092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8" name="link2_b">
            <a:extLst>
              <a:ext uri="{FF2B5EF4-FFF2-40B4-BE49-F238E27FC236}">
                <a16:creationId xmlns:a16="http://schemas.microsoft.com/office/drawing/2014/main" id="{C150957E-8FCF-44A2-BD75-51E567CBBBF4}"/>
              </a:ext>
            </a:extLst>
          </p:cNvPr>
          <p:cNvSpPr>
            <a:spLocks noGrp="1"/>
          </p:cNvSpPr>
          <p:nvPr/>
        </p:nvSpPr>
        <p:spPr>
          <a:xfrm>
            <a:off x="5767092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9" name="label3">
            <a:extLst>
              <a:ext uri="{FF2B5EF4-FFF2-40B4-BE49-F238E27FC236}">
                <a16:creationId xmlns:a16="http://schemas.microsoft.com/office/drawing/2014/main" id="{B93C5DD3-C7AF-4D03-9FB3-DF5DE0763431}"/>
              </a:ext>
            </a:extLst>
          </p:cNvPr>
          <p:cNvSpPr>
            <a:spLocks noGrp="1"/>
          </p:cNvSpPr>
          <p:nvPr/>
        </p:nvSpPr>
        <p:spPr>
          <a:xfrm>
            <a:off x="600075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乘权重</a:t>
            </a:r>
          </a:p>
        </p:txBody>
      </p:sp>
      <p:sp>
        <p:nvSpPr>
          <p:cNvPr id="20" name="value3">
            <a:extLst>
              <a:ext uri="{FF2B5EF4-FFF2-40B4-BE49-F238E27FC236}">
                <a16:creationId xmlns:a16="http://schemas.microsoft.com/office/drawing/2014/main" id="{959A1E92-6164-4F3E-A8E8-C1541B5A051E}"/>
              </a:ext>
            </a:extLst>
          </p:cNvPr>
          <p:cNvSpPr>
            <a:spLocks noGrp="1"/>
          </p:cNvSpPr>
          <p:nvPr/>
        </p:nvSpPr>
        <p:spPr>
          <a:xfrm>
            <a:off x="600075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× w₂</a:t>
            </a:r>
          </a:p>
        </p:txBody>
      </p:sp>
      <p:sp>
        <p:nvSpPr>
          <p:cNvPr id="21" name="link3">
            <a:extLst>
              <a:ext uri="{FF2B5EF4-FFF2-40B4-BE49-F238E27FC236}">
                <a16:creationId xmlns:a16="http://schemas.microsoft.com/office/drawing/2014/main" id="{0C10F951-0462-4C04-AE00-ED5E4F88B858}"/>
              </a:ext>
            </a:extLst>
          </p:cNvPr>
          <p:cNvSpPr>
            <a:spLocks noGrp="1"/>
          </p:cNvSpPr>
          <p:nvPr/>
        </p:nvSpPr>
        <p:spPr>
          <a:xfrm>
            <a:off x="7296150" y="3657600"/>
            <a:ext cx="352425" cy="9525"/>
          </a:xfrm>
          <a:custGeom>
            <a:avLst/>
            <a:gdLst/>
            <a:ahLst/>
            <a:cxnLst/>
            <a:rect l="0" t="0" r="0" b="0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2" name="link3_a">
            <a:extLst>
              <a:ext uri="{FF2B5EF4-FFF2-40B4-BE49-F238E27FC236}">
                <a16:creationId xmlns:a16="http://schemas.microsoft.com/office/drawing/2014/main" id="{5FA96737-E5F8-42CF-A26A-7F50D542B035}"/>
              </a:ext>
            </a:extLst>
          </p:cNvPr>
          <p:cNvSpPr>
            <a:spLocks noGrp="1"/>
          </p:cNvSpPr>
          <p:nvPr/>
        </p:nvSpPr>
        <p:spPr>
          <a:xfrm>
            <a:off x="754826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3" name="link3_b">
            <a:extLst>
              <a:ext uri="{FF2B5EF4-FFF2-40B4-BE49-F238E27FC236}">
                <a16:creationId xmlns:a16="http://schemas.microsoft.com/office/drawing/2014/main" id="{7CA0D85B-28A9-4B68-A302-C0542225D192}"/>
              </a:ext>
            </a:extLst>
          </p:cNvPr>
          <p:cNvSpPr>
            <a:spLocks noGrp="1"/>
          </p:cNvSpPr>
          <p:nvPr/>
        </p:nvSpPr>
        <p:spPr>
          <a:xfrm>
            <a:off x="754826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4" name="label4">
            <a:extLst>
              <a:ext uri="{FF2B5EF4-FFF2-40B4-BE49-F238E27FC236}">
                <a16:creationId xmlns:a16="http://schemas.microsoft.com/office/drawing/2014/main" id="{8A8F9D13-61F0-487F-9882-37B6C1C67A7B}"/>
              </a:ext>
            </a:extLst>
          </p:cNvPr>
          <p:cNvSpPr>
            <a:spLocks noGrp="1"/>
          </p:cNvSpPr>
          <p:nvPr/>
        </p:nvSpPr>
        <p:spPr>
          <a:xfrm>
            <a:off x="778192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value4">
            <a:extLst>
              <a:ext uri="{FF2B5EF4-FFF2-40B4-BE49-F238E27FC236}">
                <a16:creationId xmlns:a16="http://schemas.microsoft.com/office/drawing/2014/main" id="{0AB7FF8B-DE71-4B5C-843A-BEBF99008799}"/>
              </a:ext>
            </a:extLst>
          </p:cNvPr>
          <p:cNvSpPr>
            <a:spLocks noGrp="1"/>
          </p:cNvSpPr>
          <p:nvPr/>
        </p:nvSpPr>
        <p:spPr>
          <a:xfrm>
            <a:off x="778192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y = 6</a:t>
            </a:r>
          </a:p>
        </p:txBody>
      </p:sp>
      <p:sp>
        <p:nvSpPr>
          <p:cNvPr id="26" name="link4">
            <a:extLst>
              <a:ext uri="{FF2B5EF4-FFF2-40B4-BE49-F238E27FC236}">
                <a16:creationId xmlns:a16="http://schemas.microsoft.com/office/drawing/2014/main" id="{E2256A23-8C7D-4BC2-B437-0D6235E323C7}"/>
              </a:ext>
            </a:extLst>
          </p:cNvPr>
          <p:cNvSpPr>
            <a:spLocks noGrp="1"/>
          </p:cNvSpPr>
          <p:nvPr/>
        </p:nvSpPr>
        <p:spPr>
          <a:xfrm>
            <a:off x="9077325" y="3657600"/>
            <a:ext cx="742950" cy="9525"/>
          </a:xfrm>
          <a:custGeom>
            <a:avLst/>
            <a:gdLst/>
            <a:ahLst/>
            <a:cxnLst/>
            <a:rect l="0" t="0" r="0" b="0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7" name="link4_a">
            <a:extLst>
              <a:ext uri="{FF2B5EF4-FFF2-40B4-BE49-F238E27FC236}">
                <a16:creationId xmlns:a16="http://schemas.microsoft.com/office/drawing/2014/main" id="{ED153F85-FECB-42CE-900E-B1A6440EFFCA}"/>
              </a:ext>
            </a:extLst>
          </p:cNvPr>
          <p:cNvSpPr>
            <a:spLocks noGrp="1"/>
          </p:cNvSpPr>
          <p:nvPr/>
        </p:nvSpPr>
        <p:spPr>
          <a:xfrm>
            <a:off x="971996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8" name="link4_b">
            <a:extLst>
              <a:ext uri="{FF2B5EF4-FFF2-40B4-BE49-F238E27FC236}">
                <a16:creationId xmlns:a16="http://schemas.microsoft.com/office/drawing/2014/main" id="{66021604-4170-4F10-A510-213204DDBAC2}"/>
              </a:ext>
            </a:extLst>
          </p:cNvPr>
          <p:cNvSpPr>
            <a:spLocks noGrp="1"/>
          </p:cNvSpPr>
          <p:nvPr/>
        </p:nvSpPr>
        <p:spPr>
          <a:xfrm>
            <a:off x="971996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9" name="label5">
            <a:extLst>
              <a:ext uri="{FF2B5EF4-FFF2-40B4-BE49-F238E27FC236}">
                <a16:creationId xmlns:a16="http://schemas.microsoft.com/office/drawing/2014/main" id="{A2EF4719-EB67-478F-86CA-6DC7E3E3D5C1}"/>
              </a:ext>
            </a:extLst>
          </p:cNvPr>
          <p:cNvSpPr>
            <a:spLocks noGrp="1"/>
          </p:cNvSpPr>
          <p:nvPr/>
        </p:nvSpPr>
        <p:spPr>
          <a:xfrm>
            <a:off x="995362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</a:t>
            </a:r>
          </a:p>
        </p:txBody>
      </p:sp>
      <p:sp>
        <p:nvSpPr>
          <p:cNvPr id="30" name="value5">
            <a:extLst>
              <a:ext uri="{FF2B5EF4-FFF2-40B4-BE49-F238E27FC236}">
                <a16:creationId xmlns:a16="http://schemas.microsoft.com/office/drawing/2014/main" id="{08A1DB77-0EFB-436E-8218-DCD008C3C499}"/>
              </a:ext>
            </a:extLst>
          </p:cNvPr>
          <p:cNvSpPr>
            <a:spLocks noGrp="1"/>
          </p:cNvSpPr>
          <p:nvPr/>
        </p:nvSpPr>
        <p:spPr>
          <a:xfrm>
            <a:off x="995362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 = 4</a:t>
            </a:r>
          </a:p>
        </p:txBody>
      </p:sp>
      <p:sp>
        <p:nvSpPr>
          <p:cNvPr id="31" name="weight1">
            <a:extLst>
              <a:ext uri="{FF2B5EF4-FFF2-40B4-BE49-F238E27FC236}">
                <a16:creationId xmlns:a16="http://schemas.microsoft.com/office/drawing/2014/main" id="{3DAE9888-F6EF-4C3F-B7A5-4B2902E799C8}"/>
              </a:ext>
            </a:extLst>
          </p:cNvPr>
          <p:cNvSpPr>
            <a:spLocks noGrp="1"/>
          </p:cNvSpPr>
          <p:nvPr/>
        </p:nvSpPr>
        <p:spPr>
          <a:xfrm>
            <a:off x="2457450" y="3769548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w₁ = 2</a:t>
            </a:r>
          </a:p>
        </p:txBody>
      </p:sp>
      <p:sp>
        <p:nvSpPr>
          <p:cNvPr id="32" name="weight2">
            <a:extLst>
              <a:ext uri="{FF2B5EF4-FFF2-40B4-BE49-F238E27FC236}">
                <a16:creationId xmlns:a16="http://schemas.microsoft.com/office/drawing/2014/main" id="{5A5E17AE-6D19-4D2E-B3CF-191163B5BEF9}"/>
              </a:ext>
            </a:extLst>
          </p:cNvPr>
          <p:cNvSpPr>
            <a:spLocks noGrp="1"/>
          </p:cNvSpPr>
          <p:nvPr/>
        </p:nvSpPr>
        <p:spPr>
          <a:xfrm>
            <a:off x="5934075" y="3752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w₂ = 3</a:t>
            </a:r>
          </a:p>
        </p:txBody>
      </p:sp>
      <p:sp>
        <p:nvSpPr>
          <p:cNvPr id="33" name="target">
            <a:extLst>
              <a:ext uri="{FF2B5EF4-FFF2-40B4-BE49-F238E27FC236}">
                <a16:creationId xmlns:a16="http://schemas.microsoft.com/office/drawing/2014/main" id="{A40C8154-8AEA-4C61-B60E-43516BF50033}"/>
              </a:ext>
            </a:extLst>
          </p:cNvPr>
          <p:cNvSpPr>
            <a:spLocks noGrp="1"/>
          </p:cNvSpPr>
          <p:nvPr/>
        </p:nvSpPr>
        <p:spPr>
          <a:xfrm>
            <a:off x="9906000" y="1952625"/>
            <a:ext cx="19526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目标 t = 4</a:t>
            </a:r>
          </a:p>
        </p:txBody>
      </p:sp>
      <p:sp>
        <p:nvSpPr>
          <p:cNvPr id="34" name="targetArrow">
            <a:extLst>
              <a:ext uri="{FF2B5EF4-FFF2-40B4-BE49-F238E27FC236}">
                <a16:creationId xmlns:a16="http://schemas.microsoft.com/office/drawing/2014/main" id="{4D3A174A-5A8E-4280-8F26-EB160D5E1FA5}"/>
              </a:ext>
            </a:extLst>
          </p:cNvPr>
          <p:cNvSpPr>
            <a:spLocks noGrp="1"/>
          </p:cNvSpPr>
          <p:nvPr/>
        </p:nvSpPr>
        <p:spPr>
          <a:xfrm>
            <a:off x="10601325" y="2428875"/>
            <a:ext cx="9525" cy="466725"/>
          </a:xfrm>
          <a:custGeom>
            <a:avLst/>
            <a:gdLst/>
            <a:ahLst/>
            <a:cxnLst/>
            <a:rect l="0" t="0" r="0" b="0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5" name="targetArrow_a">
            <a:extLst>
              <a:ext uri="{FF2B5EF4-FFF2-40B4-BE49-F238E27FC236}">
                <a16:creationId xmlns:a16="http://schemas.microsoft.com/office/drawing/2014/main" id="{B0D8BE25-6FCF-44BB-8F63-C2D83AEEF517}"/>
              </a:ext>
            </a:extLst>
          </p:cNvPr>
          <p:cNvSpPr>
            <a:spLocks noGrp="1"/>
          </p:cNvSpPr>
          <p:nvPr/>
        </p:nvSpPr>
        <p:spPr>
          <a:xfrm>
            <a:off x="10546527" y="279529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6" name="targetArrow_b">
            <a:extLst>
              <a:ext uri="{FF2B5EF4-FFF2-40B4-BE49-F238E27FC236}">
                <a16:creationId xmlns:a16="http://schemas.microsoft.com/office/drawing/2014/main" id="{77C0F14E-4F5B-46DB-A970-AFE40842CD9B}"/>
              </a:ext>
            </a:extLst>
          </p:cNvPr>
          <p:cNvSpPr>
            <a:spLocks noGrp="1"/>
          </p:cNvSpPr>
          <p:nvPr/>
        </p:nvSpPr>
        <p:spPr>
          <a:xfrm>
            <a:off x="10601325" y="279529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9" name="C1_reverse">
            <a:extLst>
              <a:ext uri="{FF2B5EF4-FFF2-40B4-BE49-F238E27FC236}">
                <a16:creationId xmlns:a16="http://schemas.microsoft.com/office/drawing/2014/main" id="{2A140334-6C0D-4058-A3BF-1183F6FB9638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2209800" cy="9525"/>
          </a:xfrm>
          <a:custGeom>
            <a:avLst/>
            <a:gdLst/>
            <a:ahLst/>
            <a:cxnLst/>
            <a:rect l="0" t="0" r="0" b="0"/>
            <a:pathLst>
              <a:path w="2209800" h="9525">
                <a:moveTo>
                  <a:pt x="22098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0" name="C1_reverse_a">
            <a:extLst>
              <a:ext uri="{FF2B5EF4-FFF2-40B4-BE49-F238E27FC236}">
                <a16:creationId xmlns:a16="http://schemas.microsoft.com/office/drawing/2014/main" id="{D98BA7A1-E2BA-4AE0-BA44-17D18D68BA8B}"/>
              </a:ext>
            </a:extLst>
          </p:cNvPr>
          <p:cNvSpPr>
            <a:spLocks noGrp="1"/>
          </p:cNvSpPr>
          <p:nvPr/>
        </p:nvSpPr>
        <p:spPr>
          <a:xfrm>
            <a:off x="8248650" y="2612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1" name="C1_reverse_b">
            <a:extLst>
              <a:ext uri="{FF2B5EF4-FFF2-40B4-BE49-F238E27FC236}">
                <a16:creationId xmlns:a16="http://schemas.microsoft.com/office/drawing/2014/main" id="{EF847BFD-2B13-45C6-805F-2E086573DA21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2" name="C1_shared4">
            <a:extLst>
              <a:ext uri="{FF2B5EF4-FFF2-40B4-BE49-F238E27FC236}">
                <a16:creationId xmlns:a16="http://schemas.microsoft.com/office/drawing/2014/main" id="{EED7904C-B381-4E2B-AD1D-D84F17FA96F2}"/>
              </a:ext>
            </a:extLst>
          </p:cNvPr>
          <p:cNvSpPr>
            <a:spLocks noGrp="1"/>
          </p:cNvSpPr>
          <p:nvPr/>
        </p:nvSpPr>
        <p:spPr>
          <a:xfrm>
            <a:off x="7515225" y="2114550"/>
            <a:ext cx="2638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75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y </a:t>
            </a:r>
            <a:r>
              <a:rPr sz="2175" b="1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敏感度</a:t>
            </a:r>
            <a:r>
              <a:rPr sz="2175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 4</a:t>
            </a:r>
          </a:p>
        </p:txBody>
      </p:sp>
      <p:sp>
        <p:nvSpPr>
          <p:cNvPr id="43" name="C2_question">
            <a:extLst>
              <a:ext uri="{FF2B5EF4-FFF2-40B4-BE49-F238E27FC236}">
                <a16:creationId xmlns:a16="http://schemas.microsoft.com/office/drawing/2014/main" id="{D7AAEDE0-BF18-4B5E-AE7E-1C35BCEBAFA0}"/>
              </a:ext>
            </a:extLst>
          </p:cNvPr>
          <p:cNvSpPr>
            <a:spLocks noGrp="1"/>
          </p:cNvSpPr>
          <p:nvPr/>
        </p:nvSpPr>
        <p:spPr>
          <a:xfrm>
            <a:off x="742950" y="5924550"/>
            <a:ext cx="9877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w₂ </a:t>
            </a:r>
            <a:r>
              <a:rPr lang="zh-CN" altLang="en-US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动一点，</a:t>
            </a:r>
            <a:r>
              <a:rPr lang="en-US" altLang="zh-CN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h </a:t>
            </a:r>
            <a:r>
              <a:rPr lang="zh-CN" altLang="en-US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到 </a:t>
            </a:r>
            <a:r>
              <a:rPr lang="en-US" altLang="zh-CN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L </a:t>
            </a:r>
            <a:r>
              <a:rPr lang="zh-CN" altLang="en-US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怎么变</a:t>
            </a:r>
            <a:r>
              <a:rPr lang="en-US" altLang="zh-CN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?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C3_branch">
            <a:extLst>
              <a:ext uri="{FF2B5EF4-FFF2-40B4-BE49-F238E27FC236}">
                <a16:creationId xmlns:a16="http://schemas.microsoft.com/office/drawing/2014/main" id="{E93E1E58-653A-4604-A943-61F0AF56A7D8}"/>
              </a:ext>
            </a:extLst>
          </p:cNvPr>
          <p:cNvSpPr>
            <a:spLocks noGrp="1"/>
          </p:cNvSpPr>
          <p:nvPr/>
        </p:nvSpPr>
        <p:spPr>
          <a:xfrm>
            <a:off x="7219950" y="3971925"/>
            <a:ext cx="1133475" cy="485775"/>
          </a:xfrm>
          <a:custGeom>
            <a:avLst/>
            <a:gdLst/>
            <a:ahLst/>
            <a:cxnLst/>
            <a:rect l="0" t="0" r="0" b="0"/>
            <a:pathLst>
              <a:path w="1133475" h="485775">
                <a:moveTo>
                  <a:pt x="1133475" y="0"/>
                </a:moveTo>
                <a:lnTo>
                  <a:pt x="0" y="485775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8" name="C3_branch_a">
            <a:extLst>
              <a:ext uri="{FF2B5EF4-FFF2-40B4-BE49-F238E27FC236}">
                <a16:creationId xmlns:a16="http://schemas.microsoft.com/office/drawing/2014/main" id="{F59C75E3-1101-478A-B708-3504067DE802}"/>
              </a:ext>
            </a:extLst>
          </p:cNvPr>
          <p:cNvSpPr>
            <a:spLocks noGrp="1"/>
          </p:cNvSpPr>
          <p:nvPr/>
        </p:nvSpPr>
        <p:spPr>
          <a:xfrm>
            <a:off x="7219950" y="4367819"/>
            <a:ext cx="70611" cy="89881"/>
          </a:xfrm>
          <a:custGeom>
            <a:avLst/>
            <a:gdLst/>
            <a:ahLst/>
            <a:cxnLst/>
            <a:rect l="0" t="0" r="0" b="0"/>
            <a:pathLst>
              <a:path w="70611" h="89881">
                <a:moveTo>
                  <a:pt x="0" y="89881"/>
                </a:moveTo>
                <a:lnTo>
                  <a:pt x="70611" y="0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9" name="C3_branch_b">
            <a:extLst>
              <a:ext uri="{FF2B5EF4-FFF2-40B4-BE49-F238E27FC236}">
                <a16:creationId xmlns:a16="http://schemas.microsoft.com/office/drawing/2014/main" id="{26C4C9BA-E47C-4F8E-98C9-E3984B218FF4}"/>
              </a:ext>
            </a:extLst>
          </p:cNvPr>
          <p:cNvSpPr>
            <a:spLocks noGrp="1"/>
          </p:cNvSpPr>
          <p:nvPr/>
        </p:nvSpPr>
        <p:spPr>
          <a:xfrm>
            <a:off x="7219950" y="4457700"/>
            <a:ext cx="113783" cy="10854"/>
          </a:xfrm>
          <a:custGeom>
            <a:avLst/>
            <a:gdLst/>
            <a:ahLst/>
            <a:cxnLst/>
            <a:rect l="0" t="0" r="0" b="0"/>
            <a:pathLst>
              <a:path w="113783" h="10854">
                <a:moveTo>
                  <a:pt x="0" y="0"/>
                </a:moveTo>
                <a:lnTo>
                  <a:pt x="113783" y="10854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0" name="C4_gradient2">
            <a:extLst>
              <a:ext uri="{FF2B5EF4-FFF2-40B4-BE49-F238E27FC236}">
                <a16:creationId xmlns:a16="http://schemas.microsoft.com/office/drawing/2014/main" id="{FC6310E1-C4A6-42A2-916F-D3E6ECFE87D2}"/>
              </a:ext>
            </a:extLst>
          </p:cNvPr>
          <p:cNvSpPr>
            <a:spLocks noGrp="1"/>
          </p:cNvSpPr>
          <p:nvPr/>
        </p:nvSpPr>
        <p:spPr>
          <a:xfrm>
            <a:off x="5360046" y="4505325"/>
            <a:ext cx="447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w₂ 梯度：2 × 4 = 8</a:t>
            </a:r>
          </a:p>
        </p:txBody>
      </p:sp>
      <p:sp>
        <p:nvSpPr>
          <p:cNvPr id="38" name="C3_lossFormula">
            <a:extLst>
              <a:ext uri="{FF2B5EF4-FFF2-40B4-BE49-F238E27FC236}">
                <a16:creationId xmlns:a16="http://schemas.microsoft.com/office/drawing/2014/main" id="{47587E8A-26D5-9038-164B-758B5C9DF94B}"/>
              </a:ext>
            </a:extLst>
          </p:cNvPr>
          <p:cNvSpPr>
            <a:spLocks noGrp="1"/>
          </p:cNvSpPr>
          <p:nvPr/>
        </p:nvSpPr>
        <p:spPr>
          <a:xfrm>
            <a:off x="9953625" y="3914775"/>
            <a:ext cx="22098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L=</a:t>
            </a:r>
            <a:r>
              <a:rPr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en-US" altLang="zh-CN"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y</a:t>
            </a:r>
            <a:r>
              <a:rPr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−</a:t>
            </a:r>
            <a:r>
              <a:rPr lang="en-US" altLang="zh-CN"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025" b="1" dirty="0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)²=4</a:t>
            </a:r>
          </a:p>
        </p:txBody>
      </p:sp>
      <p:sp>
        <p:nvSpPr>
          <p:cNvPr id="44" name="C2_question">
            <a:extLst>
              <a:ext uri="{FF2B5EF4-FFF2-40B4-BE49-F238E27FC236}">
                <a16:creationId xmlns:a16="http://schemas.microsoft.com/office/drawing/2014/main" id="{3A866FDD-27EF-5A97-1111-735EFF510AC3}"/>
              </a:ext>
            </a:extLst>
          </p:cNvPr>
          <p:cNvSpPr>
            <a:spLocks noGrp="1"/>
          </p:cNvSpPr>
          <p:nvPr/>
        </p:nvSpPr>
        <p:spPr>
          <a:xfrm>
            <a:off x="752474" y="5934075"/>
            <a:ext cx="9877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y </a:t>
            </a:r>
            <a:r>
              <a:rPr lang="zh-CN" altLang="en-US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动一点，</a:t>
            </a:r>
            <a:r>
              <a:rPr lang="en-US" altLang="zh-CN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L </a:t>
            </a:r>
            <a:r>
              <a:rPr lang="zh-CN" altLang="en-US"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怎么变？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6408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50" grpId="0"/>
      <p:bldP spid="44" grpId="0"/>
      <p:bldP spid="4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">
            <a:extLst>
              <a:ext uri="{FF2B5EF4-FFF2-40B4-BE49-F238E27FC236}">
                <a16:creationId xmlns:a16="http://schemas.microsoft.com/office/drawing/2014/main" id="{6DB3F10A-04AD-4669-B1D9-3A310E88BDA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继续反向：复用已有的结果</a:t>
            </a:r>
            <a:endParaRPr sz="36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DCBF6E26-7AFD-4193-992F-21A8EAF1343F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990F064-9252-445D-8828-51A70E988DF2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沿原图继续向前，已算出的敏感度可以复用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label0">
            <a:extLst>
              <a:ext uri="{FF2B5EF4-FFF2-40B4-BE49-F238E27FC236}">
                <a16:creationId xmlns:a16="http://schemas.microsoft.com/office/drawing/2014/main" id="{161390AC-E5DE-40AE-B8DE-2C5B08433BF8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value0">
            <a:extLst>
              <a:ext uri="{FF2B5EF4-FFF2-40B4-BE49-F238E27FC236}">
                <a16:creationId xmlns:a16="http://schemas.microsoft.com/office/drawing/2014/main" id="{AE1B1319-5F60-4BE7-8908-3635021DE06A}"/>
              </a:ext>
            </a:extLst>
          </p:cNvPr>
          <p:cNvSpPr>
            <a:spLocks noGrp="1"/>
          </p:cNvSpPr>
          <p:nvPr/>
        </p:nvSpPr>
        <p:spPr>
          <a:xfrm>
            <a:off x="74295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6" name="link0">
            <a:extLst>
              <a:ext uri="{FF2B5EF4-FFF2-40B4-BE49-F238E27FC236}">
                <a16:creationId xmlns:a16="http://schemas.microsoft.com/office/drawing/2014/main" id="{7C564288-F160-42D0-BD0D-A8B442A64AFD}"/>
              </a:ext>
            </a:extLst>
          </p:cNvPr>
          <p:cNvSpPr>
            <a:spLocks noGrp="1"/>
          </p:cNvSpPr>
          <p:nvPr/>
        </p:nvSpPr>
        <p:spPr>
          <a:xfrm>
            <a:off x="2038350" y="3657600"/>
            <a:ext cx="304800" cy="9525"/>
          </a:xfrm>
          <a:custGeom>
            <a:avLst/>
            <a:gdLst/>
            <a:ahLst/>
            <a:cxnLst/>
            <a:rect l="0" t="0" r="0" b="0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7" name="link0_a">
            <a:extLst>
              <a:ext uri="{FF2B5EF4-FFF2-40B4-BE49-F238E27FC236}">
                <a16:creationId xmlns:a16="http://schemas.microsoft.com/office/drawing/2014/main" id="{243E816C-3412-4137-8C64-43ACDE45E186}"/>
              </a:ext>
            </a:extLst>
          </p:cNvPr>
          <p:cNvSpPr>
            <a:spLocks noGrp="1"/>
          </p:cNvSpPr>
          <p:nvPr/>
        </p:nvSpPr>
        <p:spPr>
          <a:xfrm>
            <a:off x="2242842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8" name="link0_b">
            <a:extLst>
              <a:ext uri="{FF2B5EF4-FFF2-40B4-BE49-F238E27FC236}">
                <a16:creationId xmlns:a16="http://schemas.microsoft.com/office/drawing/2014/main" id="{405AB4C7-F56B-41CD-B090-263C75217A43}"/>
              </a:ext>
            </a:extLst>
          </p:cNvPr>
          <p:cNvSpPr>
            <a:spLocks noGrp="1"/>
          </p:cNvSpPr>
          <p:nvPr/>
        </p:nvSpPr>
        <p:spPr>
          <a:xfrm>
            <a:off x="2242842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9" name="label1">
            <a:extLst>
              <a:ext uri="{FF2B5EF4-FFF2-40B4-BE49-F238E27FC236}">
                <a16:creationId xmlns:a16="http://schemas.microsoft.com/office/drawing/2014/main" id="{F9CF39C4-1FE3-4664-AE52-8AA724B09199}"/>
              </a:ext>
            </a:extLst>
          </p:cNvPr>
          <p:cNvSpPr>
            <a:spLocks noGrp="1"/>
          </p:cNvSpPr>
          <p:nvPr/>
        </p:nvSpPr>
        <p:spPr>
          <a:xfrm>
            <a:off x="247650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乘权重</a:t>
            </a:r>
          </a:p>
        </p:txBody>
      </p:sp>
      <p:sp>
        <p:nvSpPr>
          <p:cNvPr id="10" name="value1">
            <a:extLst>
              <a:ext uri="{FF2B5EF4-FFF2-40B4-BE49-F238E27FC236}">
                <a16:creationId xmlns:a16="http://schemas.microsoft.com/office/drawing/2014/main" id="{99CB92A2-C4B6-490F-8B76-8DE683D9B7A4}"/>
              </a:ext>
            </a:extLst>
          </p:cNvPr>
          <p:cNvSpPr>
            <a:spLocks noGrp="1"/>
          </p:cNvSpPr>
          <p:nvPr/>
        </p:nvSpPr>
        <p:spPr>
          <a:xfrm>
            <a:off x="247650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× w₁</a:t>
            </a:r>
          </a:p>
        </p:txBody>
      </p:sp>
      <p:sp>
        <p:nvSpPr>
          <p:cNvPr id="11" name="link1">
            <a:extLst>
              <a:ext uri="{FF2B5EF4-FFF2-40B4-BE49-F238E27FC236}">
                <a16:creationId xmlns:a16="http://schemas.microsoft.com/office/drawing/2014/main" id="{3A5BEA32-C623-467A-B5BA-B9BA53B8CA5D}"/>
              </a:ext>
            </a:extLst>
          </p:cNvPr>
          <p:cNvSpPr>
            <a:spLocks noGrp="1"/>
          </p:cNvSpPr>
          <p:nvPr/>
        </p:nvSpPr>
        <p:spPr>
          <a:xfrm>
            <a:off x="3771900" y="3657600"/>
            <a:ext cx="314325" cy="9525"/>
          </a:xfrm>
          <a:custGeom>
            <a:avLst/>
            <a:gdLst/>
            <a:ahLst/>
            <a:cxnLst/>
            <a:rect l="0" t="0" r="0" b="0"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2" name="link1_a">
            <a:extLst>
              <a:ext uri="{FF2B5EF4-FFF2-40B4-BE49-F238E27FC236}">
                <a16:creationId xmlns:a16="http://schemas.microsoft.com/office/drawing/2014/main" id="{FCDFBC51-2615-4D0A-A894-ED94EFEAC695}"/>
              </a:ext>
            </a:extLst>
          </p:cNvPr>
          <p:cNvSpPr>
            <a:spLocks noGrp="1"/>
          </p:cNvSpPr>
          <p:nvPr/>
        </p:nvSpPr>
        <p:spPr>
          <a:xfrm>
            <a:off x="398591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3" name="link1_b">
            <a:extLst>
              <a:ext uri="{FF2B5EF4-FFF2-40B4-BE49-F238E27FC236}">
                <a16:creationId xmlns:a16="http://schemas.microsoft.com/office/drawing/2014/main" id="{81CDB2EB-50EB-44C4-8129-725EC8F8CD6F}"/>
              </a:ext>
            </a:extLst>
          </p:cNvPr>
          <p:cNvSpPr>
            <a:spLocks noGrp="1"/>
          </p:cNvSpPr>
          <p:nvPr/>
        </p:nvSpPr>
        <p:spPr>
          <a:xfrm>
            <a:off x="398591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4" name="label2">
            <a:extLst>
              <a:ext uri="{FF2B5EF4-FFF2-40B4-BE49-F238E27FC236}">
                <a16:creationId xmlns:a16="http://schemas.microsoft.com/office/drawing/2014/main" id="{ADC9ABE6-9282-4F32-BBBE-331F461FFF2F}"/>
              </a:ext>
            </a:extLst>
          </p:cNvPr>
          <p:cNvSpPr>
            <a:spLocks noGrp="1"/>
          </p:cNvSpPr>
          <p:nvPr/>
        </p:nvSpPr>
        <p:spPr>
          <a:xfrm>
            <a:off x="421957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中间值</a:t>
            </a:r>
          </a:p>
        </p:txBody>
      </p:sp>
      <p:sp>
        <p:nvSpPr>
          <p:cNvPr id="15" name="value2">
            <a:extLst>
              <a:ext uri="{FF2B5EF4-FFF2-40B4-BE49-F238E27FC236}">
                <a16:creationId xmlns:a16="http://schemas.microsoft.com/office/drawing/2014/main" id="{3A3C86EC-CF66-45AC-AC06-6DD24D06358F}"/>
              </a:ext>
            </a:extLst>
          </p:cNvPr>
          <p:cNvSpPr>
            <a:spLocks noGrp="1"/>
          </p:cNvSpPr>
          <p:nvPr/>
        </p:nvSpPr>
        <p:spPr>
          <a:xfrm>
            <a:off x="421957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h = 2</a:t>
            </a:r>
          </a:p>
        </p:txBody>
      </p:sp>
      <p:sp>
        <p:nvSpPr>
          <p:cNvPr id="16" name="link2">
            <a:extLst>
              <a:ext uri="{FF2B5EF4-FFF2-40B4-BE49-F238E27FC236}">
                <a16:creationId xmlns:a16="http://schemas.microsoft.com/office/drawing/2014/main" id="{C91DA8CF-9DC5-4AA5-9C26-B164211D7DA5}"/>
              </a:ext>
            </a:extLst>
          </p:cNvPr>
          <p:cNvSpPr>
            <a:spLocks noGrp="1"/>
          </p:cNvSpPr>
          <p:nvPr/>
        </p:nvSpPr>
        <p:spPr>
          <a:xfrm>
            <a:off x="5514975" y="3657600"/>
            <a:ext cx="352425" cy="9525"/>
          </a:xfrm>
          <a:custGeom>
            <a:avLst/>
            <a:gdLst/>
            <a:ahLst/>
            <a:cxnLst/>
            <a:rect l="0" t="0" r="0" b="0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7" name="link2_a">
            <a:extLst>
              <a:ext uri="{FF2B5EF4-FFF2-40B4-BE49-F238E27FC236}">
                <a16:creationId xmlns:a16="http://schemas.microsoft.com/office/drawing/2014/main" id="{AC40A00B-21A7-43E4-AADA-A01EFF13CB4E}"/>
              </a:ext>
            </a:extLst>
          </p:cNvPr>
          <p:cNvSpPr>
            <a:spLocks noGrp="1"/>
          </p:cNvSpPr>
          <p:nvPr/>
        </p:nvSpPr>
        <p:spPr>
          <a:xfrm>
            <a:off x="5767092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8" name="link2_b">
            <a:extLst>
              <a:ext uri="{FF2B5EF4-FFF2-40B4-BE49-F238E27FC236}">
                <a16:creationId xmlns:a16="http://schemas.microsoft.com/office/drawing/2014/main" id="{CFA27B76-F8B2-4216-8DE0-6643AC845FBA}"/>
              </a:ext>
            </a:extLst>
          </p:cNvPr>
          <p:cNvSpPr>
            <a:spLocks noGrp="1"/>
          </p:cNvSpPr>
          <p:nvPr/>
        </p:nvSpPr>
        <p:spPr>
          <a:xfrm>
            <a:off x="5767092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9" name="label3">
            <a:extLst>
              <a:ext uri="{FF2B5EF4-FFF2-40B4-BE49-F238E27FC236}">
                <a16:creationId xmlns:a16="http://schemas.microsoft.com/office/drawing/2014/main" id="{6EF7E667-FCED-44E7-8A3E-7A1C522CEE98}"/>
              </a:ext>
            </a:extLst>
          </p:cNvPr>
          <p:cNvSpPr>
            <a:spLocks noGrp="1"/>
          </p:cNvSpPr>
          <p:nvPr/>
        </p:nvSpPr>
        <p:spPr>
          <a:xfrm>
            <a:off x="6000750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乘权重</a:t>
            </a:r>
          </a:p>
        </p:txBody>
      </p:sp>
      <p:sp>
        <p:nvSpPr>
          <p:cNvPr id="20" name="value3">
            <a:extLst>
              <a:ext uri="{FF2B5EF4-FFF2-40B4-BE49-F238E27FC236}">
                <a16:creationId xmlns:a16="http://schemas.microsoft.com/office/drawing/2014/main" id="{943D3720-A96D-474C-92A3-EAA7E96EA91F}"/>
              </a:ext>
            </a:extLst>
          </p:cNvPr>
          <p:cNvSpPr>
            <a:spLocks noGrp="1"/>
          </p:cNvSpPr>
          <p:nvPr/>
        </p:nvSpPr>
        <p:spPr>
          <a:xfrm>
            <a:off x="6000750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× w₂</a:t>
            </a:r>
          </a:p>
        </p:txBody>
      </p:sp>
      <p:sp>
        <p:nvSpPr>
          <p:cNvPr id="21" name="link3">
            <a:extLst>
              <a:ext uri="{FF2B5EF4-FFF2-40B4-BE49-F238E27FC236}">
                <a16:creationId xmlns:a16="http://schemas.microsoft.com/office/drawing/2014/main" id="{CC55A746-A24B-4CBB-8A8D-02F3B6D4B79C}"/>
              </a:ext>
            </a:extLst>
          </p:cNvPr>
          <p:cNvSpPr>
            <a:spLocks noGrp="1"/>
          </p:cNvSpPr>
          <p:nvPr/>
        </p:nvSpPr>
        <p:spPr>
          <a:xfrm>
            <a:off x="7296150" y="3657600"/>
            <a:ext cx="352425" cy="9525"/>
          </a:xfrm>
          <a:custGeom>
            <a:avLst/>
            <a:gdLst/>
            <a:ahLst/>
            <a:cxnLst/>
            <a:rect l="0" t="0" r="0" b="0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2" name="link3_a">
            <a:extLst>
              <a:ext uri="{FF2B5EF4-FFF2-40B4-BE49-F238E27FC236}">
                <a16:creationId xmlns:a16="http://schemas.microsoft.com/office/drawing/2014/main" id="{C67546B3-DDD1-470A-B9E6-9135C69594D4}"/>
              </a:ext>
            </a:extLst>
          </p:cNvPr>
          <p:cNvSpPr>
            <a:spLocks noGrp="1"/>
          </p:cNvSpPr>
          <p:nvPr/>
        </p:nvSpPr>
        <p:spPr>
          <a:xfrm>
            <a:off x="754826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3" name="link3_b">
            <a:extLst>
              <a:ext uri="{FF2B5EF4-FFF2-40B4-BE49-F238E27FC236}">
                <a16:creationId xmlns:a16="http://schemas.microsoft.com/office/drawing/2014/main" id="{FE9170A9-F848-4229-8920-048786A609CC}"/>
              </a:ext>
            </a:extLst>
          </p:cNvPr>
          <p:cNvSpPr>
            <a:spLocks noGrp="1"/>
          </p:cNvSpPr>
          <p:nvPr/>
        </p:nvSpPr>
        <p:spPr>
          <a:xfrm>
            <a:off x="754826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4" name="label4">
            <a:extLst>
              <a:ext uri="{FF2B5EF4-FFF2-40B4-BE49-F238E27FC236}">
                <a16:creationId xmlns:a16="http://schemas.microsoft.com/office/drawing/2014/main" id="{7A1F8AB0-196D-4F43-B8FE-59480C0853E3}"/>
              </a:ext>
            </a:extLst>
          </p:cNvPr>
          <p:cNvSpPr>
            <a:spLocks noGrp="1"/>
          </p:cNvSpPr>
          <p:nvPr/>
        </p:nvSpPr>
        <p:spPr>
          <a:xfrm>
            <a:off x="778192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value4">
            <a:extLst>
              <a:ext uri="{FF2B5EF4-FFF2-40B4-BE49-F238E27FC236}">
                <a16:creationId xmlns:a16="http://schemas.microsoft.com/office/drawing/2014/main" id="{3D974692-DAF1-4BBF-92AA-FE38BFAE0970}"/>
              </a:ext>
            </a:extLst>
          </p:cNvPr>
          <p:cNvSpPr>
            <a:spLocks noGrp="1"/>
          </p:cNvSpPr>
          <p:nvPr/>
        </p:nvSpPr>
        <p:spPr>
          <a:xfrm>
            <a:off x="778192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y = 6</a:t>
            </a:r>
          </a:p>
        </p:txBody>
      </p:sp>
      <p:sp>
        <p:nvSpPr>
          <p:cNvPr id="26" name="link4">
            <a:extLst>
              <a:ext uri="{FF2B5EF4-FFF2-40B4-BE49-F238E27FC236}">
                <a16:creationId xmlns:a16="http://schemas.microsoft.com/office/drawing/2014/main" id="{A015C433-0368-459F-B6D7-BFA2591397D7}"/>
              </a:ext>
            </a:extLst>
          </p:cNvPr>
          <p:cNvSpPr>
            <a:spLocks noGrp="1"/>
          </p:cNvSpPr>
          <p:nvPr/>
        </p:nvSpPr>
        <p:spPr>
          <a:xfrm>
            <a:off x="9077325" y="3657600"/>
            <a:ext cx="742950" cy="9525"/>
          </a:xfrm>
          <a:custGeom>
            <a:avLst/>
            <a:gdLst/>
            <a:ahLst/>
            <a:cxnLst/>
            <a:rect l="0" t="0" r="0" b="0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7" name="link4_a">
            <a:extLst>
              <a:ext uri="{FF2B5EF4-FFF2-40B4-BE49-F238E27FC236}">
                <a16:creationId xmlns:a16="http://schemas.microsoft.com/office/drawing/2014/main" id="{7B5BA9BA-9FC4-4F4F-AACB-2E4911359A34}"/>
              </a:ext>
            </a:extLst>
          </p:cNvPr>
          <p:cNvSpPr>
            <a:spLocks noGrp="1"/>
          </p:cNvSpPr>
          <p:nvPr/>
        </p:nvSpPr>
        <p:spPr>
          <a:xfrm>
            <a:off x="9719967" y="36576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8" name="link4_b">
            <a:extLst>
              <a:ext uri="{FF2B5EF4-FFF2-40B4-BE49-F238E27FC236}">
                <a16:creationId xmlns:a16="http://schemas.microsoft.com/office/drawing/2014/main" id="{94A2ABD4-DE21-43E5-B4B7-C0C8B0E34D00}"/>
              </a:ext>
            </a:extLst>
          </p:cNvPr>
          <p:cNvSpPr>
            <a:spLocks noGrp="1"/>
          </p:cNvSpPr>
          <p:nvPr/>
        </p:nvSpPr>
        <p:spPr>
          <a:xfrm>
            <a:off x="9719967" y="36028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9" name="label5">
            <a:extLst>
              <a:ext uri="{FF2B5EF4-FFF2-40B4-BE49-F238E27FC236}">
                <a16:creationId xmlns:a16="http://schemas.microsoft.com/office/drawing/2014/main" id="{CD92B163-AF00-4341-9381-DC3FFFB11B88}"/>
              </a:ext>
            </a:extLst>
          </p:cNvPr>
          <p:cNvSpPr>
            <a:spLocks noGrp="1"/>
          </p:cNvSpPr>
          <p:nvPr/>
        </p:nvSpPr>
        <p:spPr>
          <a:xfrm>
            <a:off x="9953625" y="3000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损失</a:t>
            </a:r>
          </a:p>
        </p:txBody>
      </p:sp>
      <p:sp>
        <p:nvSpPr>
          <p:cNvPr id="30" name="value5">
            <a:extLst>
              <a:ext uri="{FF2B5EF4-FFF2-40B4-BE49-F238E27FC236}">
                <a16:creationId xmlns:a16="http://schemas.microsoft.com/office/drawing/2014/main" id="{8E7D0AA5-3980-42A4-8FD4-7A6B4A48C555}"/>
              </a:ext>
            </a:extLst>
          </p:cNvPr>
          <p:cNvSpPr>
            <a:spLocks noGrp="1"/>
          </p:cNvSpPr>
          <p:nvPr/>
        </p:nvSpPr>
        <p:spPr>
          <a:xfrm>
            <a:off x="9953625" y="340042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L = 4</a:t>
            </a:r>
          </a:p>
        </p:txBody>
      </p:sp>
      <p:sp>
        <p:nvSpPr>
          <p:cNvPr id="33" name="target">
            <a:extLst>
              <a:ext uri="{FF2B5EF4-FFF2-40B4-BE49-F238E27FC236}">
                <a16:creationId xmlns:a16="http://schemas.microsoft.com/office/drawing/2014/main" id="{279A6ED0-2B8A-4AAC-8EAF-C6276F1BF3BD}"/>
              </a:ext>
            </a:extLst>
          </p:cNvPr>
          <p:cNvSpPr>
            <a:spLocks noGrp="1"/>
          </p:cNvSpPr>
          <p:nvPr/>
        </p:nvSpPr>
        <p:spPr>
          <a:xfrm>
            <a:off x="9906000" y="1952625"/>
            <a:ext cx="19526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目标 t = 4</a:t>
            </a:r>
          </a:p>
        </p:txBody>
      </p:sp>
      <p:sp>
        <p:nvSpPr>
          <p:cNvPr id="34" name="targetArrow">
            <a:extLst>
              <a:ext uri="{FF2B5EF4-FFF2-40B4-BE49-F238E27FC236}">
                <a16:creationId xmlns:a16="http://schemas.microsoft.com/office/drawing/2014/main" id="{5FFFFEB8-5B62-4966-B75F-AE354C2D7085}"/>
              </a:ext>
            </a:extLst>
          </p:cNvPr>
          <p:cNvSpPr>
            <a:spLocks noGrp="1"/>
          </p:cNvSpPr>
          <p:nvPr/>
        </p:nvSpPr>
        <p:spPr>
          <a:xfrm>
            <a:off x="10601325" y="2428875"/>
            <a:ext cx="9525" cy="466725"/>
          </a:xfrm>
          <a:custGeom>
            <a:avLst/>
            <a:gdLst/>
            <a:ahLst/>
            <a:cxnLst/>
            <a:rect l="0" t="0" r="0" b="0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5" name="targetArrow_a">
            <a:extLst>
              <a:ext uri="{FF2B5EF4-FFF2-40B4-BE49-F238E27FC236}">
                <a16:creationId xmlns:a16="http://schemas.microsoft.com/office/drawing/2014/main" id="{738361AF-9803-4B34-8409-4C4FB289B678}"/>
              </a:ext>
            </a:extLst>
          </p:cNvPr>
          <p:cNvSpPr>
            <a:spLocks noGrp="1"/>
          </p:cNvSpPr>
          <p:nvPr/>
        </p:nvSpPr>
        <p:spPr>
          <a:xfrm>
            <a:off x="10546527" y="279529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6" name="targetArrow_b">
            <a:extLst>
              <a:ext uri="{FF2B5EF4-FFF2-40B4-BE49-F238E27FC236}">
                <a16:creationId xmlns:a16="http://schemas.microsoft.com/office/drawing/2014/main" id="{6953485A-1879-409C-B29D-1C79411777A9}"/>
              </a:ext>
            </a:extLst>
          </p:cNvPr>
          <p:cNvSpPr>
            <a:spLocks noGrp="1"/>
          </p:cNvSpPr>
          <p:nvPr/>
        </p:nvSpPr>
        <p:spPr>
          <a:xfrm>
            <a:off x="10601325" y="2795292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39" name="base_reverse">
            <a:extLst>
              <a:ext uri="{FF2B5EF4-FFF2-40B4-BE49-F238E27FC236}">
                <a16:creationId xmlns:a16="http://schemas.microsoft.com/office/drawing/2014/main" id="{4974DA30-FBDF-480D-82D6-697DB5873337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2209800" cy="9525"/>
          </a:xfrm>
          <a:custGeom>
            <a:avLst/>
            <a:gdLst/>
            <a:ahLst/>
            <a:cxnLst/>
            <a:rect l="0" t="0" r="0" b="0"/>
            <a:pathLst>
              <a:path w="2209800" h="9525">
                <a:moveTo>
                  <a:pt x="22098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0" name="base_reverse_a">
            <a:extLst>
              <a:ext uri="{FF2B5EF4-FFF2-40B4-BE49-F238E27FC236}">
                <a16:creationId xmlns:a16="http://schemas.microsoft.com/office/drawing/2014/main" id="{0A1025A7-A22D-4BB9-8D17-E85FE49E980D}"/>
              </a:ext>
            </a:extLst>
          </p:cNvPr>
          <p:cNvSpPr>
            <a:spLocks noGrp="1"/>
          </p:cNvSpPr>
          <p:nvPr/>
        </p:nvSpPr>
        <p:spPr>
          <a:xfrm>
            <a:off x="8248650" y="2612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1" name="base_reverse_b">
            <a:extLst>
              <a:ext uri="{FF2B5EF4-FFF2-40B4-BE49-F238E27FC236}">
                <a16:creationId xmlns:a16="http://schemas.microsoft.com/office/drawing/2014/main" id="{1F495A1C-970E-4DC4-AEA7-0B825310B14B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2" name="base_shared4">
            <a:extLst>
              <a:ext uri="{FF2B5EF4-FFF2-40B4-BE49-F238E27FC236}">
                <a16:creationId xmlns:a16="http://schemas.microsoft.com/office/drawing/2014/main" id="{461B2293-4D11-4F11-B004-8E4BD7586904}"/>
              </a:ext>
            </a:extLst>
          </p:cNvPr>
          <p:cNvSpPr>
            <a:spLocks noGrp="1"/>
          </p:cNvSpPr>
          <p:nvPr/>
        </p:nvSpPr>
        <p:spPr>
          <a:xfrm>
            <a:off x="7515225" y="2114550"/>
            <a:ext cx="2638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75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y </a:t>
            </a:r>
            <a:r>
              <a:rPr sz="2175" b="1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敏感度</a:t>
            </a:r>
            <a:r>
              <a:rPr sz="2175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 4</a:t>
            </a:r>
          </a:p>
        </p:txBody>
      </p:sp>
      <p:sp>
        <p:nvSpPr>
          <p:cNvPr id="43" name="base_branch">
            <a:extLst>
              <a:ext uri="{FF2B5EF4-FFF2-40B4-BE49-F238E27FC236}">
                <a16:creationId xmlns:a16="http://schemas.microsoft.com/office/drawing/2014/main" id="{88FCA8E8-56F2-46AB-8DCC-41365A8057DD}"/>
              </a:ext>
            </a:extLst>
          </p:cNvPr>
          <p:cNvSpPr>
            <a:spLocks noGrp="1"/>
          </p:cNvSpPr>
          <p:nvPr/>
        </p:nvSpPr>
        <p:spPr>
          <a:xfrm>
            <a:off x="7219950" y="3971925"/>
            <a:ext cx="1133475" cy="485775"/>
          </a:xfrm>
          <a:custGeom>
            <a:avLst/>
            <a:gdLst/>
            <a:ahLst/>
            <a:cxnLst/>
            <a:rect l="0" t="0" r="0" b="0"/>
            <a:pathLst>
              <a:path w="1133475" h="485775">
                <a:moveTo>
                  <a:pt x="1133475" y="0"/>
                </a:moveTo>
                <a:lnTo>
                  <a:pt x="0" y="485775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4" name="base_branch_a">
            <a:extLst>
              <a:ext uri="{FF2B5EF4-FFF2-40B4-BE49-F238E27FC236}">
                <a16:creationId xmlns:a16="http://schemas.microsoft.com/office/drawing/2014/main" id="{9DE006A4-9780-4403-9B79-5543903ECE25}"/>
              </a:ext>
            </a:extLst>
          </p:cNvPr>
          <p:cNvSpPr>
            <a:spLocks noGrp="1"/>
          </p:cNvSpPr>
          <p:nvPr/>
        </p:nvSpPr>
        <p:spPr>
          <a:xfrm>
            <a:off x="7219950" y="4367819"/>
            <a:ext cx="70611" cy="89881"/>
          </a:xfrm>
          <a:custGeom>
            <a:avLst/>
            <a:gdLst/>
            <a:ahLst/>
            <a:cxnLst/>
            <a:rect l="0" t="0" r="0" b="0"/>
            <a:pathLst>
              <a:path w="70611" h="89881">
                <a:moveTo>
                  <a:pt x="0" y="89881"/>
                </a:moveTo>
                <a:lnTo>
                  <a:pt x="70611" y="0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5" name="base_branch_b">
            <a:extLst>
              <a:ext uri="{FF2B5EF4-FFF2-40B4-BE49-F238E27FC236}">
                <a16:creationId xmlns:a16="http://schemas.microsoft.com/office/drawing/2014/main" id="{CEE310FA-C2A4-4950-A547-E47C56F1C6C8}"/>
              </a:ext>
            </a:extLst>
          </p:cNvPr>
          <p:cNvSpPr>
            <a:spLocks noGrp="1"/>
          </p:cNvSpPr>
          <p:nvPr/>
        </p:nvSpPr>
        <p:spPr>
          <a:xfrm>
            <a:off x="7219950" y="4457700"/>
            <a:ext cx="113783" cy="10854"/>
          </a:xfrm>
          <a:custGeom>
            <a:avLst/>
            <a:gdLst/>
            <a:ahLst/>
            <a:cxnLst/>
            <a:rect l="0" t="0" r="0" b="0"/>
            <a:pathLst>
              <a:path w="113783" h="10854">
                <a:moveTo>
                  <a:pt x="0" y="0"/>
                </a:moveTo>
                <a:lnTo>
                  <a:pt x="113783" y="10854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1" name="C2_reverseH">
            <a:extLst>
              <a:ext uri="{FF2B5EF4-FFF2-40B4-BE49-F238E27FC236}">
                <a16:creationId xmlns:a16="http://schemas.microsoft.com/office/drawing/2014/main" id="{9A13092D-6D8F-471C-BD01-36A311E7BCE8}"/>
              </a:ext>
            </a:extLst>
          </p:cNvPr>
          <p:cNvSpPr>
            <a:spLocks noGrp="1"/>
          </p:cNvSpPr>
          <p:nvPr/>
        </p:nvSpPr>
        <p:spPr>
          <a:xfrm>
            <a:off x="4848225" y="2667000"/>
            <a:ext cx="3000375" cy="9525"/>
          </a:xfrm>
          <a:custGeom>
            <a:avLst/>
            <a:gdLst/>
            <a:ahLst/>
            <a:cxnLst/>
            <a:rect l="0" t="0" r="0" b="0"/>
            <a:pathLst>
              <a:path w="3000375" h="9525">
                <a:moveTo>
                  <a:pt x="3000375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2" name="C2_reverseH_a">
            <a:extLst>
              <a:ext uri="{FF2B5EF4-FFF2-40B4-BE49-F238E27FC236}">
                <a16:creationId xmlns:a16="http://schemas.microsoft.com/office/drawing/2014/main" id="{B17AA490-221A-4160-A709-8664B3A0C87E}"/>
              </a:ext>
            </a:extLst>
          </p:cNvPr>
          <p:cNvSpPr>
            <a:spLocks noGrp="1"/>
          </p:cNvSpPr>
          <p:nvPr/>
        </p:nvSpPr>
        <p:spPr>
          <a:xfrm>
            <a:off x="4848225" y="261220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3" name="C2_reverseH_b">
            <a:extLst>
              <a:ext uri="{FF2B5EF4-FFF2-40B4-BE49-F238E27FC236}">
                <a16:creationId xmlns:a16="http://schemas.microsoft.com/office/drawing/2014/main" id="{8A82C0AE-0249-4CFD-ADA1-C12B02C646D0}"/>
              </a:ext>
            </a:extLst>
          </p:cNvPr>
          <p:cNvSpPr>
            <a:spLocks noGrp="1"/>
          </p:cNvSpPr>
          <p:nvPr/>
        </p:nvSpPr>
        <p:spPr>
          <a:xfrm>
            <a:off x="4848225" y="266700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4" name="C2_hSensitivity">
            <a:extLst>
              <a:ext uri="{FF2B5EF4-FFF2-40B4-BE49-F238E27FC236}">
                <a16:creationId xmlns:a16="http://schemas.microsoft.com/office/drawing/2014/main" id="{2BC68EE3-B63E-4414-ACE4-CB90CC2CFCA9}"/>
              </a:ext>
            </a:extLst>
          </p:cNvPr>
          <p:cNvSpPr>
            <a:spLocks noGrp="1"/>
          </p:cNvSpPr>
          <p:nvPr/>
        </p:nvSpPr>
        <p:spPr>
          <a:xfrm>
            <a:off x="3352800" y="210502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h 敏感度：3 × 4 = 12</a:t>
            </a:r>
          </a:p>
        </p:txBody>
      </p:sp>
      <p:sp>
        <p:nvSpPr>
          <p:cNvPr id="56" name="C3_toWeight1">
            <a:extLst>
              <a:ext uri="{FF2B5EF4-FFF2-40B4-BE49-F238E27FC236}">
                <a16:creationId xmlns:a16="http://schemas.microsoft.com/office/drawing/2014/main" id="{4D5D9659-BEED-4255-A387-E6A047C6B5C2}"/>
              </a:ext>
            </a:extLst>
          </p:cNvPr>
          <p:cNvSpPr>
            <a:spLocks noGrp="1"/>
          </p:cNvSpPr>
          <p:nvPr/>
        </p:nvSpPr>
        <p:spPr>
          <a:xfrm>
            <a:off x="3562350" y="3971925"/>
            <a:ext cx="1266825" cy="485775"/>
          </a:xfrm>
          <a:custGeom>
            <a:avLst/>
            <a:gdLst/>
            <a:ahLst/>
            <a:cxnLst/>
            <a:rect l="0" t="0" r="0" b="0"/>
            <a:pathLst>
              <a:path w="1266825" h="485775">
                <a:moveTo>
                  <a:pt x="1266825" y="0"/>
                </a:moveTo>
                <a:lnTo>
                  <a:pt x="0" y="485775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7" name="C3_toWeight1_a">
            <a:extLst>
              <a:ext uri="{FF2B5EF4-FFF2-40B4-BE49-F238E27FC236}">
                <a16:creationId xmlns:a16="http://schemas.microsoft.com/office/drawing/2014/main" id="{5B2E515B-C55A-42E9-807F-1CB832B2787D}"/>
              </a:ext>
            </a:extLst>
          </p:cNvPr>
          <p:cNvSpPr>
            <a:spLocks noGrp="1"/>
          </p:cNvSpPr>
          <p:nvPr/>
        </p:nvSpPr>
        <p:spPr>
          <a:xfrm>
            <a:off x="3562350" y="4370620"/>
            <a:ext cx="74038" cy="87080"/>
          </a:xfrm>
          <a:custGeom>
            <a:avLst/>
            <a:gdLst/>
            <a:ahLst/>
            <a:cxnLst/>
            <a:rect l="0" t="0" r="0" b="0"/>
            <a:pathLst>
              <a:path w="74038" h="87080">
                <a:moveTo>
                  <a:pt x="0" y="87080"/>
                </a:moveTo>
                <a:lnTo>
                  <a:pt x="74038" y="0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8" name="C3_toWeight1_b">
            <a:extLst>
              <a:ext uri="{FF2B5EF4-FFF2-40B4-BE49-F238E27FC236}">
                <a16:creationId xmlns:a16="http://schemas.microsoft.com/office/drawing/2014/main" id="{20D2F3CD-3BB6-4BE4-9F5F-3BF75F460212}"/>
              </a:ext>
            </a:extLst>
          </p:cNvPr>
          <p:cNvSpPr>
            <a:spLocks noGrp="1"/>
          </p:cNvSpPr>
          <p:nvPr/>
        </p:nvSpPr>
        <p:spPr>
          <a:xfrm>
            <a:off x="3562350" y="4457700"/>
            <a:ext cx="113278" cy="15252"/>
          </a:xfrm>
          <a:custGeom>
            <a:avLst/>
            <a:gdLst/>
            <a:ahLst/>
            <a:cxnLst/>
            <a:rect l="0" t="0" r="0" b="0"/>
            <a:pathLst>
              <a:path w="113278" h="15252">
                <a:moveTo>
                  <a:pt x="0" y="0"/>
                </a:moveTo>
                <a:lnTo>
                  <a:pt x="113278" y="15252"/>
                </a:lnTo>
              </a:path>
            </a:pathLst>
          </a:cu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0" name="C3_gradient1">
            <a:extLst>
              <a:ext uri="{FF2B5EF4-FFF2-40B4-BE49-F238E27FC236}">
                <a16:creationId xmlns:a16="http://schemas.microsoft.com/office/drawing/2014/main" id="{3583026C-C2BB-4BD5-B39B-B63D7A2C9AEA}"/>
              </a:ext>
            </a:extLst>
          </p:cNvPr>
          <p:cNvSpPr>
            <a:spLocks noGrp="1"/>
          </p:cNvSpPr>
          <p:nvPr/>
        </p:nvSpPr>
        <p:spPr>
          <a:xfrm>
            <a:off x="1826638" y="4543425"/>
            <a:ext cx="3714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w₁ 梯度：1 × 12 = 12</a:t>
            </a:r>
          </a:p>
        </p:txBody>
      </p:sp>
      <p:sp>
        <p:nvSpPr>
          <p:cNvPr id="63" name="C5_question">
            <a:extLst>
              <a:ext uri="{FF2B5EF4-FFF2-40B4-BE49-F238E27FC236}">
                <a16:creationId xmlns:a16="http://schemas.microsoft.com/office/drawing/2014/main" id="{BA7F371F-C4E4-415B-A50C-38028343DA1F}"/>
              </a:ext>
            </a:extLst>
          </p:cNvPr>
          <p:cNvSpPr>
            <a:spLocks noGrp="1"/>
          </p:cNvSpPr>
          <p:nvPr/>
        </p:nvSpPr>
        <p:spPr>
          <a:xfrm>
            <a:off x="733425" y="5962650"/>
            <a:ext cx="9953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参数已经改了吗？</a:t>
            </a:r>
          </a:p>
        </p:txBody>
      </p:sp>
      <p:sp>
        <p:nvSpPr>
          <p:cNvPr id="64" name="C6_hideQuestion">
            <a:extLst>
              <a:ext uri="{FF2B5EF4-FFF2-40B4-BE49-F238E27FC236}">
                <a16:creationId xmlns:a16="http://schemas.microsoft.com/office/drawing/2014/main" id="{5F91555D-2A6C-451D-9B7D-7DF446B6E53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382250" cy="5524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65" name="C6_conclusion">
            <a:extLst>
              <a:ext uri="{FF2B5EF4-FFF2-40B4-BE49-F238E27FC236}">
                <a16:creationId xmlns:a16="http://schemas.microsoft.com/office/drawing/2014/main" id="{6363B9A3-52F8-4317-BF1F-56CB9ECEA9F0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还没有。权重仍然是</a:t>
            </a:r>
            <a:r>
              <a:rPr sz="24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2 和 3</a:t>
            </a:r>
          </a:p>
        </p:txBody>
      </p:sp>
      <p:sp>
        <p:nvSpPr>
          <p:cNvPr id="48" name="C4_gradient2">
            <a:extLst>
              <a:ext uri="{FF2B5EF4-FFF2-40B4-BE49-F238E27FC236}">
                <a16:creationId xmlns:a16="http://schemas.microsoft.com/office/drawing/2014/main" id="{2BBE0919-9D43-F721-F097-788D65A65E06}"/>
              </a:ext>
            </a:extLst>
          </p:cNvPr>
          <p:cNvSpPr>
            <a:spLocks noGrp="1"/>
          </p:cNvSpPr>
          <p:nvPr/>
        </p:nvSpPr>
        <p:spPr>
          <a:xfrm>
            <a:off x="5360046" y="4505325"/>
            <a:ext cx="447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w₂ 梯度：2 × 4 = 8</a:t>
            </a:r>
          </a:p>
        </p:txBody>
      </p:sp>
      <p:sp>
        <p:nvSpPr>
          <p:cNvPr id="38" name="weight2">
            <a:extLst>
              <a:ext uri="{FF2B5EF4-FFF2-40B4-BE49-F238E27FC236}">
                <a16:creationId xmlns:a16="http://schemas.microsoft.com/office/drawing/2014/main" id="{B7D31315-E636-1816-4E83-093207B38771}"/>
              </a:ext>
            </a:extLst>
          </p:cNvPr>
          <p:cNvSpPr>
            <a:spLocks noGrp="1"/>
          </p:cNvSpPr>
          <p:nvPr/>
        </p:nvSpPr>
        <p:spPr>
          <a:xfrm>
            <a:off x="5934075" y="3752850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w₂ = 3</a:t>
            </a:r>
          </a:p>
        </p:txBody>
      </p:sp>
      <p:sp>
        <p:nvSpPr>
          <p:cNvPr id="47" name="weight1">
            <a:extLst>
              <a:ext uri="{FF2B5EF4-FFF2-40B4-BE49-F238E27FC236}">
                <a16:creationId xmlns:a16="http://schemas.microsoft.com/office/drawing/2014/main" id="{FCDF1D53-2F8D-3BCF-0EAA-2EC13560E212}"/>
              </a:ext>
            </a:extLst>
          </p:cNvPr>
          <p:cNvSpPr>
            <a:spLocks noGrp="1"/>
          </p:cNvSpPr>
          <p:nvPr/>
        </p:nvSpPr>
        <p:spPr>
          <a:xfrm>
            <a:off x="2457450" y="3769548"/>
            <a:ext cx="1952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w₁ = 2</a:t>
            </a:r>
          </a:p>
        </p:txBody>
      </p:sp>
    </p:spTree>
    <p:extLst>
      <p:ext uri="{BB962C8B-B14F-4D97-AF65-F5344CB8AC3E}">
        <p14:creationId xmlns:p14="http://schemas.microsoft.com/office/powerpoint/2010/main" val="415241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0" grpId="0"/>
      <p:bldP spid="63" grpId="0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">
            <a:extLst>
              <a:ext uri="{FF2B5EF4-FFF2-40B4-BE49-F238E27FC236}">
                <a16:creationId xmlns:a16="http://schemas.microsoft.com/office/drawing/2014/main" id="{3603C6C7-7206-4E3F-946D-C6BED032453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计算梯度与更新参数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71E7636-6D47-4E69-968E-85966DA076A8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leftHead">
            <a:extLst>
              <a:ext uri="{FF2B5EF4-FFF2-40B4-BE49-F238E27FC236}">
                <a16:creationId xmlns:a16="http://schemas.microsoft.com/office/drawing/2014/main" id="{9E25B91A-C75F-4899-8BDE-74B92019AC9E}"/>
              </a:ext>
            </a:extLst>
          </p:cNvPr>
          <p:cNvSpPr>
            <a:spLocks noGrp="1"/>
          </p:cNvSpPr>
          <p:nvPr/>
        </p:nvSpPr>
        <p:spPr>
          <a:xfrm>
            <a:off x="752475" y="2066925"/>
            <a:ext cx="510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反向传播：算梯度</a:t>
            </a:r>
            <a:endParaRPr sz="2550" b="1" dirty="0">
              <a:solidFill>
                <a:srgbClr val="7C3AE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ightHead">
            <a:extLst>
              <a:ext uri="{FF2B5EF4-FFF2-40B4-BE49-F238E27FC236}">
                <a16:creationId xmlns:a16="http://schemas.microsoft.com/office/drawing/2014/main" id="{BCFCC4AA-F553-4057-8783-CB58C44B3597}"/>
              </a:ext>
            </a:extLst>
          </p:cNvPr>
          <p:cNvSpPr>
            <a:spLocks noGrp="1"/>
          </p:cNvSpPr>
          <p:nvPr/>
        </p:nvSpPr>
        <p:spPr>
          <a:xfrm>
            <a:off x="6715125" y="2066925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梯度下降：更新参数</a:t>
            </a:r>
          </a:p>
        </p:txBody>
      </p:sp>
      <p:sp>
        <p:nvSpPr>
          <p:cNvPr id="6" name="old1">
            <a:extLst>
              <a:ext uri="{FF2B5EF4-FFF2-40B4-BE49-F238E27FC236}">
                <a16:creationId xmlns:a16="http://schemas.microsoft.com/office/drawing/2014/main" id="{4769D39C-C377-4ABE-B0E8-F26C3650D1FE}"/>
              </a:ext>
            </a:extLst>
          </p:cNvPr>
          <p:cNvSpPr>
            <a:spLocks noGrp="1"/>
          </p:cNvSpPr>
          <p:nvPr/>
        </p:nvSpPr>
        <p:spPr>
          <a:xfrm>
            <a:off x="6734175" y="3200400"/>
            <a:ext cx="2190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7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dirty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w₁ = 2</a:t>
            </a:r>
          </a:p>
        </p:txBody>
      </p:sp>
      <p:sp>
        <p:nvSpPr>
          <p:cNvPr id="7" name="old2">
            <a:extLst>
              <a:ext uri="{FF2B5EF4-FFF2-40B4-BE49-F238E27FC236}">
                <a16:creationId xmlns:a16="http://schemas.microsoft.com/office/drawing/2014/main" id="{B999A0AE-8882-46EC-A11F-C516A89E2536}"/>
              </a:ext>
            </a:extLst>
          </p:cNvPr>
          <p:cNvSpPr>
            <a:spLocks noGrp="1"/>
          </p:cNvSpPr>
          <p:nvPr/>
        </p:nvSpPr>
        <p:spPr>
          <a:xfrm>
            <a:off x="6734175" y="4143375"/>
            <a:ext cx="2190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7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w₂ = 3</a:t>
            </a:r>
          </a:p>
        </p:txBody>
      </p:sp>
      <p:sp>
        <p:nvSpPr>
          <p:cNvPr id="8" name="C1_g1">
            <a:extLst>
              <a:ext uri="{FF2B5EF4-FFF2-40B4-BE49-F238E27FC236}">
                <a16:creationId xmlns:a16="http://schemas.microsoft.com/office/drawing/2014/main" id="{84527928-3255-4116-9EA7-40D70E720B56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46386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w₁ 的梯度：12</a:t>
            </a:r>
          </a:p>
        </p:txBody>
      </p:sp>
      <p:sp>
        <p:nvSpPr>
          <p:cNvPr id="9" name="C1_g2">
            <a:extLst>
              <a:ext uri="{FF2B5EF4-FFF2-40B4-BE49-F238E27FC236}">
                <a16:creationId xmlns:a16="http://schemas.microsoft.com/office/drawing/2014/main" id="{5FBDBB65-3140-4BA0-A1DD-6A62A4589190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46386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w₂ 的梯度：8</a:t>
            </a:r>
          </a:p>
        </p:txBody>
      </p:sp>
      <p:sp>
        <p:nvSpPr>
          <p:cNvPr id="10" name="C2_eta">
            <a:extLst>
              <a:ext uri="{FF2B5EF4-FFF2-40B4-BE49-F238E27FC236}">
                <a16:creationId xmlns:a16="http://schemas.microsoft.com/office/drawing/2014/main" id="{BE736363-E12B-410C-A2B0-9F183A351554}"/>
              </a:ext>
            </a:extLst>
          </p:cNvPr>
          <p:cNvSpPr>
            <a:spLocks noGrp="1"/>
          </p:cNvSpPr>
          <p:nvPr/>
        </p:nvSpPr>
        <p:spPr>
          <a:xfrm>
            <a:off x="6724650" y="2647950"/>
            <a:ext cx="4829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η = 0.01</a:t>
            </a:r>
          </a:p>
        </p:txBody>
      </p:sp>
      <p:sp>
        <p:nvSpPr>
          <p:cNvPr id="11" name="C3_deliver">
            <a:extLst>
              <a:ext uri="{FF2B5EF4-FFF2-40B4-BE49-F238E27FC236}">
                <a16:creationId xmlns:a16="http://schemas.microsoft.com/office/drawing/2014/main" id="{95D870DF-AEB1-401F-B5D7-0FC20737B07A}"/>
              </a:ext>
            </a:extLst>
          </p:cNvPr>
          <p:cNvSpPr>
            <a:spLocks noGrp="1"/>
          </p:cNvSpPr>
          <p:nvPr/>
        </p:nvSpPr>
        <p:spPr>
          <a:xfrm>
            <a:off x="5038725" y="3857625"/>
            <a:ext cx="1304925" cy="9525"/>
          </a:xfrm>
          <a:custGeom>
            <a:avLst/>
            <a:gdLst/>
            <a:ahLst/>
            <a:cxnLst/>
            <a:rect l="0" t="0" r="0" b="0"/>
            <a:pathLst>
              <a:path w="1304925" h="9525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2" name="C3_deliver_a">
            <a:extLst>
              <a:ext uri="{FF2B5EF4-FFF2-40B4-BE49-F238E27FC236}">
                <a16:creationId xmlns:a16="http://schemas.microsoft.com/office/drawing/2014/main" id="{B8526BEB-9388-4D67-A4BA-A32196068435}"/>
              </a:ext>
            </a:extLst>
          </p:cNvPr>
          <p:cNvSpPr>
            <a:spLocks noGrp="1"/>
          </p:cNvSpPr>
          <p:nvPr/>
        </p:nvSpPr>
        <p:spPr>
          <a:xfrm>
            <a:off x="6243342" y="385762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3" name="C3_deliver_b">
            <a:extLst>
              <a:ext uri="{FF2B5EF4-FFF2-40B4-BE49-F238E27FC236}">
                <a16:creationId xmlns:a16="http://schemas.microsoft.com/office/drawing/2014/main" id="{DC7D8504-E6EC-4819-8E88-524A699CD8C2}"/>
              </a:ext>
            </a:extLst>
          </p:cNvPr>
          <p:cNvSpPr>
            <a:spLocks noGrp="1"/>
          </p:cNvSpPr>
          <p:nvPr/>
        </p:nvSpPr>
        <p:spPr>
          <a:xfrm>
            <a:off x="6243342" y="380282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4" name="C3_arrow1">
            <a:extLst>
              <a:ext uri="{FF2B5EF4-FFF2-40B4-BE49-F238E27FC236}">
                <a16:creationId xmlns:a16="http://schemas.microsoft.com/office/drawing/2014/main" id="{2EFBA130-1684-4B38-ADB1-C2808F047615}"/>
              </a:ext>
            </a:extLst>
          </p:cNvPr>
          <p:cNvSpPr>
            <a:spLocks noGrp="1"/>
          </p:cNvSpPr>
          <p:nvPr/>
        </p:nvSpPr>
        <p:spPr>
          <a:xfrm>
            <a:off x="8629650" y="3457575"/>
            <a:ext cx="666750" cy="9525"/>
          </a:xfrm>
          <a:custGeom>
            <a:avLst/>
            <a:gdLst/>
            <a:ahLst/>
            <a:cxnLst/>
            <a:rect l="0" t="0" r="0" b="0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5" name="C3_arrow1_a">
            <a:extLst>
              <a:ext uri="{FF2B5EF4-FFF2-40B4-BE49-F238E27FC236}">
                <a16:creationId xmlns:a16="http://schemas.microsoft.com/office/drawing/2014/main" id="{F17DC60D-BAF9-4C93-B6CA-3DFA4DC882A0}"/>
              </a:ext>
            </a:extLst>
          </p:cNvPr>
          <p:cNvSpPr>
            <a:spLocks noGrp="1"/>
          </p:cNvSpPr>
          <p:nvPr/>
        </p:nvSpPr>
        <p:spPr>
          <a:xfrm>
            <a:off x="9196092" y="34575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6" name="C3_arrow1_b">
            <a:extLst>
              <a:ext uri="{FF2B5EF4-FFF2-40B4-BE49-F238E27FC236}">
                <a16:creationId xmlns:a16="http://schemas.microsoft.com/office/drawing/2014/main" id="{FEAB94A6-736D-49FE-A2F5-ACA9D3D85414}"/>
              </a:ext>
            </a:extLst>
          </p:cNvPr>
          <p:cNvSpPr>
            <a:spLocks noGrp="1"/>
          </p:cNvSpPr>
          <p:nvPr/>
        </p:nvSpPr>
        <p:spPr>
          <a:xfrm>
            <a:off x="9196092" y="34027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7" name="C3_arrow2">
            <a:extLst>
              <a:ext uri="{FF2B5EF4-FFF2-40B4-BE49-F238E27FC236}">
                <a16:creationId xmlns:a16="http://schemas.microsoft.com/office/drawing/2014/main" id="{FC3C4AD1-BE33-4180-8AB8-F0B126135217}"/>
              </a:ext>
            </a:extLst>
          </p:cNvPr>
          <p:cNvSpPr>
            <a:spLocks noGrp="1"/>
          </p:cNvSpPr>
          <p:nvPr/>
        </p:nvSpPr>
        <p:spPr>
          <a:xfrm>
            <a:off x="8629650" y="4400550"/>
            <a:ext cx="666750" cy="9525"/>
          </a:xfrm>
          <a:custGeom>
            <a:avLst/>
            <a:gdLst/>
            <a:ahLst/>
            <a:cxnLst/>
            <a:rect l="0" t="0" r="0" b="0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8" name="C3_arrow2_a">
            <a:extLst>
              <a:ext uri="{FF2B5EF4-FFF2-40B4-BE49-F238E27FC236}">
                <a16:creationId xmlns:a16="http://schemas.microsoft.com/office/drawing/2014/main" id="{D9611345-6488-431D-B89C-FDB6173D04C2}"/>
              </a:ext>
            </a:extLst>
          </p:cNvPr>
          <p:cNvSpPr>
            <a:spLocks noGrp="1"/>
          </p:cNvSpPr>
          <p:nvPr/>
        </p:nvSpPr>
        <p:spPr>
          <a:xfrm>
            <a:off x="9196092" y="4400550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9" name="C3_arrow2_b">
            <a:extLst>
              <a:ext uri="{FF2B5EF4-FFF2-40B4-BE49-F238E27FC236}">
                <a16:creationId xmlns:a16="http://schemas.microsoft.com/office/drawing/2014/main" id="{6988330E-85FC-43E4-B89E-7D3E55B5D5AA}"/>
              </a:ext>
            </a:extLst>
          </p:cNvPr>
          <p:cNvSpPr>
            <a:spLocks noGrp="1"/>
          </p:cNvSpPr>
          <p:nvPr/>
        </p:nvSpPr>
        <p:spPr>
          <a:xfrm>
            <a:off x="9196092" y="4345752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20" name="C3_new1">
            <a:extLst>
              <a:ext uri="{FF2B5EF4-FFF2-40B4-BE49-F238E27FC236}">
                <a16:creationId xmlns:a16="http://schemas.microsoft.com/office/drawing/2014/main" id="{485BAF86-E4C8-45AE-B403-83C77F8205AB}"/>
              </a:ext>
            </a:extLst>
          </p:cNvPr>
          <p:cNvSpPr>
            <a:spLocks noGrp="1"/>
          </p:cNvSpPr>
          <p:nvPr/>
        </p:nvSpPr>
        <p:spPr>
          <a:xfrm>
            <a:off x="9553575" y="3200400"/>
            <a:ext cx="21145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1.88</a:t>
            </a:r>
          </a:p>
        </p:txBody>
      </p:sp>
      <p:sp>
        <p:nvSpPr>
          <p:cNvPr id="21" name="C3_new2">
            <a:extLst>
              <a:ext uri="{FF2B5EF4-FFF2-40B4-BE49-F238E27FC236}">
                <a16:creationId xmlns:a16="http://schemas.microsoft.com/office/drawing/2014/main" id="{6F14812D-B3A6-4AAD-98CB-44627BC9970D}"/>
              </a:ext>
            </a:extLst>
          </p:cNvPr>
          <p:cNvSpPr>
            <a:spLocks noGrp="1"/>
          </p:cNvSpPr>
          <p:nvPr/>
        </p:nvSpPr>
        <p:spPr>
          <a:xfrm>
            <a:off x="9553575" y="4143375"/>
            <a:ext cx="21145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2.92</a:t>
            </a:r>
          </a:p>
        </p:txBody>
      </p:sp>
      <p:sp>
        <p:nvSpPr>
          <p:cNvPr id="24" name="C4_conclusion">
            <a:extLst>
              <a:ext uri="{FF2B5EF4-FFF2-40B4-BE49-F238E27FC236}">
                <a16:creationId xmlns:a16="http://schemas.microsoft.com/office/drawing/2014/main" id="{D770C5F6-C1B6-48C5-B99F-B2840CEE3B9A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先算梯度，再由优化器修改参数</a:t>
            </a:r>
          </a:p>
        </p:txBody>
      </p:sp>
      <p:sp>
        <p:nvSpPr>
          <p:cNvPr id="23" name="subtitle">
            <a:extLst>
              <a:ext uri="{FF2B5EF4-FFF2-40B4-BE49-F238E27FC236}">
                <a16:creationId xmlns:a16="http://schemas.microsoft.com/office/drawing/2014/main" id="{E3A45F06-7BA8-2372-83EE-705D43F41398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21F1B5AF-DD00-7099-CE40-DF83CA38C8FF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 dirty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反向传播得梯度，优化器根据梯度修改权重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476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20" grpId="0"/>
      <p:bldP spid="21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">
            <a:extLst>
              <a:ext uri="{FF2B5EF4-FFF2-40B4-BE49-F238E27FC236}">
                <a16:creationId xmlns:a16="http://schemas.microsoft.com/office/drawing/2014/main" id="{9965B72C-AF50-4BAF-AD63-7D425321CD8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分叉路径的影响相加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51078D71-CEED-4644-A5B9-981DAE8825C6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64798D1-5892-4E85-BE18-56169AE94A53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加入一条分支：同一个中间值，影响两个输出</a:t>
            </a:r>
          </a:p>
        </p:txBody>
      </p:sp>
      <p:sp>
        <p:nvSpPr>
          <p:cNvPr id="4" name="h">
            <a:extLst>
              <a:ext uri="{FF2B5EF4-FFF2-40B4-BE49-F238E27FC236}">
                <a16:creationId xmlns:a16="http://schemas.microsoft.com/office/drawing/2014/main" id="{B551260D-DCB2-4591-9598-5A528A92040A}"/>
              </a:ext>
            </a:extLst>
          </p:cNvPr>
          <p:cNvSpPr>
            <a:spLocks noGrp="1"/>
          </p:cNvSpPr>
          <p:nvPr/>
        </p:nvSpPr>
        <p:spPr>
          <a:xfrm>
            <a:off x="1076325" y="3400425"/>
            <a:ext cx="14668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4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sp>
        <p:nvSpPr>
          <p:cNvPr id="5" name="y1">
            <a:extLst>
              <a:ext uri="{FF2B5EF4-FFF2-40B4-BE49-F238E27FC236}">
                <a16:creationId xmlns:a16="http://schemas.microsoft.com/office/drawing/2014/main" id="{EC2E7BC3-622F-4BD1-9FC4-E9626EBB8C69}"/>
              </a:ext>
            </a:extLst>
          </p:cNvPr>
          <p:cNvSpPr>
            <a:spLocks noGrp="1"/>
          </p:cNvSpPr>
          <p:nvPr/>
        </p:nvSpPr>
        <p:spPr>
          <a:xfrm>
            <a:off x="5343525" y="2371725"/>
            <a:ext cx="16859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9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9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y₁</a:t>
            </a:r>
          </a:p>
        </p:txBody>
      </p:sp>
      <p:sp>
        <p:nvSpPr>
          <p:cNvPr id="6" name="y2">
            <a:extLst>
              <a:ext uri="{FF2B5EF4-FFF2-40B4-BE49-F238E27FC236}">
                <a16:creationId xmlns:a16="http://schemas.microsoft.com/office/drawing/2014/main" id="{7304BC3D-D931-4E1F-8B6F-62CC683ACB3C}"/>
              </a:ext>
            </a:extLst>
          </p:cNvPr>
          <p:cNvSpPr>
            <a:spLocks noGrp="1"/>
          </p:cNvSpPr>
          <p:nvPr/>
        </p:nvSpPr>
        <p:spPr>
          <a:xfrm>
            <a:off x="5343525" y="4505325"/>
            <a:ext cx="16859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9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9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y₂</a:t>
            </a:r>
          </a:p>
        </p:txBody>
      </p:sp>
      <p:sp>
        <p:nvSpPr>
          <p:cNvPr id="7" name="L">
            <a:extLst>
              <a:ext uri="{FF2B5EF4-FFF2-40B4-BE49-F238E27FC236}">
                <a16:creationId xmlns:a16="http://schemas.microsoft.com/office/drawing/2014/main" id="{645C8532-EA5B-4E2E-8767-98D2A22B2200}"/>
              </a:ext>
            </a:extLst>
          </p:cNvPr>
          <p:cNvSpPr>
            <a:spLocks noGrp="1"/>
          </p:cNvSpPr>
          <p:nvPr/>
        </p:nvSpPr>
        <p:spPr>
          <a:xfrm>
            <a:off x="10344150" y="3400425"/>
            <a:ext cx="14287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4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8" name="baseL1">
            <a:extLst>
              <a:ext uri="{FF2B5EF4-FFF2-40B4-BE49-F238E27FC236}">
                <a16:creationId xmlns:a16="http://schemas.microsoft.com/office/drawing/2014/main" id="{7DCB0997-8D6F-4EE7-8C2B-4A2F757A7CE0}"/>
              </a:ext>
            </a:extLst>
          </p:cNvPr>
          <p:cNvSpPr>
            <a:spLocks noGrp="1"/>
          </p:cNvSpPr>
          <p:nvPr/>
        </p:nvSpPr>
        <p:spPr>
          <a:xfrm>
            <a:off x="2124075" y="2638425"/>
            <a:ext cx="2733675" cy="1047750"/>
          </a:xfrm>
          <a:custGeom>
            <a:avLst/>
            <a:gdLst/>
            <a:ahLst/>
            <a:cxnLst/>
            <a:rect l="0" t="0" r="0" b="0"/>
            <a:pathLst>
              <a:path w="2733675" h="1047750">
                <a:moveTo>
                  <a:pt x="0" y="1047750"/>
                </a:moveTo>
                <a:lnTo>
                  <a:pt x="2733675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9" name="baseL1_a">
            <a:extLst>
              <a:ext uri="{FF2B5EF4-FFF2-40B4-BE49-F238E27FC236}">
                <a16:creationId xmlns:a16="http://schemas.microsoft.com/office/drawing/2014/main" id="{BFC88D23-8D82-4E20-81AA-CC523D542302}"/>
              </a:ext>
            </a:extLst>
          </p:cNvPr>
          <p:cNvSpPr>
            <a:spLocks noGrp="1"/>
          </p:cNvSpPr>
          <p:nvPr/>
        </p:nvSpPr>
        <p:spPr>
          <a:xfrm>
            <a:off x="4783698" y="2638425"/>
            <a:ext cx="74052" cy="87068"/>
          </a:xfrm>
          <a:custGeom>
            <a:avLst/>
            <a:gdLst/>
            <a:ahLst/>
            <a:cxnLst/>
            <a:rect l="0" t="0" r="0" b="0"/>
            <a:pathLst>
              <a:path w="74052" h="87068">
                <a:moveTo>
                  <a:pt x="74052" y="0"/>
                </a:moveTo>
                <a:lnTo>
                  <a:pt x="0" y="87068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0" name="baseL1_b">
            <a:extLst>
              <a:ext uri="{FF2B5EF4-FFF2-40B4-BE49-F238E27FC236}">
                <a16:creationId xmlns:a16="http://schemas.microsoft.com/office/drawing/2014/main" id="{615DA276-4345-4697-B437-4AF320C2019B}"/>
              </a:ext>
            </a:extLst>
          </p:cNvPr>
          <p:cNvSpPr>
            <a:spLocks noGrp="1"/>
          </p:cNvSpPr>
          <p:nvPr/>
        </p:nvSpPr>
        <p:spPr>
          <a:xfrm>
            <a:off x="4744475" y="2623155"/>
            <a:ext cx="113275" cy="15270"/>
          </a:xfrm>
          <a:custGeom>
            <a:avLst/>
            <a:gdLst/>
            <a:ahLst/>
            <a:cxnLst/>
            <a:rect l="0" t="0" r="0" b="0"/>
            <a:pathLst>
              <a:path w="113275" h="15270">
                <a:moveTo>
                  <a:pt x="113275" y="1527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1" name="baseR1">
            <a:extLst>
              <a:ext uri="{FF2B5EF4-FFF2-40B4-BE49-F238E27FC236}">
                <a16:creationId xmlns:a16="http://schemas.microsoft.com/office/drawing/2014/main" id="{1D8F4228-A574-4F49-9183-60E48AF17F9D}"/>
              </a:ext>
            </a:extLst>
          </p:cNvPr>
          <p:cNvSpPr>
            <a:spLocks noGrp="1"/>
          </p:cNvSpPr>
          <p:nvPr/>
        </p:nvSpPr>
        <p:spPr>
          <a:xfrm>
            <a:off x="6172200" y="2638425"/>
            <a:ext cx="3771900" cy="1047750"/>
          </a:xfrm>
          <a:custGeom>
            <a:avLst/>
            <a:gdLst/>
            <a:ahLst/>
            <a:cxnLst/>
            <a:rect l="0" t="0" r="0" b="0"/>
            <a:pathLst>
              <a:path w="3771900" h="1047750">
                <a:moveTo>
                  <a:pt x="0" y="0"/>
                </a:moveTo>
                <a:lnTo>
                  <a:pt x="3771900" y="104775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2" name="baseR1_a">
            <a:extLst>
              <a:ext uri="{FF2B5EF4-FFF2-40B4-BE49-F238E27FC236}">
                <a16:creationId xmlns:a16="http://schemas.microsoft.com/office/drawing/2014/main" id="{C5B0376D-4063-436A-8EA6-066DBB7C0239}"/>
              </a:ext>
            </a:extLst>
          </p:cNvPr>
          <p:cNvSpPr>
            <a:spLocks noGrp="1"/>
          </p:cNvSpPr>
          <p:nvPr/>
        </p:nvSpPr>
        <p:spPr>
          <a:xfrm>
            <a:off x="9832785" y="3686175"/>
            <a:ext cx="111315" cy="25952"/>
          </a:xfrm>
          <a:custGeom>
            <a:avLst/>
            <a:gdLst/>
            <a:ahLst/>
            <a:cxnLst/>
            <a:rect l="0" t="0" r="0" b="0"/>
            <a:pathLst>
              <a:path w="111315" h="25952">
                <a:moveTo>
                  <a:pt x="111315" y="0"/>
                </a:moveTo>
                <a:lnTo>
                  <a:pt x="0" y="25952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3" name="baseR1_b">
            <a:extLst>
              <a:ext uri="{FF2B5EF4-FFF2-40B4-BE49-F238E27FC236}">
                <a16:creationId xmlns:a16="http://schemas.microsoft.com/office/drawing/2014/main" id="{514A67C3-7A72-47F3-9091-A5D89C089A75}"/>
              </a:ext>
            </a:extLst>
          </p:cNvPr>
          <p:cNvSpPr>
            <a:spLocks noGrp="1"/>
          </p:cNvSpPr>
          <p:nvPr/>
        </p:nvSpPr>
        <p:spPr>
          <a:xfrm>
            <a:off x="9862118" y="3606529"/>
            <a:ext cx="81982" cy="79646"/>
          </a:xfrm>
          <a:custGeom>
            <a:avLst/>
            <a:gdLst/>
            <a:ahLst/>
            <a:cxnLst/>
            <a:rect l="0" t="0" r="0" b="0"/>
            <a:pathLst>
              <a:path w="81982" h="79646">
                <a:moveTo>
                  <a:pt x="81982" y="7964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14" name="C1_frontL1">
            <a:extLst>
              <a:ext uri="{FF2B5EF4-FFF2-40B4-BE49-F238E27FC236}">
                <a16:creationId xmlns:a16="http://schemas.microsoft.com/office/drawing/2014/main" id="{CEA90F18-A367-45F3-A9FF-504A6C6AB879}"/>
              </a:ext>
            </a:extLst>
          </p:cNvPr>
          <p:cNvSpPr>
            <a:spLocks noGrp="1"/>
          </p:cNvSpPr>
          <p:nvPr/>
        </p:nvSpPr>
        <p:spPr>
          <a:xfrm>
            <a:off x="2124075" y="2638425"/>
            <a:ext cx="2733675" cy="1047750"/>
          </a:xfrm>
          <a:custGeom>
            <a:avLst/>
            <a:gdLst/>
            <a:ahLst/>
            <a:cxnLst/>
            <a:rect l="0" t="0" r="0" b="0"/>
            <a:pathLst>
              <a:path w="2733675" h="1047750">
                <a:moveTo>
                  <a:pt x="0" y="1047750"/>
                </a:moveTo>
                <a:lnTo>
                  <a:pt x="2733675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5" name="C1_frontL1_a">
            <a:extLst>
              <a:ext uri="{FF2B5EF4-FFF2-40B4-BE49-F238E27FC236}">
                <a16:creationId xmlns:a16="http://schemas.microsoft.com/office/drawing/2014/main" id="{0DA16451-B834-45C0-8E76-EEECF9084780}"/>
              </a:ext>
            </a:extLst>
          </p:cNvPr>
          <p:cNvSpPr>
            <a:spLocks noGrp="1"/>
          </p:cNvSpPr>
          <p:nvPr/>
        </p:nvSpPr>
        <p:spPr>
          <a:xfrm>
            <a:off x="4783698" y="2638425"/>
            <a:ext cx="74052" cy="87068"/>
          </a:xfrm>
          <a:custGeom>
            <a:avLst/>
            <a:gdLst/>
            <a:ahLst/>
            <a:cxnLst/>
            <a:rect l="0" t="0" r="0" b="0"/>
            <a:pathLst>
              <a:path w="74052" h="87068">
                <a:moveTo>
                  <a:pt x="74052" y="0"/>
                </a:moveTo>
                <a:lnTo>
                  <a:pt x="0" y="87068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6" name="C1_frontL1_b">
            <a:extLst>
              <a:ext uri="{FF2B5EF4-FFF2-40B4-BE49-F238E27FC236}">
                <a16:creationId xmlns:a16="http://schemas.microsoft.com/office/drawing/2014/main" id="{4D973369-AB39-46EF-B0FD-C6832BFBC38A}"/>
              </a:ext>
            </a:extLst>
          </p:cNvPr>
          <p:cNvSpPr>
            <a:spLocks noGrp="1"/>
          </p:cNvSpPr>
          <p:nvPr/>
        </p:nvSpPr>
        <p:spPr>
          <a:xfrm>
            <a:off x="4744475" y="2623155"/>
            <a:ext cx="113275" cy="15270"/>
          </a:xfrm>
          <a:custGeom>
            <a:avLst/>
            <a:gdLst/>
            <a:ahLst/>
            <a:cxnLst/>
            <a:rect l="0" t="0" r="0" b="0"/>
            <a:pathLst>
              <a:path w="113275" h="15270">
                <a:moveTo>
                  <a:pt x="113275" y="1527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7" name="C1_frontR1">
            <a:extLst>
              <a:ext uri="{FF2B5EF4-FFF2-40B4-BE49-F238E27FC236}">
                <a16:creationId xmlns:a16="http://schemas.microsoft.com/office/drawing/2014/main" id="{F8CC299B-CA6C-4D89-95A9-637D82593253}"/>
              </a:ext>
            </a:extLst>
          </p:cNvPr>
          <p:cNvSpPr>
            <a:spLocks noGrp="1"/>
          </p:cNvSpPr>
          <p:nvPr/>
        </p:nvSpPr>
        <p:spPr>
          <a:xfrm>
            <a:off x="6172200" y="2638425"/>
            <a:ext cx="3771900" cy="1047750"/>
          </a:xfrm>
          <a:custGeom>
            <a:avLst/>
            <a:gdLst/>
            <a:ahLst/>
            <a:cxnLst/>
            <a:rect l="0" t="0" r="0" b="0"/>
            <a:pathLst>
              <a:path w="3771900" h="1047750">
                <a:moveTo>
                  <a:pt x="0" y="0"/>
                </a:moveTo>
                <a:lnTo>
                  <a:pt x="3771900" y="104775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8" name="C1_frontR1_a">
            <a:extLst>
              <a:ext uri="{FF2B5EF4-FFF2-40B4-BE49-F238E27FC236}">
                <a16:creationId xmlns:a16="http://schemas.microsoft.com/office/drawing/2014/main" id="{3D1A99B7-6320-450F-A83F-A632617FD5B8}"/>
              </a:ext>
            </a:extLst>
          </p:cNvPr>
          <p:cNvSpPr>
            <a:spLocks noGrp="1"/>
          </p:cNvSpPr>
          <p:nvPr/>
        </p:nvSpPr>
        <p:spPr>
          <a:xfrm>
            <a:off x="9832785" y="3686175"/>
            <a:ext cx="111315" cy="25952"/>
          </a:xfrm>
          <a:custGeom>
            <a:avLst/>
            <a:gdLst/>
            <a:ahLst/>
            <a:cxnLst/>
            <a:rect l="0" t="0" r="0" b="0"/>
            <a:pathLst>
              <a:path w="111315" h="25952">
                <a:moveTo>
                  <a:pt x="111315" y="0"/>
                </a:moveTo>
                <a:lnTo>
                  <a:pt x="0" y="25952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9" name="C1_frontR1_b">
            <a:extLst>
              <a:ext uri="{FF2B5EF4-FFF2-40B4-BE49-F238E27FC236}">
                <a16:creationId xmlns:a16="http://schemas.microsoft.com/office/drawing/2014/main" id="{47803450-3545-42A4-9FC4-6692C675E26B}"/>
              </a:ext>
            </a:extLst>
          </p:cNvPr>
          <p:cNvSpPr>
            <a:spLocks noGrp="1"/>
          </p:cNvSpPr>
          <p:nvPr/>
        </p:nvSpPr>
        <p:spPr>
          <a:xfrm>
            <a:off x="9862118" y="3606529"/>
            <a:ext cx="81982" cy="79646"/>
          </a:xfrm>
          <a:custGeom>
            <a:avLst/>
            <a:gdLst/>
            <a:ahLst/>
            <a:cxnLst/>
            <a:rect l="0" t="0" r="0" b="0"/>
            <a:pathLst>
              <a:path w="81982" h="79646">
                <a:moveTo>
                  <a:pt x="81982" y="7964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0" name="baseL2">
            <a:extLst>
              <a:ext uri="{FF2B5EF4-FFF2-40B4-BE49-F238E27FC236}">
                <a16:creationId xmlns:a16="http://schemas.microsoft.com/office/drawing/2014/main" id="{B0D22FFA-35DB-4070-BA2D-F52031374C0E}"/>
              </a:ext>
            </a:extLst>
          </p:cNvPr>
          <p:cNvSpPr>
            <a:spLocks noGrp="1"/>
          </p:cNvSpPr>
          <p:nvPr/>
        </p:nvSpPr>
        <p:spPr>
          <a:xfrm>
            <a:off x="2124075" y="3686175"/>
            <a:ext cx="2733675" cy="1085850"/>
          </a:xfrm>
          <a:custGeom>
            <a:avLst/>
            <a:gdLst/>
            <a:ahLst/>
            <a:cxnLst/>
            <a:rect l="0" t="0" r="0" b="0"/>
            <a:pathLst>
              <a:path w="2733675" h="1085850">
                <a:moveTo>
                  <a:pt x="0" y="0"/>
                </a:moveTo>
                <a:lnTo>
                  <a:pt x="2733675" y="108585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1" name="baseL2_a">
            <a:extLst>
              <a:ext uri="{FF2B5EF4-FFF2-40B4-BE49-F238E27FC236}">
                <a16:creationId xmlns:a16="http://schemas.microsoft.com/office/drawing/2014/main" id="{A588FE00-E358-42FE-9E99-8A4295839FA4}"/>
              </a:ext>
            </a:extLst>
          </p:cNvPr>
          <p:cNvSpPr>
            <a:spLocks noGrp="1"/>
          </p:cNvSpPr>
          <p:nvPr/>
        </p:nvSpPr>
        <p:spPr>
          <a:xfrm>
            <a:off x="4744298" y="4772025"/>
            <a:ext cx="113452" cy="13899"/>
          </a:xfrm>
          <a:custGeom>
            <a:avLst/>
            <a:gdLst/>
            <a:ahLst/>
            <a:cxnLst/>
            <a:rect l="0" t="0" r="0" b="0"/>
            <a:pathLst>
              <a:path w="113452" h="13899">
                <a:moveTo>
                  <a:pt x="113452" y="0"/>
                </a:moveTo>
                <a:lnTo>
                  <a:pt x="0" y="13899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2" name="baseL2_b">
            <a:extLst>
              <a:ext uri="{FF2B5EF4-FFF2-40B4-BE49-F238E27FC236}">
                <a16:creationId xmlns:a16="http://schemas.microsoft.com/office/drawing/2014/main" id="{657FA5D9-E305-4161-A29F-713A34D0E5AA}"/>
              </a:ext>
            </a:extLst>
          </p:cNvPr>
          <p:cNvSpPr>
            <a:spLocks noGrp="1"/>
          </p:cNvSpPr>
          <p:nvPr/>
        </p:nvSpPr>
        <p:spPr>
          <a:xfrm>
            <a:off x="4784756" y="4684068"/>
            <a:ext cx="72994" cy="87957"/>
          </a:xfrm>
          <a:custGeom>
            <a:avLst/>
            <a:gdLst/>
            <a:ahLst/>
            <a:cxnLst/>
            <a:rect l="0" t="0" r="0" b="0"/>
            <a:pathLst>
              <a:path w="72994" h="87957">
                <a:moveTo>
                  <a:pt x="72994" y="87957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3" name="baseR2">
            <a:extLst>
              <a:ext uri="{FF2B5EF4-FFF2-40B4-BE49-F238E27FC236}">
                <a16:creationId xmlns:a16="http://schemas.microsoft.com/office/drawing/2014/main" id="{E0E297F2-8A0A-4D68-AF0E-2BE9B199E74F}"/>
              </a:ext>
            </a:extLst>
          </p:cNvPr>
          <p:cNvSpPr>
            <a:spLocks noGrp="1"/>
          </p:cNvSpPr>
          <p:nvPr/>
        </p:nvSpPr>
        <p:spPr>
          <a:xfrm>
            <a:off x="6172200" y="3686175"/>
            <a:ext cx="3771900" cy="1085850"/>
          </a:xfrm>
          <a:custGeom>
            <a:avLst/>
            <a:gdLst/>
            <a:ahLst/>
            <a:cxnLst/>
            <a:rect l="0" t="0" r="0" b="0"/>
            <a:pathLst>
              <a:path w="3771900" h="1085850">
                <a:moveTo>
                  <a:pt x="0" y="1085850"/>
                </a:moveTo>
                <a:lnTo>
                  <a:pt x="377190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4" name="baseR2_a">
            <a:extLst>
              <a:ext uri="{FF2B5EF4-FFF2-40B4-BE49-F238E27FC236}">
                <a16:creationId xmlns:a16="http://schemas.microsoft.com/office/drawing/2014/main" id="{CDB7D161-0FDF-4E5F-8727-DD38A59CBB28}"/>
              </a:ext>
            </a:extLst>
          </p:cNvPr>
          <p:cNvSpPr>
            <a:spLocks noGrp="1"/>
          </p:cNvSpPr>
          <p:nvPr/>
        </p:nvSpPr>
        <p:spPr>
          <a:xfrm>
            <a:off x="9862867" y="3686175"/>
            <a:ext cx="81233" cy="80409"/>
          </a:xfrm>
          <a:custGeom>
            <a:avLst/>
            <a:gdLst/>
            <a:ahLst/>
            <a:cxnLst/>
            <a:rect l="0" t="0" r="0" b="0"/>
            <a:pathLst>
              <a:path w="81233" h="80409">
                <a:moveTo>
                  <a:pt x="81233" y="0"/>
                </a:moveTo>
                <a:lnTo>
                  <a:pt x="0" y="80409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5" name="baseR2_b">
            <a:extLst>
              <a:ext uri="{FF2B5EF4-FFF2-40B4-BE49-F238E27FC236}">
                <a16:creationId xmlns:a16="http://schemas.microsoft.com/office/drawing/2014/main" id="{73A9F2A5-0317-4E51-8305-8F315DD8EF5A}"/>
              </a:ext>
            </a:extLst>
          </p:cNvPr>
          <p:cNvSpPr>
            <a:spLocks noGrp="1"/>
          </p:cNvSpPr>
          <p:nvPr/>
        </p:nvSpPr>
        <p:spPr>
          <a:xfrm>
            <a:off x="9832547" y="3661265"/>
            <a:ext cx="111553" cy="24910"/>
          </a:xfrm>
          <a:custGeom>
            <a:avLst/>
            <a:gdLst/>
            <a:ahLst/>
            <a:cxnLst/>
            <a:rect l="0" t="0" r="0" b="0"/>
            <a:pathLst>
              <a:path w="111553" h="24910">
                <a:moveTo>
                  <a:pt x="111553" y="2491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2DC"/>
            </a:solidFill>
            <a:prstDash val="solid"/>
          </a:ln>
        </p:spPr>
      </p:sp>
      <p:sp>
        <p:nvSpPr>
          <p:cNvPr id="26" name="C1_frontL2">
            <a:extLst>
              <a:ext uri="{FF2B5EF4-FFF2-40B4-BE49-F238E27FC236}">
                <a16:creationId xmlns:a16="http://schemas.microsoft.com/office/drawing/2014/main" id="{18EB649B-BC5A-4706-A878-EB6F7671CAE8}"/>
              </a:ext>
            </a:extLst>
          </p:cNvPr>
          <p:cNvSpPr>
            <a:spLocks noGrp="1"/>
          </p:cNvSpPr>
          <p:nvPr/>
        </p:nvSpPr>
        <p:spPr>
          <a:xfrm>
            <a:off x="2124075" y="3686175"/>
            <a:ext cx="2733675" cy="1085850"/>
          </a:xfrm>
          <a:custGeom>
            <a:avLst/>
            <a:gdLst/>
            <a:ahLst/>
            <a:cxnLst/>
            <a:rect l="0" t="0" r="0" b="0"/>
            <a:pathLst>
              <a:path w="2733675" h="1085850">
                <a:moveTo>
                  <a:pt x="0" y="0"/>
                </a:moveTo>
                <a:lnTo>
                  <a:pt x="2733675" y="108585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7" name="C1_frontL2_a">
            <a:extLst>
              <a:ext uri="{FF2B5EF4-FFF2-40B4-BE49-F238E27FC236}">
                <a16:creationId xmlns:a16="http://schemas.microsoft.com/office/drawing/2014/main" id="{458FF882-83BB-4331-A01D-4FB24B4B3191}"/>
              </a:ext>
            </a:extLst>
          </p:cNvPr>
          <p:cNvSpPr>
            <a:spLocks noGrp="1"/>
          </p:cNvSpPr>
          <p:nvPr/>
        </p:nvSpPr>
        <p:spPr>
          <a:xfrm>
            <a:off x="4744298" y="4772025"/>
            <a:ext cx="113452" cy="13899"/>
          </a:xfrm>
          <a:custGeom>
            <a:avLst/>
            <a:gdLst/>
            <a:ahLst/>
            <a:cxnLst/>
            <a:rect l="0" t="0" r="0" b="0"/>
            <a:pathLst>
              <a:path w="113452" h="13899">
                <a:moveTo>
                  <a:pt x="113452" y="0"/>
                </a:moveTo>
                <a:lnTo>
                  <a:pt x="0" y="13899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8" name="C1_frontL2_b">
            <a:extLst>
              <a:ext uri="{FF2B5EF4-FFF2-40B4-BE49-F238E27FC236}">
                <a16:creationId xmlns:a16="http://schemas.microsoft.com/office/drawing/2014/main" id="{DBC3A22B-E405-4B17-AE57-4A4168A6F540}"/>
              </a:ext>
            </a:extLst>
          </p:cNvPr>
          <p:cNvSpPr>
            <a:spLocks noGrp="1"/>
          </p:cNvSpPr>
          <p:nvPr/>
        </p:nvSpPr>
        <p:spPr>
          <a:xfrm>
            <a:off x="4784756" y="4684068"/>
            <a:ext cx="72994" cy="87957"/>
          </a:xfrm>
          <a:custGeom>
            <a:avLst/>
            <a:gdLst/>
            <a:ahLst/>
            <a:cxnLst/>
            <a:rect l="0" t="0" r="0" b="0"/>
            <a:pathLst>
              <a:path w="72994" h="87957">
                <a:moveTo>
                  <a:pt x="72994" y="87957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9" name="C1_frontR2">
            <a:extLst>
              <a:ext uri="{FF2B5EF4-FFF2-40B4-BE49-F238E27FC236}">
                <a16:creationId xmlns:a16="http://schemas.microsoft.com/office/drawing/2014/main" id="{8FFDFA59-DDAB-468E-99AA-4C5D27BDE846}"/>
              </a:ext>
            </a:extLst>
          </p:cNvPr>
          <p:cNvSpPr>
            <a:spLocks noGrp="1"/>
          </p:cNvSpPr>
          <p:nvPr/>
        </p:nvSpPr>
        <p:spPr>
          <a:xfrm>
            <a:off x="6172200" y="3686175"/>
            <a:ext cx="3771900" cy="1085850"/>
          </a:xfrm>
          <a:custGeom>
            <a:avLst/>
            <a:gdLst/>
            <a:ahLst/>
            <a:cxnLst/>
            <a:rect l="0" t="0" r="0" b="0"/>
            <a:pathLst>
              <a:path w="3771900" h="1085850">
                <a:moveTo>
                  <a:pt x="0" y="1085850"/>
                </a:moveTo>
                <a:lnTo>
                  <a:pt x="3771900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0" name="C1_frontR2_a">
            <a:extLst>
              <a:ext uri="{FF2B5EF4-FFF2-40B4-BE49-F238E27FC236}">
                <a16:creationId xmlns:a16="http://schemas.microsoft.com/office/drawing/2014/main" id="{00A7AE3D-3190-400A-AEF4-CAAE2510AFAC}"/>
              </a:ext>
            </a:extLst>
          </p:cNvPr>
          <p:cNvSpPr>
            <a:spLocks noGrp="1"/>
          </p:cNvSpPr>
          <p:nvPr/>
        </p:nvSpPr>
        <p:spPr>
          <a:xfrm>
            <a:off x="9862867" y="3686175"/>
            <a:ext cx="81233" cy="80409"/>
          </a:xfrm>
          <a:custGeom>
            <a:avLst/>
            <a:gdLst/>
            <a:ahLst/>
            <a:cxnLst/>
            <a:rect l="0" t="0" r="0" b="0"/>
            <a:pathLst>
              <a:path w="81233" h="80409">
                <a:moveTo>
                  <a:pt x="81233" y="0"/>
                </a:moveTo>
                <a:lnTo>
                  <a:pt x="0" y="80409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1" name="C1_frontR2_b">
            <a:extLst>
              <a:ext uri="{FF2B5EF4-FFF2-40B4-BE49-F238E27FC236}">
                <a16:creationId xmlns:a16="http://schemas.microsoft.com/office/drawing/2014/main" id="{13D2E6AF-A09D-4406-BBB1-505EB5703139}"/>
              </a:ext>
            </a:extLst>
          </p:cNvPr>
          <p:cNvSpPr>
            <a:spLocks noGrp="1"/>
          </p:cNvSpPr>
          <p:nvPr/>
        </p:nvSpPr>
        <p:spPr>
          <a:xfrm>
            <a:off x="9832547" y="3661265"/>
            <a:ext cx="111553" cy="24910"/>
          </a:xfrm>
          <a:custGeom>
            <a:avLst/>
            <a:gdLst/>
            <a:ahLst/>
            <a:cxnLst/>
            <a:rect l="0" t="0" r="0" b="0"/>
            <a:pathLst>
              <a:path w="111553" h="24910">
                <a:moveTo>
                  <a:pt x="111553" y="2491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2" name="C1_topMultiplier">
            <a:extLst>
              <a:ext uri="{FF2B5EF4-FFF2-40B4-BE49-F238E27FC236}">
                <a16:creationId xmlns:a16="http://schemas.microsoft.com/office/drawing/2014/main" id="{95AFA060-9EC7-43E8-A7A0-355CEDEC3F41}"/>
              </a:ext>
            </a:extLst>
          </p:cNvPr>
          <p:cNvSpPr>
            <a:spLocks noGrp="1"/>
          </p:cNvSpPr>
          <p:nvPr/>
        </p:nvSpPr>
        <p:spPr>
          <a:xfrm>
            <a:off x="2943225" y="232410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局部倍率</a:t>
            </a:r>
            <a:r>
              <a:rPr sz="1875" b="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×2</a:t>
            </a:r>
          </a:p>
        </p:txBody>
      </p:sp>
      <p:sp>
        <p:nvSpPr>
          <p:cNvPr id="33" name="C1_lowMultiplier">
            <a:extLst>
              <a:ext uri="{FF2B5EF4-FFF2-40B4-BE49-F238E27FC236}">
                <a16:creationId xmlns:a16="http://schemas.microsoft.com/office/drawing/2014/main" id="{6C9A619D-49CE-4087-8964-47B476E4E73C}"/>
              </a:ext>
            </a:extLst>
          </p:cNvPr>
          <p:cNvSpPr>
            <a:spLocks noGrp="1"/>
          </p:cNvSpPr>
          <p:nvPr/>
        </p:nvSpPr>
        <p:spPr>
          <a:xfrm>
            <a:off x="2686050" y="4733925"/>
            <a:ext cx="2838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局部倍率 ×(−1)</a:t>
            </a:r>
          </a:p>
        </p:txBody>
      </p:sp>
      <p:sp>
        <p:nvSpPr>
          <p:cNvPr id="34" name="C2_topSensitivity">
            <a:extLst>
              <a:ext uri="{FF2B5EF4-FFF2-40B4-BE49-F238E27FC236}">
                <a16:creationId xmlns:a16="http://schemas.microsoft.com/office/drawing/2014/main" id="{891E0CDE-49BE-4967-835A-FA3D73E5D954}"/>
              </a:ext>
            </a:extLst>
          </p:cNvPr>
          <p:cNvSpPr>
            <a:spLocks noGrp="1"/>
          </p:cNvSpPr>
          <p:nvPr/>
        </p:nvSpPr>
        <p:spPr>
          <a:xfrm>
            <a:off x="7019925" y="2324100"/>
            <a:ext cx="312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后续敏感度</a:t>
            </a:r>
            <a:r>
              <a:rPr sz="2025" b="0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 +3</a:t>
            </a:r>
          </a:p>
        </p:txBody>
      </p:sp>
      <p:sp>
        <p:nvSpPr>
          <p:cNvPr id="42" name="C3_lowSensitivity">
            <a:extLst>
              <a:ext uri="{FF2B5EF4-FFF2-40B4-BE49-F238E27FC236}">
                <a16:creationId xmlns:a16="http://schemas.microsoft.com/office/drawing/2014/main" id="{78581929-1C04-42FD-991E-DAAD4E5B8558}"/>
              </a:ext>
            </a:extLst>
          </p:cNvPr>
          <p:cNvSpPr>
            <a:spLocks noGrp="1"/>
          </p:cNvSpPr>
          <p:nvPr/>
        </p:nvSpPr>
        <p:spPr>
          <a:xfrm>
            <a:off x="7134225" y="4682970"/>
            <a:ext cx="312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后续敏感度</a:t>
            </a:r>
            <a:r>
              <a:rPr sz="2025" b="0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 +2</a:t>
            </a:r>
          </a:p>
        </p:txBody>
      </p:sp>
      <p:sp>
        <p:nvSpPr>
          <p:cNvPr id="50" name="C4_question">
            <a:extLst>
              <a:ext uri="{FF2B5EF4-FFF2-40B4-BE49-F238E27FC236}">
                <a16:creationId xmlns:a16="http://schemas.microsoft.com/office/drawing/2014/main" id="{143D01E8-FE60-4615-BFE3-964618DA2F3C}"/>
              </a:ext>
            </a:extLst>
          </p:cNvPr>
          <p:cNvSpPr>
            <a:spLocks noGrp="1"/>
          </p:cNvSpPr>
          <p:nvPr/>
        </p:nvSpPr>
        <p:spPr>
          <a:xfrm>
            <a:off x="733425" y="5962650"/>
            <a:ext cx="10363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两条路径的贡献，要相乘还是相加？</a:t>
            </a:r>
          </a:p>
        </p:txBody>
      </p:sp>
      <p:sp>
        <p:nvSpPr>
          <p:cNvPr id="51" name="C5_total">
            <a:extLst>
              <a:ext uri="{FF2B5EF4-FFF2-40B4-BE49-F238E27FC236}">
                <a16:creationId xmlns:a16="http://schemas.microsoft.com/office/drawing/2014/main" id="{B8C70C9A-A003-4AE3-83DB-27AC17A1CA7A}"/>
              </a:ext>
            </a:extLst>
          </p:cNvPr>
          <p:cNvSpPr>
            <a:spLocks noGrp="1"/>
          </p:cNvSpPr>
          <p:nvPr/>
        </p:nvSpPr>
        <p:spPr>
          <a:xfrm>
            <a:off x="4390005" y="3321993"/>
            <a:ext cx="4095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8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+6 − 2 = +4</a:t>
            </a:r>
          </a:p>
        </p:txBody>
      </p:sp>
      <p:sp>
        <p:nvSpPr>
          <p:cNvPr id="52" name="C5_totalLabel">
            <a:extLst>
              <a:ext uri="{FF2B5EF4-FFF2-40B4-BE49-F238E27FC236}">
                <a16:creationId xmlns:a16="http://schemas.microsoft.com/office/drawing/2014/main" id="{CF034784-A26C-41E0-9D03-C67EE4588470}"/>
              </a:ext>
            </a:extLst>
          </p:cNvPr>
          <p:cNvSpPr>
            <a:spLocks noGrp="1"/>
          </p:cNvSpPr>
          <p:nvPr/>
        </p:nvSpPr>
        <p:spPr>
          <a:xfrm>
            <a:off x="4667250" y="3886200"/>
            <a:ext cx="295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h 的总敏感度</a:t>
            </a:r>
          </a:p>
        </p:txBody>
      </p:sp>
      <p:sp>
        <p:nvSpPr>
          <p:cNvPr id="53" name="C6_hideQuestion">
            <a:extLst>
              <a:ext uri="{FF2B5EF4-FFF2-40B4-BE49-F238E27FC236}">
                <a16:creationId xmlns:a16="http://schemas.microsoft.com/office/drawing/2014/main" id="{93AB3496-80B2-4955-A52F-461AA139FA98}"/>
              </a:ext>
            </a:extLst>
          </p:cNvPr>
          <p:cNvSpPr>
            <a:spLocks noGrp="1"/>
          </p:cNvSpPr>
          <p:nvPr/>
        </p:nvSpPr>
        <p:spPr>
          <a:xfrm>
            <a:off x="676275" y="5905500"/>
            <a:ext cx="10429875" cy="581025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54" name="C6_conclusion">
            <a:extLst>
              <a:ext uri="{FF2B5EF4-FFF2-40B4-BE49-F238E27FC236}">
                <a16:creationId xmlns:a16="http://schemas.microsoft.com/office/drawing/2014/main" id="{21669D61-652B-42B7-B195-78268B16C502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沿路径相乘，多条路径贡献相加</a:t>
            </a:r>
          </a:p>
        </p:txBody>
      </p:sp>
    </p:spTree>
    <p:extLst>
      <p:ext uri="{BB962C8B-B14F-4D97-AF65-F5344CB8AC3E}">
        <p14:creationId xmlns:p14="http://schemas.microsoft.com/office/powerpoint/2010/main" val="218759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42" grpId="0"/>
      <p:bldP spid="50" grpId="0"/>
      <p:bldP spid="51" grpId="0"/>
      <p:bldP spid="52" grpId="0"/>
      <p:bldP spid="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">
            <a:extLst>
              <a:ext uri="{FF2B5EF4-FFF2-40B4-BE49-F238E27FC236}">
                <a16:creationId xmlns:a16="http://schemas.microsoft.com/office/drawing/2014/main" id="{46726FAD-2DF4-4A8E-BB83-F4A387AD931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看多少张图片，才更新一次？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BED96C75-E818-4227-BB4E-34D61C0F2E3B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328ECB9-2049-4644-8E65-57B7677E0EBF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同样 8 张图片、同样顺序，按普通小批量训练比较</a:t>
            </a:r>
          </a:p>
        </p:txBody>
      </p:sp>
      <p:sp>
        <p:nvSpPr>
          <p:cNvPr id="4" name="label0">
            <a:extLst>
              <a:ext uri="{FF2B5EF4-FFF2-40B4-BE49-F238E27FC236}">
                <a16:creationId xmlns:a16="http://schemas.microsoft.com/office/drawing/2014/main" id="{5647381E-1A4B-4D49-8004-7E30EE313574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1628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batch size</a:t>
            </a:r>
          </a:p>
        </p:txBody>
      </p:sp>
      <p:sp>
        <p:nvSpPr>
          <p:cNvPr id="5" name="size0">
            <a:extLst>
              <a:ext uri="{FF2B5EF4-FFF2-40B4-BE49-F238E27FC236}">
                <a16:creationId xmlns:a16="http://schemas.microsoft.com/office/drawing/2014/main" id="{C56414C4-1E0A-4C0B-B4CA-4D6DE2145526}"/>
              </a:ext>
            </a:extLst>
          </p:cNvPr>
          <p:cNvSpPr>
            <a:spLocks noGrp="1"/>
          </p:cNvSpPr>
          <p:nvPr/>
        </p:nvSpPr>
        <p:spPr>
          <a:xfrm>
            <a:off x="790575" y="2562225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6" name="row0photo0" descr="用户提供的饮料图片">
            <a:extLst>
              <a:ext uri="{FF2B5EF4-FFF2-40B4-BE49-F238E27FC236}">
                <a16:creationId xmlns:a16="http://schemas.microsoft.com/office/drawing/2014/main" id="{A546A58A-9CA7-4B27-B970-8F3E9276B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1022" y="2114550"/>
            <a:ext cx="564356" cy="752475"/>
          </a:xfrm>
          <a:prstGeom prst="rect">
            <a:avLst/>
          </a:prstGeom>
        </p:spPr>
      </p:pic>
      <p:sp>
        <p:nvSpPr>
          <p:cNvPr id="7" name="number00">
            <a:extLst>
              <a:ext uri="{FF2B5EF4-FFF2-40B4-BE49-F238E27FC236}">
                <a16:creationId xmlns:a16="http://schemas.microsoft.com/office/drawing/2014/main" id="{B95296A3-D8EF-4CF6-A58D-56B7196C5909}"/>
              </a:ext>
            </a:extLst>
          </p:cNvPr>
          <p:cNvSpPr>
            <a:spLocks noGrp="1"/>
          </p:cNvSpPr>
          <p:nvPr/>
        </p:nvSpPr>
        <p:spPr>
          <a:xfrm>
            <a:off x="266700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row0photo1" descr="用户提供的饮料图片">
            <a:extLst>
              <a:ext uri="{FF2B5EF4-FFF2-40B4-BE49-F238E27FC236}">
                <a16:creationId xmlns:a16="http://schemas.microsoft.com/office/drawing/2014/main" id="{54C478FA-11A4-4456-AA9D-DD32EC3E7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67075" y="2282428"/>
            <a:ext cx="666750" cy="416719"/>
          </a:xfrm>
          <a:prstGeom prst="rect">
            <a:avLst/>
          </a:prstGeom>
        </p:spPr>
      </p:pic>
      <p:sp>
        <p:nvSpPr>
          <p:cNvPr id="9" name="number01">
            <a:extLst>
              <a:ext uri="{FF2B5EF4-FFF2-40B4-BE49-F238E27FC236}">
                <a16:creationId xmlns:a16="http://schemas.microsoft.com/office/drawing/2014/main" id="{22DD8DAA-9285-4B47-AAFE-15E78308429E}"/>
              </a:ext>
            </a:extLst>
          </p:cNvPr>
          <p:cNvSpPr>
            <a:spLocks noGrp="1"/>
          </p:cNvSpPr>
          <p:nvPr/>
        </p:nvSpPr>
        <p:spPr>
          <a:xfrm>
            <a:off x="352425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row0photo2" descr="用户提供的饮料图片">
            <a:extLst>
              <a:ext uri="{FF2B5EF4-FFF2-40B4-BE49-F238E27FC236}">
                <a16:creationId xmlns:a16="http://schemas.microsoft.com/office/drawing/2014/main" id="{81CD0A93-F6FE-4EB0-AC09-0EB977011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175297" y="2114550"/>
            <a:ext cx="564806" cy="752475"/>
          </a:xfrm>
          <a:prstGeom prst="rect">
            <a:avLst/>
          </a:prstGeom>
        </p:spPr>
      </p:pic>
      <p:sp>
        <p:nvSpPr>
          <p:cNvPr id="11" name="number02">
            <a:extLst>
              <a:ext uri="{FF2B5EF4-FFF2-40B4-BE49-F238E27FC236}">
                <a16:creationId xmlns:a16="http://schemas.microsoft.com/office/drawing/2014/main" id="{B7A9CB7A-3079-4C5D-B895-BA508BAD0A39}"/>
              </a:ext>
            </a:extLst>
          </p:cNvPr>
          <p:cNvSpPr>
            <a:spLocks noGrp="1"/>
          </p:cNvSpPr>
          <p:nvPr/>
        </p:nvSpPr>
        <p:spPr>
          <a:xfrm>
            <a:off x="438150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row0photo3" descr="用户提供的饮料图片">
            <a:extLst>
              <a:ext uri="{FF2B5EF4-FFF2-40B4-BE49-F238E27FC236}">
                <a16:creationId xmlns:a16="http://schemas.microsoft.com/office/drawing/2014/main" id="{83D6B6E7-CDC0-441A-978C-0C0BFF8A4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01635" y="2114550"/>
            <a:ext cx="626630" cy="752475"/>
          </a:xfrm>
          <a:prstGeom prst="rect">
            <a:avLst/>
          </a:prstGeom>
        </p:spPr>
      </p:pic>
      <p:sp>
        <p:nvSpPr>
          <p:cNvPr id="13" name="number03">
            <a:extLst>
              <a:ext uri="{FF2B5EF4-FFF2-40B4-BE49-F238E27FC236}">
                <a16:creationId xmlns:a16="http://schemas.microsoft.com/office/drawing/2014/main" id="{F150997B-652D-4FF7-A101-8673468D2D06}"/>
              </a:ext>
            </a:extLst>
          </p:cNvPr>
          <p:cNvSpPr>
            <a:spLocks noGrp="1"/>
          </p:cNvSpPr>
          <p:nvPr/>
        </p:nvSpPr>
        <p:spPr>
          <a:xfrm>
            <a:off x="523875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row0photo4" descr="用户提供的饮料图片">
            <a:extLst>
              <a:ext uri="{FF2B5EF4-FFF2-40B4-BE49-F238E27FC236}">
                <a16:creationId xmlns:a16="http://schemas.microsoft.com/office/drawing/2014/main" id="{992732E6-7133-4CF5-ACD7-C636DF0132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890126" y="2114550"/>
            <a:ext cx="564149" cy="752475"/>
          </a:xfrm>
          <a:prstGeom prst="rect">
            <a:avLst/>
          </a:prstGeom>
        </p:spPr>
      </p:pic>
      <p:sp>
        <p:nvSpPr>
          <p:cNvPr id="15" name="number04">
            <a:extLst>
              <a:ext uri="{FF2B5EF4-FFF2-40B4-BE49-F238E27FC236}">
                <a16:creationId xmlns:a16="http://schemas.microsoft.com/office/drawing/2014/main" id="{908B36F1-DD57-4FDB-8B2F-5B12C9195652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16" name="row0photo5" descr="用户提供的饮料图片">
            <a:extLst>
              <a:ext uri="{FF2B5EF4-FFF2-40B4-BE49-F238E27FC236}">
                <a16:creationId xmlns:a16="http://schemas.microsoft.com/office/drawing/2014/main" id="{ED55E97D-4E0F-4001-9893-90337DD3EF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696075" y="2268624"/>
            <a:ext cx="666750" cy="444326"/>
          </a:xfrm>
          <a:prstGeom prst="rect">
            <a:avLst/>
          </a:prstGeom>
        </p:spPr>
      </p:pic>
      <p:sp>
        <p:nvSpPr>
          <p:cNvPr id="17" name="number05">
            <a:extLst>
              <a:ext uri="{FF2B5EF4-FFF2-40B4-BE49-F238E27FC236}">
                <a16:creationId xmlns:a16="http://schemas.microsoft.com/office/drawing/2014/main" id="{1ABADF84-700A-4BB7-946D-D9264D89DB74}"/>
              </a:ext>
            </a:extLst>
          </p:cNvPr>
          <p:cNvSpPr>
            <a:spLocks noGrp="1"/>
          </p:cNvSpPr>
          <p:nvPr/>
        </p:nvSpPr>
        <p:spPr>
          <a:xfrm>
            <a:off x="695325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18" name="row0photo6" descr="用户提供的饮料图片">
            <a:extLst>
              <a:ext uri="{FF2B5EF4-FFF2-40B4-BE49-F238E27FC236}">
                <a16:creationId xmlns:a16="http://schemas.microsoft.com/office/drawing/2014/main" id="{37DDBBA3-3A47-43B3-8EE7-6E67A0936C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553325" y="2157413"/>
            <a:ext cx="666750" cy="666750"/>
          </a:xfrm>
          <a:prstGeom prst="rect">
            <a:avLst/>
          </a:prstGeom>
        </p:spPr>
      </p:pic>
      <p:sp>
        <p:nvSpPr>
          <p:cNvPr id="19" name="number06">
            <a:extLst>
              <a:ext uri="{FF2B5EF4-FFF2-40B4-BE49-F238E27FC236}">
                <a16:creationId xmlns:a16="http://schemas.microsoft.com/office/drawing/2014/main" id="{DE43DDBA-D607-4BBB-AB01-9094827BCAB2}"/>
              </a:ext>
            </a:extLst>
          </p:cNvPr>
          <p:cNvSpPr>
            <a:spLocks noGrp="1"/>
          </p:cNvSpPr>
          <p:nvPr/>
        </p:nvSpPr>
        <p:spPr>
          <a:xfrm>
            <a:off x="781050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20" name="row0photo7" descr="用户提供的饮料图片">
            <a:extLst>
              <a:ext uri="{FF2B5EF4-FFF2-40B4-BE49-F238E27FC236}">
                <a16:creationId xmlns:a16="http://schemas.microsoft.com/office/drawing/2014/main" id="{BA81B4EE-5105-4144-98AB-03E5C5ABC4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410575" y="2157413"/>
            <a:ext cx="666750" cy="666750"/>
          </a:xfrm>
          <a:prstGeom prst="rect">
            <a:avLst/>
          </a:prstGeom>
        </p:spPr>
      </p:pic>
      <p:sp>
        <p:nvSpPr>
          <p:cNvPr id="21" name="number07">
            <a:extLst>
              <a:ext uri="{FF2B5EF4-FFF2-40B4-BE49-F238E27FC236}">
                <a16:creationId xmlns:a16="http://schemas.microsoft.com/office/drawing/2014/main" id="{78356CE8-616D-40F5-96D4-1235F34F0101}"/>
              </a:ext>
            </a:extLst>
          </p:cNvPr>
          <p:cNvSpPr>
            <a:spLocks noGrp="1"/>
          </p:cNvSpPr>
          <p:nvPr/>
        </p:nvSpPr>
        <p:spPr>
          <a:xfrm>
            <a:off x="8667750" y="28765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2" name="C1_group0">
            <a:extLst>
              <a:ext uri="{FF2B5EF4-FFF2-40B4-BE49-F238E27FC236}">
                <a16:creationId xmlns:a16="http://schemas.microsoft.com/office/drawing/2014/main" id="{ACAEEDEA-D46A-4A05-AE4C-FEFBCC45F7A3}"/>
              </a:ext>
            </a:extLst>
          </p:cNvPr>
          <p:cNvSpPr>
            <a:spLocks noGrp="1"/>
          </p:cNvSpPr>
          <p:nvPr/>
        </p:nvSpPr>
        <p:spPr>
          <a:xfrm>
            <a:off x="235267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3" name="C1_group1">
            <a:extLst>
              <a:ext uri="{FF2B5EF4-FFF2-40B4-BE49-F238E27FC236}">
                <a16:creationId xmlns:a16="http://schemas.microsoft.com/office/drawing/2014/main" id="{5B45F664-7087-4291-8D53-DC67B0B2F34D}"/>
              </a:ext>
            </a:extLst>
          </p:cNvPr>
          <p:cNvSpPr>
            <a:spLocks noGrp="1"/>
          </p:cNvSpPr>
          <p:nvPr/>
        </p:nvSpPr>
        <p:spPr>
          <a:xfrm>
            <a:off x="320992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4" name="C1_group2">
            <a:extLst>
              <a:ext uri="{FF2B5EF4-FFF2-40B4-BE49-F238E27FC236}">
                <a16:creationId xmlns:a16="http://schemas.microsoft.com/office/drawing/2014/main" id="{38E5EC56-D129-4F8C-AB35-621DD157AFB2}"/>
              </a:ext>
            </a:extLst>
          </p:cNvPr>
          <p:cNvSpPr>
            <a:spLocks noGrp="1"/>
          </p:cNvSpPr>
          <p:nvPr/>
        </p:nvSpPr>
        <p:spPr>
          <a:xfrm>
            <a:off x="406717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5" name="C1_group3">
            <a:extLst>
              <a:ext uri="{FF2B5EF4-FFF2-40B4-BE49-F238E27FC236}">
                <a16:creationId xmlns:a16="http://schemas.microsoft.com/office/drawing/2014/main" id="{A941AB8C-969D-49FB-BE63-DB77D393CEC6}"/>
              </a:ext>
            </a:extLst>
          </p:cNvPr>
          <p:cNvSpPr>
            <a:spLocks noGrp="1"/>
          </p:cNvSpPr>
          <p:nvPr/>
        </p:nvSpPr>
        <p:spPr>
          <a:xfrm>
            <a:off x="492442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6" name="C1_group4">
            <a:extLst>
              <a:ext uri="{FF2B5EF4-FFF2-40B4-BE49-F238E27FC236}">
                <a16:creationId xmlns:a16="http://schemas.microsoft.com/office/drawing/2014/main" id="{6644DFDD-D9CA-4978-A7E1-F9E5E3EC7221}"/>
              </a:ext>
            </a:extLst>
          </p:cNvPr>
          <p:cNvSpPr>
            <a:spLocks noGrp="1"/>
          </p:cNvSpPr>
          <p:nvPr/>
        </p:nvSpPr>
        <p:spPr>
          <a:xfrm>
            <a:off x="578167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7" name="C1_group5">
            <a:extLst>
              <a:ext uri="{FF2B5EF4-FFF2-40B4-BE49-F238E27FC236}">
                <a16:creationId xmlns:a16="http://schemas.microsoft.com/office/drawing/2014/main" id="{0B9BFD21-224F-45FD-937B-CCB682EEAE56}"/>
              </a:ext>
            </a:extLst>
          </p:cNvPr>
          <p:cNvSpPr>
            <a:spLocks noGrp="1"/>
          </p:cNvSpPr>
          <p:nvPr/>
        </p:nvSpPr>
        <p:spPr>
          <a:xfrm>
            <a:off x="663892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8" name="C1_group6">
            <a:extLst>
              <a:ext uri="{FF2B5EF4-FFF2-40B4-BE49-F238E27FC236}">
                <a16:creationId xmlns:a16="http://schemas.microsoft.com/office/drawing/2014/main" id="{C8B66879-5C56-484D-B071-4D88F3C0DFCC}"/>
              </a:ext>
            </a:extLst>
          </p:cNvPr>
          <p:cNvSpPr>
            <a:spLocks noGrp="1"/>
          </p:cNvSpPr>
          <p:nvPr/>
        </p:nvSpPr>
        <p:spPr>
          <a:xfrm>
            <a:off x="749617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9" name="C1_group7">
            <a:extLst>
              <a:ext uri="{FF2B5EF4-FFF2-40B4-BE49-F238E27FC236}">
                <a16:creationId xmlns:a16="http://schemas.microsoft.com/office/drawing/2014/main" id="{1E321011-4BC0-4C5C-B45D-CF90CFA49C48}"/>
              </a:ext>
            </a:extLst>
          </p:cNvPr>
          <p:cNvSpPr>
            <a:spLocks noGrp="1"/>
          </p:cNvSpPr>
          <p:nvPr/>
        </p:nvSpPr>
        <p:spPr>
          <a:xfrm>
            <a:off x="8353425" y="2066925"/>
            <a:ext cx="771525" cy="1066800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0" name="C1_updates">
            <a:extLst>
              <a:ext uri="{FF2B5EF4-FFF2-40B4-BE49-F238E27FC236}">
                <a16:creationId xmlns:a16="http://schemas.microsoft.com/office/drawing/2014/main" id="{1EAAF834-C25B-4896-BFAB-6F46EA065358}"/>
              </a:ext>
            </a:extLst>
          </p:cNvPr>
          <p:cNvSpPr>
            <a:spLocks noGrp="1"/>
          </p:cNvSpPr>
          <p:nvPr/>
        </p:nvSpPr>
        <p:spPr>
          <a:xfrm>
            <a:off x="9715500" y="2343150"/>
            <a:ext cx="2276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8 次更新</a:t>
            </a:r>
          </a:p>
        </p:txBody>
      </p:sp>
      <p:sp>
        <p:nvSpPr>
          <p:cNvPr id="31" name="label1">
            <a:extLst>
              <a:ext uri="{FF2B5EF4-FFF2-40B4-BE49-F238E27FC236}">
                <a16:creationId xmlns:a16="http://schemas.microsoft.com/office/drawing/2014/main" id="{3D33D7DB-2C63-43E9-90A9-4EE6C00B21DF}"/>
              </a:ext>
            </a:extLst>
          </p:cNvPr>
          <p:cNvSpPr>
            <a:spLocks noGrp="1"/>
          </p:cNvSpPr>
          <p:nvPr/>
        </p:nvSpPr>
        <p:spPr>
          <a:xfrm>
            <a:off x="647700" y="3409950"/>
            <a:ext cx="1628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batch size</a:t>
            </a:r>
          </a:p>
        </p:txBody>
      </p:sp>
      <p:sp>
        <p:nvSpPr>
          <p:cNvPr id="32" name="size1">
            <a:extLst>
              <a:ext uri="{FF2B5EF4-FFF2-40B4-BE49-F238E27FC236}">
                <a16:creationId xmlns:a16="http://schemas.microsoft.com/office/drawing/2014/main" id="{40BBF1B6-FCD8-4C8B-8F80-8C8BD8F28683}"/>
              </a:ext>
            </a:extLst>
          </p:cNvPr>
          <p:cNvSpPr>
            <a:spLocks noGrp="1"/>
          </p:cNvSpPr>
          <p:nvPr/>
        </p:nvSpPr>
        <p:spPr>
          <a:xfrm>
            <a:off x="790575" y="3762375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33" name="row1photo0" descr="用户提供的饮料图片">
            <a:extLst>
              <a:ext uri="{FF2B5EF4-FFF2-40B4-BE49-F238E27FC236}">
                <a16:creationId xmlns:a16="http://schemas.microsoft.com/office/drawing/2014/main" id="{950E9D1B-EC6D-49EB-9683-65B6CB940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1022" y="3314700"/>
            <a:ext cx="564356" cy="752475"/>
          </a:xfrm>
          <a:prstGeom prst="rect">
            <a:avLst/>
          </a:prstGeom>
        </p:spPr>
      </p:pic>
      <p:sp>
        <p:nvSpPr>
          <p:cNvPr id="34" name="number10">
            <a:extLst>
              <a:ext uri="{FF2B5EF4-FFF2-40B4-BE49-F238E27FC236}">
                <a16:creationId xmlns:a16="http://schemas.microsoft.com/office/drawing/2014/main" id="{6F035156-513B-4218-B971-05AD92391589}"/>
              </a:ext>
            </a:extLst>
          </p:cNvPr>
          <p:cNvSpPr>
            <a:spLocks noGrp="1"/>
          </p:cNvSpPr>
          <p:nvPr/>
        </p:nvSpPr>
        <p:spPr>
          <a:xfrm>
            <a:off x="266700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35" name="row1photo1" descr="用户提供的饮料图片">
            <a:extLst>
              <a:ext uri="{FF2B5EF4-FFF2-40B4-BE49-F238E27FC236}">
                <a16:creationId xmlns:a16="http://schemas.microsoft.com/office/drawing/2014/main" id="{2198B7BD-E502-4F50-B070-BF9BB9F6E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67075" y="3482578"/>
            <a:ext cx="666750" cy="416719"/>
          </a:xfrm>
          <a:prstGeom prst="rect">
            <a:avLst/>
          </a:prstGeom>
        </p:spPr>
      </p:pic>
      <p:sp>
        <p:nvSpPr>
          <p:cNvPr id="36" name="number11">
            <a:extLst>
              <a:ext uri="{FF2B5EF4-FFF2-40B4-BE49-F238E27FC236}">
                <a16:creationId xmlns:a16="http://schemas.microsoft.com/office/drawing/2014/main" id="{CA7CCBAA-1FC7-4A3E-982D-0F56142B1726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37" name="row1photo2" descr="用户提供的饮料图片">
            <a:extLst>
              <a:ext uri="{FF2B5EF4-FFF2-40B4-BE49-F238E27FC236}">
                <a16:creationId xmlns:a16="http://schemas.microsoft.com/office/drawing/2014/main" id="{ED945048-F3D7-44D2-A7C1-F13D67197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175297" y="3314700"/>
            <a:ext cx="564806" cy="752475"/>
          </a:xfrm>
          <a:prstGeom prst="rect">
            <a:avLst/>
          </a:prstGeom>
        </p:spPr>
      </p:pic>
      <p:sp>
        <p:nvSpPr>
          <p:cNvPr id="38" name="number12">
            <a:extLst>
              <a:ext uri="{FF2B5EF4-FFF2-40B4-BE49-F238E27FC236}">
                <a16:creationId xmlns:a16="http://schemas.microsoft.com/office/drawing/2014/main" id="{F4BA906C-71E1-46DD-B199-50716D891346}"/>
              </a:ext>
            </a:extLst>
          </p:cNvPr>
          <p:cNvSpPr>
            <a:spLocks noGrp="1"/>
          </p:cNvSpPr>
          <p:nvPr/>
        </p:nvSpPr>
        <p:spPr>
          <a:xfrm>
            <a:off x="438150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39" name="row1photo3" descr="用户提供的饮料图片">
            <a:extLst>
              <a:ext uri="{FF2B5EF4-FFF2-40B4-BE49-F238E27FC236}">
                <a16:creationId xmlns:a16="http://schemas.microsoft.com/office/drawing/2014/main" id="{E5C05DB1-6CBF-4226-A1C1-5612E376A9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01635" y="3314700"/>
            <a:ext cx="626630" cy="752475"/>
          </a:xfrm>
          <a:prstGeom prst="rect">
            <a:avLst/>
          </a:prstGeom>
        </p:spPr>
      </p:pic>
      <p:sp>
        <p:nvSpPr>
          <p:cNvPr id="40" name="number13">
            <a:extLst>
              <a:ext uri="{FF2B5EF4-FFF2-40B4-BE49-F238E27FC236}">
                <a16:creationId xmlns:a16="http://schemas.microsoft.com/office/drawing/2014/main" id="{9EED58C8-61C8-4919-B8AA-3E0C4B373869}"/>
              </a:ext>
            </a:extLst>
          </p:cNvPr>
          <p:cNvSpPr>
            <a:spLocks noGrp="1"/>
          </p:cNvSpPr>
          <p:nvPr/>
        </p:nvSpPr>
        <p:spPr>
          <a:xfrm>
            <a:off x="523875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41" name="row1photo4" descr="用户提供的饮料图片">
            <a:extLst>
              <a:ext uri="{FF2B5EF4-FFF2-40B4-BE49-F238E27FC236}">
                <a16:creationId xmlns:a16="http://schemas.microsoft.com/office/drawing/2014/main" id="{55DB17F6-7953-4DEB-9E73-968811528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890126" y="3314700"/>
            <a:ext cx="564149" cy="752475"/>
          </a:xfrm>
          <a:prstGeom prst="rect">
            <a:avLst/>
          </a:prstGeom>
        </p:spPr>
      </p:pic>
      <p:sp>
        <p:nvSpPr>
          <p:cNvPr id="42" name="number14">
            <a:extLst>
              <a:ext uri="{FF2B5EF4-FFF2-40B4-BE49-F238E27FC236}">
                <a16:creationId xmlns:a16="http://schemas.microsoft.com/office/drawing/2014/main" id="{5FC38AC8-AC21-46A3-92A2-EB3A785055A3}"/>
              </a:ext>
            </a:extLst>
          </p:cNvPr>
          <p:cNvSpPr>
            <a:spLocks noGrp="1"/>
          </p:cNvSpPr>
          <p:nvPr/>
        </p:nvSpPr>
        <p:spPr>
          <a:xfrm>
            <a:off x="609600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43" name="row1photo5" descr="用户提供的饮料图片">
            <a:extLst>
              <a:ext uri="{FF2B5EF4-FFF2-40B4-BE49-F238E27FC236}">
                <a16:creationId xmlns:a16="http://schemas.microsoft.com/office/drawing/2014/main" id="{C633897B-EC65-48C7-AFB7-0168052805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696075" y="3468774"/>
            <a:ext cx="666750" cy="444326"/>
          </a:xfrm>
          <a:prstGeom prst="rect">
            <a:avLst/>
          </a:prstGeom>
        </p:spPr>
      </p:pic>
      <p:sp>
        <p:nvSpPr>
          <p:cNvPr id="44" name="number15">
            <a:extLst>
              <a:ext uri="{FF2B5EF4-FFF2-40B4-BE49-F238E27FC236}">
                <a16:creationId xmlns:a16="http://schemas.microsoft.com/office/drawing/2014/main" id="{EF084A50-67E6-40FA-AE73-7C0DE67953A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45" name="row1photo6" descr="用户提供的饮料图片">
            <a:extLst>
              <a:ext uri="{FF2B5EF4-FFF2-40B4-BE49-F238E27FC236}">
                <a16:creationId xmlns:a16="http://schemas.microsoft.com/office/drawing/2014/main" id="{C6187592-510F-45D8-B252-F5CFBA17E2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553325" y="3357563"/>
            <a:ext cx="666750" cy="666750"/>
          </a:xfrm>
          <a:prstGeom prst="rect">
            <a:avLst/>
          </a:prstGeom>
        </p:spPr>
      </p:pic>
      <p:sp>
        <p:nvSpPr>
          <p:cNvPr id="46" name="number16">
            <a:extLst>
              <a:ext uri="{FF2B5EF4-FFF2-40B4-BE49-F238E27FC236}">
                <a16:creationId xmlns:a16="http://schemas.microsoft.com/office/drawing/2014/main" id="{810585B2-4184-42B8-882B-46689ACE9D63}"/>
              </a:ext>
            </a:extLst>
          </p:cNvPr>
          <p:cNvSpPr>
            <a:spLocks noGrp="1"/>
          </p:cNvSpPr>
          <p:nvPr/>
        </p:nvSpPr>
        <p:spPr>
          <a:xfrm>
            <a:off x="781050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47" name="row1photo7" descr="用户提供的饮料图片">
            <a:extLst>
              <a:ext uri="{FF2B5EF4-FFF2-40B4-BE49-F238E27FC236}">
                <a16:creationId xmlns:a16="http://schemas.microsoft.com/office/drawing/2014/main" id="{E3704A00-4FAA-4690-8D7C-4FF8153AFA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410575" y="3357563"/>
            <a:ext cx="666750" cy="666750"/>
          </a:xfrm>
          <a:prstGeom prst="rect">
            <a:avLst/>
          </a:prstGeom>
        </p:spPr>
      </p:pic>
      <p:sp>
        <p:nvSpPr>
          <p:cNvPr id="48" name="number17">
            <a:extLst>
              <a:ext uri="{FF2B5EF4-FFF2-40B4-BE49-F238E27FC236}">
                <a16:creationId xmlns:a16="http://schemas.microsoft.com/office/drawing/2014/main" id="{1F1AC49D-54CE-4916-8629-EC4B9708AD0F}"/>
              </a:ext>
            </a:extLst>
          </p:cNvPr>
          <p:cNvSpPr>
            <a:spLocks noGrp="1"/>
          </p:cNvSpPr>
          <p:nvPr/>
        </p:nvSpPr>
        <p:spPr>
          <a:xfrm>
            <a:off x="8667750" y="407670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9" name="C2_group0">
            <a:extLst>
              <a:ext uri="{FF2B5EF4-FFF2-40B4-BE49-F238E27FC236}">
                <a16:creationId xmlns:a16="http://schemas.microsoft.com/office/drawing/2014/main" id="{11D4E18A-4FCF-466B-A49F-296B0CAFB3FB}"/>
              </a:ext>
            </a:extLst>
          </p:cNvPr>
          <p:cNvSpPr>
            <a:spLocks noGrp="1"/>
          </p:cNvSpPr>
          <p:nvPr/>
        </p:nvSpPr>
        <p:spPr>
          <a:xfrm>
            <a:off x="2352675" y="3267075"/>
            <a:ext cx="3343275" cy="1066800"/>
          </a:xfrm>
          <a:prstGeom prst="rect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0" name="C2_group4">
            <a:extLst>
              <a:ext uri="{FF2B5EF4-FFF2-40B4-BE49-F238E27FC236}">
                <a16:creationId xmlns:a16="http://schemas.microsoft.com/office/drawing/2014/main" id="{EBA23D21-91ED-4998-8572-8EDE53E0260D}"/>
              </a:ext>
            </a:extLst>
          </p:cNvPr>
          <p:cNvSpPr>
            <a:spLocks noGrp="1"/>
          </p:cNvSpPr>
          <p:nvPr/>
        </p:nvSpPr>
        <p:spPr>
          <a:xfrm>
            <a:off x="5781675" y="3267075"/>
            <a:ext cx="3343275" cy="1066800"/>
          </a:xfrm>
          <a:prstGeom prst="rect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1" name="C2_updates">
            <a:extLst>
              <a:ext uri="{FF2B5EF4-FFF2-40B4-BE49-F238E27FC236}">
                <a16:creationId xmlns:a16="http://schemas.microsoft.com/office/drawing/2014/main" id="{43833B87-7328-4048-ACBB-8B61AD88E613}"/>
              </a:ext>
            </a:extLst>
          </p:cNvPr>
          <p:cNvSpPr>
            <a:spLocks noGrp="1"/>
          </p:cNvSpPr>
          <p:nvPr/>
        </p:nvSpPr>
        <p:spPr>
          <a:xfrm>
            <a:off x="9715500" y="3543300"/>
            <a:ext cx="2276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2 次更新</a:t>
            </a:r>
          </a:p>
        </p:txBody>
      </p:sp>
      <p:sp>
        <p:nvSpPr>
          <p:cNvPr id="52" name="label2">
            <a:extLst>
              <a:ext uri="{FF2B5EF4-FFF2-40B4-BE49-F238E27FC236}">
                <a16:creationId xmlns:a16="http://schemas.microsoft.com/office/drawing/2014/main" id="{B9C26E91-2D3F-4632-A030-5EC0FDB51036}"/>
              </a:ext>
            </a:extLst>
          </p:cNvPr>
          <p:cNvSpPr>
            <a:spLocks noGrp="1"/>
          </p:cNvSpPr>
          <p:nvPr/>
        </p:nvSpPr>
        <p:spPr>
          <a:xfrm>
            <a:off x="647700" y="4610100"/>
            <a:ext cx="1628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batch size</a:t>
            </a:r>
          </a:p>
        </p:txBody>
      </p:sp>
      <p:sp>
        <p:nvSpPr>
          <p:cNvPr id="53" name="size2">
            <a:extLst>
              <a:ext uri="{FF2B5EF4-FFF2-40B4-BE49-F238E27FC236}">
                <a16:creationId xmlns:a16="http://schemas.microsoft.com/office/drawing/2014/main" id="{B24EB715-48AD-404E-AAAE-382BD900407F}"/>
              </a:ext>
            </a:extLst>
          </p:cNvPr>
          <p:cNvSpPr>
            <a:spLocks noGrp="1"/>
          </p:cNvSpPr>
          <p:nvPr/>
        </p:nvSpPr>
        <p:spPr>
          <a:xfrm>
            <a:off x="790575" y="4962525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7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pic>
        <p:nvPicPr>
          <p:cNvPr id="54" name="row2photo0" descr="用户提供的饮料图片">
            <a:extLst>
              <a:ext uri="{FF2B5EF4-FFF2-40B4-BE49-F238E27FC236}">
                <a16:creationId xmlns:a16="http://schemas.microsoft.com/office/drawing/2014/main" id="{58F9EC91-1D5A-4164-B352-FFB650F91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1022" y="4514850"/>
            <a:ext cx="564356" cy="752475"/>
          </a:xfrm>
          <a:prstGeom prst="rect">
            <a:avLst/>
          </a:prstGeom>
        </p:spPr>
      </p:pic>
      <p:sp>
        <p:nvSpPr>
          <p:cNvPr id="55" name="number20">
            <a:extLst>
              <a:ext uri="{FF2B5EF4-FFF2-40B4-BE49-F238E27FC236}">
                <a16:creationId xmlns:a16="http://schemas.microsoft.com/office/drawing/2014/main" id="{B0C6E39E-F0DD-4F20-B76F-A17AC050A404}"/>
              </a:ext>
            </a:extLst>
          </p:cNvPr>
          <p:cNvSpPr>
            <a:spLocks noGrp="1"/>
          </p:cNvSpPr>
          <p:nvPr/>
        </p:nvSpPr>
        <p:spPr>
          <a:xfrm>
            <a:off x="266700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56" name="row2photo1" descr="用户提供的饮料图片">
            <a:extLst>
              <a:ext uri="{FF2B5EF4-FFF2-40B4-BE49-F238E27FC236}">
                <a16:creationId xmlns:a16="http://schemas.microsoft.com/office/drawing/2014/main" id="{83D6B3B2-30E2-4145-B647-7E10AF0FF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67075" y="4682728"/>
            <a:ext cx="666750" cy="416719"/>
          </a:xfrm>
          <a:prstGeom prst="rect">
            <a:avLst/>
          </a:prstGeom>
        </p:spPr>
      </p:pic>
      <p:sp>
        <p:nvSpPr>
          <p:cNvPr id="57" name="number21">
            <a:extLst>
              <a:ext uri="{FF2B5EF4-FFF2-40B4-BE49-F238E27FC236}">
                <a16:creationId xmlns:a16="http://schemas.microsoft.com/office/drawing/2014/main" id="{4CD2B04B-91F2-4430-918A-3201C9D0C208}"/>
              </a:ext>
            </a:extLst>
          </p:cNvPr>
          <p:cNvSpPr>
            <a:spLocks noGrp="1"/>
          </p:cNvSpPr>
          <p:nvPr/>
        </p:nvSpPr>
        <p:spPr>
          <a:xfrm>
            <a:off x="352425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58" name="row2photo2" descr="用户提供的饮料图片">
            <a:extLst>
              <a:ext uri="{FF2B5EF4-FFF2-40B4-BE49-F238E27FC236}">
                <a16:creationId xmlns:a16="http://schemas.microsoft.com/office/drawing/2014/main" id="{6CF12246-9555-49BE-8824-A22A45A32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175297" y="4514850"/>
            <a:ext cx="564806" cy="752475"/>
          </a:xfrm>
          <a:prstGeom prst="rect">
            <a:avLst/>
          </a:prstGeom>
        </p:spPr>
      </p:pic>
      <p:sp>
        <p:nvSpPr>
          <p:cNvPr id="59" name="number22">
            <a:extLst>
              <a:ext uri="{FF2B5EF4-FFF2-40B4-BE49-F238E27FC236}">
                <a16:creationId xmlns:a16="http://schemas.microsoft.com/office/drawing/2014/main" id="{EFE4B219-5C16-4428-82B4-84A9CA37F347}"/>
              </a:ext>
            </a:extLst>
          </p:cNvPr>
          <p:cNvSpPr>
            <a:spLocks noGrp="1"/>
          </p:cNvSpPr>
          <p:nvPr/>
        </p:nvSpPr>
        <p:spPr>
          <a:xfrm>
            <a:off x="438150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60" name="row2photo3" descr="用户提供的饮料图片">
            <a:extLst>
              <a:ext uri="{FF2B5EF4-FFF2-40B4-BE49-F238E27FC236}">
                <a16:creationId xmlns:a16="http://schemas.microsoft.com/office/drawing/2014/main" id="{C9A989B9-B7FC-45CB-B06C-82B91DD766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01635" y="4514850"/>
            <a:ext cx="626630" cy="752475"/>
          </a:xfrm>
          <a:prstGeom prst="rect">
            <a:avLst/>
          </a:prstGeom>
        </p:spPr>
      </p:pic>
      <p:sp>
        <p:nvSpPr>
          <p:cNvPr id="61" name="number23">
            <a:extLst>
              <a:ext uri="{FF2B5EF4-FFF2-40B4-BE49-F238E27FC236}">
                <a16:creationId xmlns:a16="http://schemas.microsoft.com/office/drawing/2014/main" id="{C6CF6901-F3AE-4853-9095-9ABB9C545D8B}"/>
              </a:ext>
            </a:extLst>
          </p:cNvPr>
          <p:cNvSpPr>
            <a:spLocks noGrp="1"/>
          </p:cNvSpPr>
          <p:nvPr/>
        </p:nvSpPr>
        <p:spPr>
          <a:xfrm>
            <a:off x="523875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62" name="row2photo4" descr="用户提供的饮料图片">
            <a:extLst>
              <a:ext uri="{FF2B5EF4-FFF2-40B4-BE49-F238E27FC236}">
                <a16:creationId xmlns:a16="http://schemas.microsoft.com/office/drawing/2014/main" id="{9AC09229-8DAD-4E00-91E0-3F70B22334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890126" y="4514850"/>
            <a:ext cx="564149" cy="752475"/>
          </a:xfrm>
          <a:prstGeom prst="rect">
            <a:avLst/>
          </a:prstGeom>
        </p:spPr>
      </p:pic>
      <p:sp>
        <p:nvSpPr>
          <p:cNvPr id="63" name="number24">
            <a:extLst>
              <a:ext uri="{FF2B5EF4-FFF2-40B4-BE49-F238E27FC236}">
                <a16:creationId xmlns:a16="http://schemas.microsoft.com/office/drawing/2014/main" id="{7E6497B3-C2ED-4343-8088-8F14F2A2B912}"/>
              </a:ext>
            </a:extLst>
          </p:cNvPr>
          <p:cNvSpPr>
            <a:spLocks noGrp="1"/>
          </p:cNvSpPr>
          <p:nvPr/>
        </p:nvSpPr>
        <p:spPr>
          <a:xfrm>
            <a:off x="609600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64" name="row2photo5" descr="用户提供的饮料图片">
            <a:extLst>
              <a:ext uri="{FF2B5EF4-FFF2-40B4-BE49-F238E27FC236}">
                <a16:creationId xmlns:a16="http://schemas.microsoft.com/office/drawing/2014/main" id="{3FB41240-8166-4564-8E49-752B59F3F4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696075" y="4668924"/>
            <a:ext cx="666750" cy="444326"/>
          </a:xfrm>
          <a:prstGeom prst="rect">
            <a:avLst/>
          </a:prstGeom>
        </p:spPr>
      </p:pic>
      <p:sp>
        <p:nvSpPr>
          <p:cNvPr id="65" name="number25">
            <a:extLst>
              <a:ext uri="{FF2B5EF4-FFF2-40B4-BE49-F238E27FC236}">
                <a16:creationId xmlns:a16="http://schemas.microsoft.com/office/drawing/2014/main" id="{A38B11D0-35BE-4758-BEC7-2E7574D66F1C}"/>
              </a:ext>
            </a:extLst>
          </p:cNvPr>
          <p:cNvSpPr>
            <a:spLocks noGrp="1"/>
          </p:cNvSpPr>
          <p:nvPr/>
        </p:nvSpPr>
        <p:spPr>
          <a:xfrm>
            <a:off x="695325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66" name="row2photo6" descr="用户提供的饮料图片">
            <a:extLst>
              <a:ext uri="{FF2B5EF4-FFF2-40B4-BE49-F238E27FC236}">
                <a16:creationId xmlns:a16="http://schemas.microsoft.com/office/drawing/2014/main" id="{3AD3BB08-27FD-47BF-8F50-8B43F54F86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553325" y="4557713"/>
            <a:ext cx="666750" cy="666750"/>
          </a:xfrm>
          <a:prstGeom prst="rect">
            <a:avLst/>
          </a:prstGeom>
        </p:spPr>
      </p:pic>
      <p:sp>
        <p:nvSpPr>
          <p:cNvPr id="67" name="number26">
            <a:extLst>
              <a:ext uri="{FF2B5EF4-FFF2-40B4-BE49-F238E27FC236}">
                <a16:creationId xmlns:a16="http://schemas.microsoft.com/office/drawing/2014/main" id="{8D5A5667-0E7D-417F-B219-91EC4347BD61}"/>
              </a:ext>
            </a:extLst>
          </p:cNvPr>
          <p:cNvSpPr>
            <a:spLocks noGrp="1"/>
          </p:cNvSpPr>
          <p:nvPr/>
        </p:nvSpPr>
        <p:spPr>
          <a:xfrm>
            <a:off x="781050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68" name="row2photo7" descr="用户提供的饮料图片">
            <a:extLst>
              <a:ext uri="{FF2B5EF4-FFF2-40B4-BE49-F238E27FC236}">
                <a16:creationId xmlns:a16="http://schemas.microsoft.com/office/drawing/2014/main" id="{B0B29A8B-48FD-4F1C-85B1-6D5F471F95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410575" y="4557713"/>
            <a:ext cx="666750" cy="666750"/>
          </a:xfrm>
          <a:prstGeom prst="rect">
            <a:avLst/>
          </a:prstGeom>
        </p:spPr>
      </p:pic>
      <p:sp>
        <p:nvSpPr>
          <p:cNvPr id="69" name="number27">
            <a:extLst>
              <a:ext uri="{FF2B5EF4-FFF2-40B4-BE49-F238E27FC236}">
                <a16:creationId xmlns:a16="http://schemas.microsoft.com/office/drawing/2014/main" id="{454A6467-B3FD-484F-8216-F81E3EB0F874}"/>
              </a:ext>
            </a:extLst>
          </p:cNvPr>
          <p:cNvSpPr>
            <a:spLocks noGrp="1"/>
          </p:cNvSpPr>
          <p:nvPr/>
        </p:nvSpPr>
        <p:spPr>
          <a:xfrm>
            <a:off x="8667750" y="5276850"/>
            <a:ext cx="3143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0" name="C3_group0">
            <a:extLst>
              <a:ext uri="{FF2B5EF4-FFF2-40B4-BE49-F238E27FC236}">
                <a16:creationId xmlns:a16="http://schemas.microsoft.com/office/drawing/2014/main" id="{E76D19CA-4A35-4283-B024-0A53F88D838D}"/>
              </a:ext>
            </a:extLst>
          </p:cNvPr>
          <p:cNvSpPr>
            <a:spLocks noGrp="1"/>
          </p:cNvSpPr>
          <p:nvPr/>
        </p:nvSpPr>
        <p:spPr>
          <a:xfrm>
            <a:off x="2352675" y="4467225"/>
            <a:ext cx="6772275" cy="1066800"/>
          </a:xfrm>
          <a:prstGeom prst="rect">
            <a:avLst/>
          </a:pr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71" name="C3_updates">
            <a:extLst>
              <a:ext uri="{FF2B5EF4-FFF2-40B4-BE49-F238E27FC236}">
                <a16:creationId xmlns:a16="http://schemas.microsoft.com/office/drawing/2014/main" id="{15787046-BF41-4434-BDC4-83AC94931CA8}"/>
              </a:ext>
            </a:extLst>
          </p:cNvPr>
          <p:cNvSpPr>
            <a:spLocks noGrp="1"/>
          </p:cNvSpPr>
          <p:nvPr/>
        </p:nvSpPr>
        <p:spPr>
          <a:xfrm>
            <a:off x="9715500" y="4743450"/>
            <a:ext cx="22764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1 次更新</a:t>
            </a:r>
          </a:p>
        </p:txBody>
      </p:sp>
      <p:sp>
        <p:nvSpPr>
          <p:cNvPr id="72" name="C4_conclusion">
            <a:extLst>
              <a:ext uri="{FF2B5EF4-FFF2-40B4-BE49-F238E27FC236}">
                <a16:creationId xmlns:a16="http://schemas.microsoft.com/office/drawing/2014/main" id="{5AD17292-287E-4497-BD1E-E2CBE97C4ED3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凑够一批，才计算这一批的梯度并更新一次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97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1" grpId="0"/>
      <p:bldP spid="71" grpId="0"/>
      <p:bldP spid="7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79F0F9DB-4373-435E-A09E-796D46DAD22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一批样本，共同决定调整方向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A49D1B8-F66E-43B0-8AD6-0FC26B4A8E2F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6FC78E9-D19B-4F5D-B460-204081A7F3B9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同一参数、同一旧状态，不同图片的梯度可能不同</a:t>
            </a:r>
            <a:endParaRPr sz="1875" b="0" dirty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hoto0" descr="用户提供的饮料图片">
            <a:extLst>
              <a:ext uri="{FF2B5EF4-FFF2-40B4-BE49-F238E27FC236}">
                <a16:creationId xmlns:a16="http://schemas.microsoft.com/office/drawing/2014/main" id="{E905992A-8C39-46C1-99E1-9D672EA64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955006"/>
            <a:ext cx="2171700" cy="1357313"/>
          </a:xfrm>
          <a:prstGeom prst="rect">
            <a:avLst/>
          </a:prstGeom>
        </p:spPr>
      </p:pic>
      <p:sp>
        <p:nvSpPr>
          <p:cNvPr id="5" name="C1_g0">
            <a:extLst>
              <a:ext uri="{FF2B5EF4-FFF2-40B4-BE49-F238E27FC236}">
                <a16:creationId xmlns:a16="http://schemas.microsoft.com/office/drawing/2014/main" id="{49BD020E-F37A-4D35-8C86-DAF5344BACA4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2419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梯度 +4</a:t>
            </a:r>
          </a:p>
        </p:txBody>
      </p:sp>
      <p:pic>
        <p:nvPicPr>
          <p:cNvPr id="6" name="photo1" descr="用户提供的饮料图片">
            <a:extLst>
              <a:ext uri="{FF2B5EF4-FFF2-40B4-BE49-F238E27FC236}">
                <a16:creationId xmlns:a16="http://schemas.microsoft.com/office/drawing/2014/main" id="{42491992-D5B4-4593-883D-0AA3E859E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93771" y="1933575"/>
            <a:ext cx="1166008" cy="1400175"/>
          </a:xfrm>
          <a:prstGeom prst="rect">
            <a:avLst/>
          </a:prstGeom>
        </p:spPr>
      </p:pic>
      <p:sp>
        <p:nvSpPr>
          <p:cNvPr id="7" name="C1_g1">
            <a:extLst>
              <a:ext uri="{FF2B5EF4-FFF2-40B4-BE49-F238E27FC236}">
                <a16:creationId xmlns:a16="http://schemas.microsoft.com/office/drawing/2014/main" id="{6D550DBA-7387-495B-98EA-AA5D47746A10}"/>
              </a:ext>
            </a:extLst>
          </p:cNvPr>
          <p:cNvSpPr>
            <a:spLocks noGrp="1"/>
          </p:cNvSpPr>
          <p:nvPr/>
        </p:nvSpPr>
        <p:spPr>
          <a:xfrm>
            <a:off x="3590925" y="3514725"/>
            <a:ext cx="2419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梯度</a:t>
            </a:r>
            <a:r>
              <a:rPr sz="2550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 −2</a:t>
            </a:r>
          </a:p>
        </p:txBody>
      </p:sp>
      <p:pic>
        <p:nvPicPr>
          <p:cNvPr id="8" name="photo2" descr="用户提供的饮料图片">
            <a:extLst>
              <a:ext uri="{FF2B5EF4-FFF2-40B4-BE49-F238E27FC236}">
                <a16:creationId xmlns:a16="http://schemas.microsoft.com/office/drawing/2014/main" id="{9E12B1B5-D16B-4BA1-AD41-725D24E8F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74208" y="1933575"/>
            <a:ext cx="2101083" cy="1400175"/>
          </a:xfrm>
          <a:prstGeom prst="rect">
            <a:avLst/>
          </a:prstGeom>
        </p:spPr>
      </p:pic>
      <p:sp>
        <p:nvSpPr>
          <p:cNvPr id="9" name="C1_g2">
            <a:extLst>
              <a:ext uri="{FF2B5EF4-FFF2-40B4-BE49-F238E27FC236}">
                <a16:creationId xmlns:a16="http://schemas.microsoft.com/office/drawing/2014/main" id="{776182C7-1D55-4EF3-9814-EEBCB2FE50E2}"/>
              </a:ext>
            </a:extLst>
          </p:cNvPr>
          <p:cNvSpPr>
            <a:spLocks noGrp="1"/>
          </p:cNvSpPr>
          <p:nvPr/>
        </p:nvSpPr>
        <p:spPr>
          <a:xfrm>
            <a:off x="6438900" y="3514725"/>
            <a:ext cx="2419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梯度 +2</a:t>
            </a:r>
          </a:p>
        </p:txBody>
      </p:sp>
      <p:pic>
        <p:nvPicPr>
          <p:cNvPr id="10" name="photo3" descr="用户提供的饮料图片">
            <a:extLst>
              <a:ext uri="{FF2B5EF4-FFF2-40B4-BE49-F238E27FC236}">
                <a16:creationId xmlns:a16="http://schemas.microsoft.com/office/drawing/2014/main" id="{B3CB5BA3-3761-41B6-A2C3-F8D369803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672638" y="1933575"/>
            <a:ext cx="1400175" cy="1400175"/>
          </a:xfrm>
          <a:prstGeom prst="rect">
            <a:avLst/>
          </a:prstGeom>
        </p:spPr>
      </p:pic>
      <p:sp>
        <p:nvSpPr>
          <p:cNvPr id="11" name="C1_g3">
            <a:extLst>
              <a:ext uri="{FF2B5EF4-FFF2-40B4-BE49-F238E27FC236}">
                <a16:creationId xmlns:a16="http://schemas.microsoft.com/office/drawing/2014/main" id="{87EE0D03-4542-426A-BDF9-B8A331F4A4E4}"/>
              </a:ext>
            </a:extLst>
          </p:cNvPr>
          <p:cNvSpPr>
            <a:spLocks noGrp="1"/>
          </p:cNvSpPr>
          <p:nvPr/>
        </p:nvSpPr>
        <p:spPr>
          <a:xfrm>
            <a:off x="9672638" y="3476625"/>
            <a:ext cx="2419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梯度</a:t>
            </a:r>
            <a:r>
              <a:rPr sz="2550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 0</a:t>
            </a:r>
          </a:p>
        </p:txBody>
      </p:sp>
      <p:sp>
        <p:nvSpPr>
          <p:cNvPr id="12" name="C2_mean">
            <a:extLst>
              <a:ext uri="{FF2B5EF4-FFF2-40B4-BE49-F238E27FC236}">
                <a16:creationId xmlns:a16="http://schemas.microsoft.com/office/drawing/2014/main" id="{900A4CAD-2EC0-4F1B-832D-53E8495B71AC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6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batch 梯度 = (4 − 2 + 2 + 0) ÷ 4 = 1</a:t>
            </a:r>
          </a:p>
        </p:txBody>
      </p:sp>
      <p:sp>
        <p:nvSpPr>
          <p:cNvPr id="13" name="C3_update">
            <a:extLst>
              <a:ext uri="{FF2B5EF4-FFF2-40B4-BE49-F238E27FC236}">
                <a16:creationId xmlns:a16="http://schemas.microsoft.com/office/drawing/2014/main" id="{4338950B-2C92-4299-9632-05276F8DDA01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η = 0.1 时，这个参数的改变量为 −0.1</a:t>
            </a:r>
          </a:p>
        </p:txBody>
      </p:sp>
      <p:sp>
        <p:nvSpPr>
          <p:cNvPr id="14" name="C4_tradeoff1">
            <a:extLst>
              <a:ext uri="{FF2B5EF4-FFF2-40B4-BE49-F238E27FC236}">
                <a16:creationId xmlns:a16="http://schemas.microsoft.com/office/drawing/2014/main" id="{6548A304-70A9-4634-9CB2-B112BDE4A109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更多样本：梯度估计通常更稳定，但通常占用更多显存</a:t>
            </a:r>
            <a:endParaRPr sz="2025" b="0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C4_conclusion">
            <a:extLst>
              <a:ext uri="{FF2B5EF4-FFF2-40B4-BE49-F238E27FC236}">
                <a16:creationId xmlns:a16="http://schemas.microsoft.com/office/drawing/2014/main" id="{F240F76B-BBC6-4950-B960-C05906A2ED51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sz="24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更大，不代表训练一定更快或效果更好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101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">
            <a:extLst>
              <a:ext uri="{FF2B5EF4-FFF2-40B4-BE49-F238E27FC236}">
                <a16:creationId xmlns:a16="http://schemas.microsoft.com/office/drawing/2014/main" id="{479CC538-D995-4076-A2A1-4A500A4A82E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一次 step，完整发生了什么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F6127E3-DA76-4DD7-84B9-062A4CB9FE05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1500" b="0">
              <a:solidFill>
                <a:srgbClr val="6571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CB0FFC-E665-476C-AE20-A99EE99620FE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从取出一个 batch，到完成一次参数更新</a:t>
            </a:r>
          </a:p>
        </p:txBody>
      </p:sp>
      <p:sp>
        <p:nvSpPr>
          <p:cNvPr id="4" name="base1n">
            <a:extLst>
              <a:ext uri="{FF2B5EF4-FFF2-40B4-BE49-F238E27FC236}">
                <a16:creationId xmlns:a16="http://schemas.microsoft.com/office/drawing/2014/main" id="{14823F10-9B6F-4F0C-8226-685E7382496F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2733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base1label">
            <a:extLst>
              <a:ext uri="{FF2B5EF4-FFF2-40B4-BE49-F238E27FC236}">
                <a16:creationId xmlns:a16="http://schemas.microsoft.com/office/drawing/2014/main" id="{C78FD66E-189B-4867-AE02-197BFE257819}"/>
              </a:ext>
            </a:extLst>
          </p:cNvPr>
          <p:cNvSpPr>
            <a:spLocks noGrp="1"/>
          </p:cNvSpPr>
          <p:nvPr/>
        </p:nvSpPr>
        <p:spPr>
          <a:xfrm>
            <a:off x="742950" y="2495550"/>
            <a:ext cx="2733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取一批图片</a:t>
            </a:r>
          </a:p>
        </p:txBody>
      </p:sp>
      <p:sp>
        <p:nvSpPr>
          <p:cNvPr id="6" name="base2n">
            <a:extLst>
              <a:ext uri="{FF2B5EF4-FFF2-40B4-BE49-F238E27FC236}">
                <a16:creationId xmlns:a16="http://schemas.microsoft.com/office/drawing/2014/main" id="{DF745E98-8B78-4ACB-B7EF-7D8595DC0EF8}"/>
              </a:ext>
            </a:extLst>
          </p:cNvPr>
          <p:cNvSpPr>
            <a:spLocks noGrp="1"/>
          </p:cNvSpPr>
          <p:nvPr/>
        </p:nvSpPr>
        <p:spPr>
          <a:xfrm>
            <a:off x="4448175" y="21431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base2label">
            <a:extLst>
              <a:ext uri="{FF2B5EF4-FFF2-40B4-BE49-F238E27FC236}">
                <a16:creationId xmlns:a16="http://schemas.microsoft.com/office/drawing/2014/main" id="{F5DEC255-ED26-47E7-A5DC-1460CB89544C}"/>
              </a:ext>
            </a:extLst>
          </p:cNvPr>
          <p:cNvSpPr>
            <a:spLocks noGrp="1"/>
          </p:cNvSpPr>
          <p:nvPr/>
        </p:nvSpPr>
        <p:spPr>
          <a:xfrm>
            <a:off x="4448175" y="24955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前向预测</a:t>
            </a:r>
          </a:p>
        </p:txBody>
      </p:sp>
      <p:sp>
        <p:nvSpPr>
          <p:cNvPr id="8" name="base3n">
            <a:extLst>
              <a:ext uri="{FF2B5EF4-FFF2-40B4-BE49-F238E27FC236}">
                <a16:creationId xmlns:a16="http://schemas.microsoft.com/office/drawing/2014/main" id="{AAB282D8-43E7-4BA5-9F5C-BBC761BD6270}"/>
              </a:ext>
            </a:extLst>
          </p:cNvPr>
          <p:cNvSpPr>
            <a:spLocks noGrp="1"/>
          </p:cNvSpPr>
          <p:nvPr/>
        </p:nvSpPr>
        <p:spPr>
          <a:xfrm>
            <a:off x="9001125" y="2143125"/>
            <a:ext cx="2771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base3label">
            <a:extLst>
              <a:ext uri="{FF2B5EF4-FFF2-40B4-BE49-F238E27FC236}">
                <a16:creationId xmlns:a16="http://schemas.microsoft.com/office/drawing/2014/main" id="{6502C982-CE7D-46C6-A10E-4CEF0F5BBB80}"/>
              </a:ext>
            </a:extLst>
          </p:cNvPr>
          <p:cNvSpPr>
            <a:spLocks noGrp="1"/>
          </p:cNvSpPr>
          <p:nvPr/>
        </p:nvSpPr>
        <p:spPr>
          <a:xfrm>
            <a:off x="9001125" y="2495550"/>
            <a:ext cx="2771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平均 Loss</a:t>
            </a:r>
          </a:p>
        </p:txBody>
      </p:sp>
      <p:sp>
        <p:nvSpPr>
          <p:cNvPr id="10" name="base4n">
            <a:extLst>
              <a:ext uri="{FF2B5EF4-FFF2-40B4-BE49-F238E27FC236}">
                <a16:creationId xmlns:a16="http://schemas.microsoft.com/office/drawing/2014/main" id="{A4C2AB24-9230-4358-90A7-A986577EC8D4}"/>
              </a:ext>
            </a:extLst>
          </p:cNvPr>
          <p:cNvSpPr>
            <a:spLocks noGrp="1"/>
          </p:cNvSpPr>
          <p:nvPr/>
        </p:nvSpPr>
        <p:spPr>
          <a:xfrm>
            <a:off x="7724775" y="4333875"/>
            <a:ext cx="394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base4label">
            <a:extLst>
              <a:ext uri="{FF2B5EF4-FFF2-40B4-BE49-F238E27FC236}">
                <a16:creationId xmlns:a16="http://schemas.microsoft.com/office/drawing/2014/main" id="{7F762CAB-3970-4927-B296-C196A77555B1}"/>
              </a:ext>
            </a:extLst>
          </p:cNvPr>
          <p:cNvSpPr>
            <a:spLocks noGrp="1"/>
          </p:cNvSpPr>
          <p:nvPr/>
        </p:nvSpPr>
        <p:spPr>
          <a:xfrm>
            <a:off x="7724775" y="4686300"/>
            <a:ext cx="3943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反向传播算梯度</a:t>
            </a:r>
          </a:p>
        </p:txBody>
      </p:sp>
      <p:sp>
        <p:nvSpPr>
          <p:cNvPr id="12" name="base5n">
            <a:extLst>
              <a:ext uri="{FF2B5EF4-FFF2-40B4-BE49-F238E27FC236}">
                <a16:creationId xmlns:a16="http://schemas.microsoft.com/office/drawing/2014/main" id="{4CF77910-46D0-4A67-8E92-0BE53FB1F7F7}"/>
              </a:ext>
            </a:extLst>
          </p:cNvPr>
          <p:cNvSpPr>
            <a:spLocks noGrp="1"/>
          </p:cNvSpPr>
          <p:nvPr/>
        </p:nvSpPr>
        <p:spPr>
          <a:xfrm>
            <a:off x="2667000" y="4333875"/>
            <a:ext cx="417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base5label">
            <a:extLst>
              <a:ext uri="{FF2B5EF4-FFF2-40B4-BE49-F238E27FC236}">
                <a16:creationId xmlns:a16="http://schemas.microsoft.com/office/drawing/2014/main" id="{2B22431A-7CCE-4517-9A1E-E1B93055649B}"/>
              </a:ext>
            </a:extLst>
          </p:cNvPr>
          <p:cNvSpPr>
            <a:spLocks noGrp="1"/>
          </p:cNvSpPr>
          <p:nvPr/>
        </p:nvSpPr>
        <p:spPr>
          <a:xfrm>
            <a:off x="2667000" y="4686300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BD2DC"/>
                </a:solidFill>
                <a:latin typeface="Microsoft YaHei"/>
                <a:ea typeface="Microsoft YaHei"/>
                <a:cs typeface="Microsoft YaHei"/>
              </a:rPr>
              <a:t>优化器更新参数</a:t>
            </a:r>
          </a:p>
        </p:txBody>
      </p:sp>
      <p:sp>
        <p:nvSpPr>
          <p:cNvPr id="14" name="baseA">
            <a:extLst>
              <a:ext uri="{FF2B5EF4-FFF2-40B4-BE49-F238E27FC236}">
                <a16:creationId xmlns:a16="http://schemas.microsoft.com/office/drawing/2014/main" id="{E16E2D0C-E4E0-4A9C-BD34-85FDA0ABF128}"/>
              </a:ext>
            </a:extLst>
          </p:cNvPr>
          <p:cNvSpPr>
            <a:spLocks noGrp="1"/>
          </p:cNvSpPr>
          <p:nvPr/>
        </p:nvSpPr>
        <p:spPr>
          <a:xfrm>
            <a:off x="3181350" y="2714625"/>
            <a:ext cx="933450" cy="9525"/>
          </a:xfrm>
          <a:custGeom>
            <a:avLst/>
            <a:gdLst/>
            <a:ahLst/>
            <a:cxnLst/>
            <a:rect l="0" t="0" r="0" b="0"/>
            <a:pathLst>
              <a:path w="933450" h="952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5" name="baseA_a">
            <a:extLst>
              <a:ext uri="{FF2B5EF4-FFF2-40B4-BE49-F238E27FC236}">
                <a16:creationId xmlns:a16="http://schemas.microsoft.com/office/drawing/2014/main" id="{C6308434-C6D2-4FC5-A015-3EADCF251904}"/>
              </a:ext>
            </a:extLst>
          </p:cNvPr>
          <p:cNvSpPr>
            <a:spLocks noGrp="1"/>
          </p:cNvSpPr>
          <p:nvPr/>
        </p:nvSpPr>
        <p:spPr>
          <a:xfrm>
            <a:off x="4014492" y="271462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6" name="baseA_b">
            <a:extLst>
              <a:ext uri="{FF2B5EF4-FFF2-40B4-BE49-F238E27FC236}">
                <a16:creationId xmlns:a16="http://schemas.microsoft.com/office/drawing/2014/main" id="{BA5AF900-ED8C-4F03-98C3-FBCD3DF4D66A}"/>
              </a:ext>
            </a:extLst>
          </p:cNvPr>
          <p:cNvSpPr>
            <a:spLocks noGrp="1"/>
          </p:cNvSpPr>
          <p:nvPr/>
        </p:nvSpPr>
        <p:spPr>
          <a:xfrm>
            <a:off x="4014492" y="265982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7" name="baseB">
            <a:extLst>
              <a:ext uri="{FF2B5EF4-FFF2-40B4-BE49-F238E27FC236}">
                <a16:creationId xmlns:a16="http://schemas.microsoft.com/office/drawing/2014/main" id="{59280280-E4DC-42D6-90C1-80838568C1A9}"/>
              </a:ext>
            </a:extLst>
          </p:cNvPr>
          <p:cNvSpPr>
            <a:spLocks noGrp="1"/>
          </p:cNvSpPr>
          <p:nvPr/>
        </p:nvSpPr>
        <p:spPr>
          <a:xfrm>
            <a:off x="6858000" y="2714625"/>
            <a:ext cx="1809750" cy="9525"/>
          </a:xfrm>
          <a:custGeom>
            <a:avLst/>
            <a:gdLst/>
            <a:ahLst/>
            <a:cxnLst/>
            <a:rect l="0" t="0" r="0" b="0"/>
            <a:pathLst>
              <a:path w="1809750" h="9525">
                <a:moveTo>
                  <a:pt x="0" y="0"/>
                </a:moveTo>
                <a:lnTo>
                  <a:pt x="180975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8" name="baseB_a">
            <a:extLst>
              <a:ext uri="{FF2B5EF4-FFF2-40B4-BE49-F238E27FC236}">
                <a16:creationId xmlns:a16="http://schemas.microsoft.com/office/drawing/2014/main" id="{8D4CFAF3-0F60-4431-A10F-C89A6EB7D078}"/>
              </a:ext>
            </a:extLst>
          </p:cNvPr>
          <p:cNvSpPr>
            <a:spLocks noGrp="1"/>
          </p:cNvSpPr>
          <p:nvPr/>
        </p:nvSpPr>
        <p:spPr>
          <a:xfrm>
            <a:off x="8567442" y="271462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19" name="baseB_b">
            <a:extLst>
              <a:ext uri="{FF2B5EF4-FFF2-40B4-BE49-F238E27FC236}">
                <a16:creationId xmlns:a16="http://schemas.microsoft.com/office/drawing/2014/main" id="{DE4506A5-C383-4B90-B2C0-9071DB28EFC0}"/>
              </a:ext>
            </a:extLst>
          </p:cNvPr>
          <p:cNvSpPr>
            <a:spLocks noGrp="1"/>
          </p:cNvSpPr>
          <p:nvPr/>
        </p:nvSpPr>
        <p:spPr>
          <a:xfrm>
            <a:off x="8567442" y="265982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0" name="baseC">
            <a:extLst>
              <a:ext uri="{FF2B5EF4-FFF2-40B4-BE49-F238E27FC236}">
                <a16:creationId xmlns:a16="http://schemas.microsoft.com/office/drawing/2014/main" id="{069D8E0F-9FD4-42AA-980D-32ED056EA1B3}"/>
              </a:ext>
            </a:extLst>
          </p:cNvPr>
          <p:cNvSpPr>
            <a:spLocks noGrp="1"/>
          </p:cNvSpPr>
          <p:nvPr/>
        </p:nvSpPr>
        <p:spPr>
          <a:xfrm>
            <a:off x="10020300" y="3248025"/>
            <a:ext cx="9525" cy="952500"/>
          </a:xfrm>
          <a:custGeom>
            <a:avLst/>
            <a:gdLst/>
            <a:ahLst/>
            <a:cxnLst/>
            <a:rect l="0" t="0" r="0" b="0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1" name="baseC_a">
            <a:extLst>
              <a:ext uri="{FF2B5EF4-FFF2-40B4-BE49-F238E27FC236}">
                <a16:creationId xmlns:a16="http://schemas.microsoft.com/office/drawing/2014/main" id="{85C90A1D-7439-430A-96E9-A5D262F4D18E}"/>
              </a:ext>
            </a:extLst>
          </p:cNvPr>
          <p:cNvSpPr>
            <a:spLocks noGrp="1"/>
          </p:cNvSpPr>
          <p:nvPr/>
        </p:nvSpPr>
        <p:spPr>
          <a:xfrm>
            <a:off x="9965502" y="410021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2" name="baseC_b">
            <a:extLst>
              <a:ext uri="{FF2B5EF4-FFF2-40B4-BE49-F238E27FC236}">
                <a16:creationId xmlns:a16="http://schemas.microsoft.com/office/drawing/2014/main" id="{7FA7A313-4D41-4C7B-AAAD-612058317190}"/>
              </a:ext>
            </a:extLst>
          </p:cNvPr>
          <p:cNvSpPr>
            <a:spLocks noGrp="1"/>
          </p:cNvSpPr>
          <p:nvPr/>
        </p:nvSpPr>
        <p:spPr>
          <a:xfrm>
            <a:off x="10020300" y="410021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3" name="baseD">
            <a:extLst>
              <a:ext uri="{FF2B5EF4-FFF2-40B4-BE49-F238E27FC236}">
                <a16:creationId xmlns:a16="http://schemas.microsoft.com/office/drawing/2014/main" id="{B52CF90A-3848-4B77-84A5-09AD8DDD67DE}"/>
              </a:ext>
            </a:extLst>
          </p:cNvPr>
          <p:cNvSpPr>
            <a:spLocks noGrp="1"/>
          </p:cNvSpPr>
          <p:nvPr/>
        </p:nvSpPr>
        <p:spPr>
          <a:xfrm>
            <a:off x="6657975" y="4905375"/>
            <a:ext cx="657225" cy="9525"/>
          </a:xfrm>
          <a:custGeom>
            <a:avLst/>
            <a:gdLst/>
            <a:ahLst/>
            <a:cxnLst/>
            <a:rect l="0" t="0" r="0" b="0"/>
            <a:pathLst>
              <a:path w="657225" h="9525">
                <a:moveTo>
                  <a:pt x="657225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4" name="baseD_a">
            <a:extLst>
              <a:ext uri="{FF2B5EF4-FFF2-40B4-BE49-F238E27FC236}">
                <a16:creationId xmlns:a16="http://schemas.microsoft.com/office/drawing/2014/main" id="{99479E32-48F3-465C-B422-D83FACF22361}"/>
              </a:ext>
            </a:extLst>
          </p:cNvPr>
          <p:cNvSpPr>
            <a:spLocks noGrp="1"/>
          </p:cNvSpPr>
          <p:nvPr/>
        </p:nvSpPr>
        <p:spPr>
          <a:xfrm>
            <a:off x="6657975" y="48505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sp>
        <p:nvSpPr>
          <p:cNvPr id="25" name="baseD_b">
            <a:extLst>
              <a:ext uri="{FF2B5EF4-FFF2-40B4-BE49-F238E27FC236}">
                <a16:creationId xmlns:a16="http://schemas.microsoft.com/office/drawing/2014/main" id="{A42A4451-1561-4A27-9F75-8C91B1467838}"/>
              </a:ext>
            </a:extLst>
          </p:cNvPr>
          <p:cNvSpPr>
            <a:spLocks noGrp="1"/>
          </p:cNvSpPr>
          <p:nvPr/>
        </p:nvSpPr>
        <p:spPr>
          <a:xfrm>
            <a:off x="6657975" y="49053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CBD2DC"/>
            </a:solidFill>
            <a:prstDash val="solid"/>
          </a:ln>
        </p:spPr>
      </p:sp>
      <p:pic>
        <p:nvPicPr>
          <p:cNvPr id="26" name="C1_batchphoto0" descr="用户提供的饮料图片">
            <a:extLst>
              <a:ext uri="{FF2B5EF4-FFF2-40B4-BE49-F238E27FC236}">
                <a16:creationId xmlns:a16="http://schemas.microsoft.com/office/drawing/2014/main" id="{C2978C96-7983-4CB4-B9B6-492B72031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3295650"/>
            <a:ext cx="457200" cy="285750"/>
          </a:xfrm>
          <a:prstGeom prst="rect">
            <a:avLst/>
          </a:prstGeom>
        </p:spPr>
      </p:pic>
      <p:pic>
        <p:nvPicPr>
          <p:cNvPr id="27" name="C1_batchphoto1" descr="用户提供的饮料图片">
            <a:extLst>
              <a:ext uri="{FF2B5EF4-FFF2-40B4-BE49-F238E27FC236}">
                <a16:creationId xmlns:a16="http://schemas.microsoft.com/office/drawing/2014/main" id="{FE0C858C-F9EF-48BA-93A8-43042A5E0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6350" y="3164016"/>
            <a:ext cx="457200" cy="549019"/>
          </a:xfrm>
          <a:prstGeom prst="rect">
            <a:avLst/>
          </a:prstGeom>
        </p:spPr>
      </p:pic>
      <p:pic>
        <p:nvPicPr>
          <p:cNvPr id="28" name="C1_batchphoto2" descr="用户提供的饮料图片">
            <a:extLst>
              <a:ext uri="{FF2B5EF4-FFF2-40B4-BE49-F238E27FC236}">
                <a16:creationId xmlns:a16="http://schemas.microsoft.com/office/drawing/2014/main" id="{EEDB502D-419C-4832-883B-17A00B44E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809750" y="3286185"/>
            <a:ext cx="457200" cy="304681"/>
          </a:xfrm>
          <a:prstGeom prst="rect">
            <a:avLst/>
          </a:prstGeom>
        </p:spPr>
      </p:pic>
      <p:pic>
        <p:nvPicPr>
          <p:cNvPr id="29" name="C1_batchphoto3" descr="用户提供的饮料图片">
            <a:extLst>
              <a:ext uri="{FF2B5EF4-FFF2-40B4-BE49-F238E27FC236}">
                <a16:creationId xmlns:a16="http://schemas.microsoft.com/office/drawing/2014/main" id="{010B9376-2199-405C-845D-15E06734D1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343150" y="3209925"/>
            <a:ext cx="457200" cy="457200"/>
          </a:xfrm>
          <a:prstGeom prst="rect">
            <a:avLst/>
          </a:prstGeom>
        </p:spPr>
      </p:pic>
      <p:sp>
        <p:nvSpPr>
          <p:cNvPr id="30" name="C1_firstn">
            <a:extLst>
              <a:ext uri="{FF2B5EF4-FFF2-40B4-BE49-F238E27FC236}">
                <a16:creationId xmlns:a16="http://schemas.microsoft.com/office/drawing/2014/main" id="{77E54DAD-0445-4487-82E2-053432E7C402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2733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C1_firstlabel">
            <a:extLst>
              <a:ext uri="{FF2B5EF4-FFF2-40B4-BE49-F238E27FC236}">
                <a16:creationId xmlns:a16="http://schemas.microsoft.com/office/drawing/2014/main" id="{7727151F-1DFE-47A6-BF91-9CDBF5617B17}"/>
              </a:ext>
            </a:extLst>
          </p:cNvPr>
          <p:cNvSpPr>
            <a:spLocks noGrp="1"/>
          </p:cNvSpPr>
          <p:nvPr/>
        </p:nvSpPr>
        <p:spPr>
          <a:xfrm>
            <a:off x="742950" y="2495550"/>
            <a:ext cx="2733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取一批图片</a:t>
            </a:r>
          </a:p>
        </p:txBody>
      </p:sp>
      <p:sp>
        <p:nvSpPr>
          <p:cNvPr id="32" name="C1_zero">
            <a:extLst>
              <a:ext uri="{FF2B5EF4-FFF2-40B4-BE49-F238E27FC236}">
                <a16:creationId xmlns:a16="http://schemas.microsoft.com/office/drawing/2014/main" id="{85784C1E-B4A2-4F87-8F65-3A1CB45B6886}"/>
              </a:ext>
            </a:extLst>
          </p:cNvPr>
          <p:cNvSpPr>
            <a:spLocks noGrp="1"/>
          </p:cNvSpPr>
          <p:nvPr/>
        </p:nvSpPr>
        <p:spPr>
          <a:xfrm>
            <a:off x="733425" y="3971925"/>
            <a:ext cx="46767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本次从零开始累计梯度</a:t>
            </a:r>
          </a:p>
        </p:txBody>
      </p:sp>
      <p:sp>
        <p:nvSpPr>
          <p:cNvPr id="33" name="C2_secondn">
            <a:extLst>
              <a:ext uri="{FF2B5EF4-FFF2-40B4-BE49-F238E27FC236}">
                <a16:creationId xmlns:a16="http://schemas.microsoft.com/office/drawing/2014/main" id="{06C89E11-8FCD-4809-AD71-8CB4C9C60F06}"/>
              </a:ext>
            </a:extLst>
          </p:cNvPr>
          <p:cNvSpPr>
            <a:spLocks noGrp="1"/>
          </p:cNvSpPr>
          <p:nvPr/>
        </p:nvSpPr>
        <p:spPr>
          <a:xfrm>
            <a:off x="4448175" y="21431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C2_secondlabel">
            <a:extLst>
              <a:ext uri="{FF2B5EF4-FFF2-40B4-BE49-F238E27FC236}">
                <a16:creationId xmlns:a16="http://schemas.microsoft.com/office/drawing/2014/main" id="{740077E0-4AE1-4DDF-A1A7-0EA89EEEA0E4}"/>
              </a:ext>
            </a:extLst>
          </p:cNvPr>
          <p:cNvSpPr>
            <a:spLocks noGrp="1"/>
          </p:cNvSpPr>
          <p:nvPr/>
        </p:nvSpPr>
        <p:spPr>
          <a:xfrm>
            <a:off x="4448175" y="24955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前向预测</a:t>
            </a:r>
          </a:p>
        </p:txBody>
      </p:sp>
      <p:sp>
        <p:nvSpPr>
          <p:cNvPr id="35" name="C2_a">
            <a:extLst>
              <a:ext uri="{FF2B5EF4-FFF2-40B4-BE49-F238E27FC236}">
                <a16:creationId xmlns:a16="http://schemas.microsoft.com/office/drawing/2014/main" id="{EF26728C-5BC1-4B23-AF24-7B2D8746944F}"/>
              </a:ext>
            </a:extLst>
          </p:cNvPr>
          <p:cNvSpPr>
            <a:spLocks noGrp="1"/>
          </p:cNvSpPr>
          <p:nvPr/>
        </p:nvSpPr>
        <p:spPr>
          <a:xfrm>
            <a:off x="3181350" y="2714625"/>
            <a:ext cx="933450" cy="9525"/>
          </a:xfrm>
          <a:custGeom>
            <a:avLst/>
            <a:gdLst/>
            <a:ahLst/>
            <a:cxnLst/>
            <a:rect l="0" t="0" r="0" b="0"/>
            <a:pathLst>
              <a:path w="933450" h="952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6" name="C2_a_a">
            <a:extLst>
              <a:ext uri="{FF2B5EF4-FFF2-40B4-BE49-F238E27FC236}">
                <a16:creationId xmlns:a16="http://schemas.microsoft.com/office/drawing/2014/main" id="{C1325ABF-BB3A-4E7F-9ADA-B8EFA4D83E48}"/>
              </a:ext>
            </a:extLst>
          </p:cNvPr>
          <p:cNvSpPr>
            <a:spLocks noGrp="1"/>
          </p:cNvSpPr>
          <p:nvPr/>
        </p:nvSpPr>
        <p:spPr>
          <a:xfrm>
            <a:off x="4014492" y="271462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7" name="C2_a_b">
            <a:extLst>
              <a:ext uri="{FF2B5EF4-FFF2-40B4-BE49-F238E27FC236}">
                <a16:creationId xmlns:a16="http://schemas.microsoft.com/office/drawing/2014/main" id="{572B0979-65ED-4C49-BD0D-A438041360F3}"/>
              </a:ext>
            </a:extLst>
          </p:cNvPr>
          <p:cNvSpPr>
            <a:spLocks noGrp="1"/>
          </p:cNvSpPr>
          <p:nvPr/>
        </p:nvSpPr>
        <p:spPr>
          <a:xfrm>
            <a:off x="4014492" y="265982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8" name="C2_cache">
            <a:extLst>
              <a:ext uri="{FF2B5EF4-FFF2-40B4-BE49-F238E27FC236}">
                <a16:creationId xmlns:a16="http://schemas.microsoft.com/office/drawing/2014/main" id="{EB2E5786-9964-490F-BCEA-EBBF67DCC0CC}"/>
              </a:ext>
            </a:extLst>
          </p:cNvPr>
          <p:cNvSpPr>
            <a:spLocks noGrp="1"/>
          </p:cNvSpPr>
          <p:nvPr/>
        </p:nvSpPr>
        <p:spPr>
          <a:xfrm>
            <a:off x="4448175" y="3190875"/>
            <a:ext cx="3905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用当前参数计算并保留中间结果</a:t>
            </a:r>
          </a:p>
        </p:txBody>
      </p:sp>
      <p:sp>
        <p:nvSpPr>
          <p:cNvPr id="39" name="C3_thirdn">
            <a:extLst>
              <a:ext uri="{FF2B5EF4-FFF2-40B4-BE49-F238E27FC236}">
                <a16:creationId xmlns:a16="http://schemas.microsoft.com/office/drawing/2014/main" id="{F64B2490-5599-4606-81A9-9FEFE0CFF40C}"/>
              </a:ext>
            </a:extLst>
          </p:cNvPr>
          <p:cNvSpPr>
            <a:spLocks noGrp="1"/>
          </p:cNvSpPr>
          <p:nvPr/>
        </p:nvSpPr>
        <p:spPr>
          <a:xfrm>
            <a:off x="9001125" y="2143125"/>
            <a:ext cx="2771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C3_thirdlabel">
            <a:extLst>
              <a:ext uri="{FF2B5EF4-FFF2-40B4-BE49-F238E27FC236}">
                <a16:creationId xmlns:a16="http://schemas.microsoft.com/office/drawing/2014/main" id="{6EB31454-5260-4E6C-80DD-3EDC6E9B7130}"/>
              </a:ext>
            </a:extLst>
          </p:cNvPr>
          <p:cNvSpPr>
            <a:spLocks noGrp="1"/>
          </p:cNvSpPr>
          <p:nvPr/>
        </p:nvSpPr>
        <p:spPr>
          <a:xfrm>
            <a:off x="9001125" y="2495550"/>
            <a:ext cx="2771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65D16"/>
                </a:solidFill>
                <a:latin typeface="Microsoft YaHei"/>
                <a:ea typeface="Microsoft YaHei"/>
                <a:cs typeface="Microsoft YaHei"/>
              </a:rPr>
              <a:t>平均 Loss</a:t>
            </a:r>
          </a:p>
        </p:txBody>
      </p:sp>
      <p:sp>
        <p:nvSpPr>
          <p:cNvPr id="41" name="C3_b">
            <a:extLst>
              <a:ext uri="{FF2B5EF4-FFF2-40B4-BE49-F238E27FC236}">
                <a16:creationId xmlns:a16="http://schemas.microsoft.com/office/drawing/2014/main" id="{0D4C3399-7B2D-4D1B-8FA1-5D8AF09EC1A6}"/>
              </a:ext>
            </a:extLst>
          </p:cNvPr>
          <p:cNvSpPr>
            <a:spLocks noGrp="1"/>
          </p:cNvSpPr>
          <p:nvPr/>
        </p:nvSpPr>
        <p:spPr>
          <a:xfrm>
            <a:off x="6858000" y="2714625"/>
            <a:ext cx="1809750" cy="9525"/>
          </a:xfrm>
          <a:custGeom>
            <a:avLst/>
            <a:gdLst/>
            <a:ahLst/>
            <a:cxnLst/>
            <a:rect l="0" t="0" r="0" b="0"/>
            <a:pathLst>
              <a:path w="1809750" h="9525">
                <a:moveTo>
                  <a:pt x="0" y="0"/>
                </a:moveTo>
                <a:lnTo>
                  <a:pt x="180975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2" name="C3_b_a">
            <a:extLst>
              <a:ext uri="{FF2B5EF4-FFF2-40B4-BE49-F238E27FC236}">
                <a16:creationId xmlns:a16="http://schemas.microsoft.com/office/drawing/2014/main" id="{8C3E0595-54AF-4718-AD05-784209D19B3E}"/>
              </a:ext>
            </a:extLst>
          </p:cNvPr>
          <p:cNvSpPr>
            <a:spLocks noGrp="1"/>
          </p:cNvSpPr>
          <p:nvPr/>
        </p:nvSpPr>
        <p:spPr>
          <a:xfrm>
            <a:off x="8567442" y="271462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0"/>
                </a:moveTo>
                <a:lnTo>
                  <a:pt x="0" y="5479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3" name="C3_b_b">
            <a:extLst>
              <a:ext uri="{FF2B5EF4-FFF2-40B4-BE49-F238E27FC236}">
                <a16:creationId xmlns:a16="http://schemas.microsoft.com/office/drawing/2014/main" id="{ADB617FC-241D-44D9-B8D6-3298523DF508}"/>
              </a:ext>
            </a:extLst>
          </p:cNvPr>
          <p:cNvSpPr>
            <a:spLocks noGrp="1"/>
          </p:cNvSpPr>
          <p:nvPr/>
        </p:nvSpPr>
        <p:spPr>
          <a:xfrm>
            <a:off x="8567442" y="265982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100308" y="5479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4" name="C3_target">
            <a:extLst>
              <a:ext uri="{FF2B5EF4-FFF2-40B4-BE49-F238E27FC236}">
                <a16:creationId xmlns:a16="http://schemas.microsoft.com/office/drawing/2014/main" id="{0D9B5C85-9890-48CC-93E7-6D47FDA29C9B}"/>
              </a:ext>
            </a:extLst>
          </p:cNvPr>
          <p:cNvSpPr>
            <a:spLocks noGrp="1"/>
          </p:cNvSpPr>
          <p:nvPr/>
        </p:nvSpPr>
        <p:spPr>
          <a:xfrm>
            <a:off x="8848725" y="1771650"/>
            <a:ext cx="3038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95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2"/>
                </a:solidFill>
                <a:latin typeface="Microsoft YaHei"/>
                <a:ea typeface="Microsoft YaHei"/>
                <a:cs typeface="Microsoft YaHei"/>
              </a:rPr>
              <a:t>数据中的正确答案</a:t>
            </a:r>
          </a:p>
        </p:txBody>
      </p:sp>
      <p:sp>
        <p:nvSpPr>
          <p:cNvPr id="45" name="C3_targetA">
            <a:extLst>
              <a:ext uri="{FF2B5EF4-FFF2-40B4-BE49-F238E27FC236}">
                <a16:creationId xmlns:a16="http://schemas.microsoft.com/office/drawing/2014/main" id="{F306A73F-63DF-46DA-9422-EEFACEFD655A}"/>
              </a:ext>
            </a:extLst>
          </p:cNvPr>
          <p:cNvSpPr>
            <a:spLocks noGrp="1"/>
          </p:cNvSpPr>
          <p:nvPr/>
        </p:nvSpPr>
        <p:spPr>
          <a:xfrm>
            <a:off x="10020300" y="2181225"/>
            <a:ext cx="9525" cy="209550"/>
          </a:xfrm>
          <a:custGeom>
            <a:avLst/>
            <a:gdLst/>
            <a:ahLst/>
            <a:cxnLst/>
            <a:rect l="0" t="0" r="0" b="0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46" name="C3_targetA_a">
            <a:extLst>
              <a:ext uri="{FF2B5EF4-FFF2-40B4-BE49-F238E27FC236}">
                <a16:creationId xmlns:a16="http://schemas.microsoft.com/office/drawing/2014/main" id="{2FE5B316-C94A-427F-A152-275C0412E4A8}"/>
              </a:ext>
            </a:extLst>
          </p:cNvPr>
          <p:cNvSpPr>
            <a:spLocks noGrp="1"/>
          </p:cNvSpPr>
          <p:nvPr/>
        </p:nvSpPr>
        <p:spPr>
          <a:xfrm>
            <a:off x="9965502" y="229046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47" name="C3_targetA_b">
            <a:extLst>
              <a:ext uri="{FF2B5EF4-FFF2-40B4-BE49-F238E27FC236}">
                <a16:creationId xmlns:a16="http://schemas.microsoft.com/office/drawing/2014/main" id="{84072264-9F4C-403B-B4D2-86162C778EC6}"/>
              </a:ext>
            </a:extLst>
          </p:cNvPr>
          <p:cNvSpPr>
            <a:spLocks noGrp="1"/>
          </p:cNvSpPr>
          <p:nvPr/>
        </p:nvSpPr>
        <p:spPr>
          <a:xfrm>
            <a:off x="10020300" y="229046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19050">
            <a:solidFill>
              <a:srgbClr val="087F72"/>
            </a:solidFill>
            <a:prstDash val="solid"/>
          </a:ln>
        </p:spPr>
      </p:sp>
      <p:sp>
        <p:nvSpPr>
          <p:cNvPr id="48" name="C4_fourthn">
            <a:extLst>
              <a:ext uri="{FF2B5EF4-FFF2-40B4-BE49-F238E27FC236}">
                <a16:creationId xmlns:a16="http://schemas.microsoft.com/office/drawing/2014/main" id="{7719E137-48C3-4A32-9AD5-0D9DC4F0CE50}"/>
              </a:ext>
            </a:extLst>
          </p:cNvPr>
          <p:cNvSpPr>
            <a:spLocks noGrp="1"/>
          </p:cNvSpPr>
          <p:nvPr/>
        </p:nvSpPr>
        <p:spPr>
          <a:xfrm>
            <a:off x="7724775" y="4333875"/>
            <a:ext cx="3943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C4_fourthlabel">
            <a:extLst>
              <a:ext uri="{FF2B5EF4-FFF2-40B4-BE49-F238E27FC236}">
                <a16:creationId xmlns:a16="http://schemas.microsoft.com/office/drawing/2014/main" id="{88CA0F6F-3DC4-4EDE-8462-3BA1D7596935}"/>
              </a:ext>
            </a:extLst>
          </p:cNvPr>
          <p:cNvSpPr>
            <a:spLocks noGrp="1"/>
          </p:cNvSpPr>
          <p:nvPr/>
        </p:nvSpPr>
        <p:spPr>
          <a:xfrm>
            <a:off x="7724775" y="4686300"/>
            <a:ext cx="3943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反向传播算梯度</a:t>
            </a:r>
          </a:p>
        </p:txBody>
      </p:sp>
      <p:sp>
        <p:nvSpPr>
          <p:cNvPr id="50" name="C4_c">
            <a:extLst>
              <a:ext uri="{FF2B5EF4-FFF2-40B4-BE49-F238E27FC236}">
                <a16:creationId xmlns:a16="http://schemas.microsoft.com/office/drawing/2014/main" id="{75A9AE45-BFB1-40DB-B4B9-2AE69C63A8CF}"/>
              </a:ext>
            </a:extLst>
          </p:cNvPr>
          <p:cNvSpPr>
            <a:spLocks noGrp="1"/>
          </p:cNvSpPr>
          <p:nvPr/>
        </p:nvSpPr>
        <p:spPr>
          <a:xfrm>
            <a:off x="10020300" y="3248025"/>
            <a:ext cx="9525" cy="952500"/>
          </a:xfrm>
          <a:custGeom>
            <a:avLst/>
            <a:gdLst/>
            <a:ahLst/>
            <a:cxnLst/>
            <a:rect l="0" t="0" r="0" b="0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1" name="C4_c_a">
            <a:extLst>
              <a:ext uri="{FF2B5EF4-FFF2-40B4-BE49-F238E27FC236}">
                <a16:creationId xmlns:a16="http://schemas.microsoft.com/office/drawing/2014/main" id="{4FA8238E-1E18-40F5-BC1E-5BF3DFA22200}"/>
              </a:ext>
            </a:extLst>
          </p:cNvPr>
          <p:cNvSpPr>
            <a:spLocks noGrp="1"/>
          </p:cNvSpPr>
          <p:nvPr/>
        </p:nvSpPr>
        <p:spPr>
          <a:xfrm>
            <a:off x="9965502" y="410021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100308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2" name="C4_c_b">
            <a:extLst>
              <a:ext uri="{FF2B5EF4-FFF2-40B4-BE49-F238E27FC236}">
                <a16:creationId xmlns:a16="http://schemas.microsoft.com/office/drawing/2014/main" id="{FED62A35-06E8-487D-8348-1F5B99335CAF}"/>
              </a:ext>
            </a:extLst>
          </p:cNvPr>
          <p:cNvSpPr>
            <a:spLocks noGrp="1"/>
          </p:cNvSpPr>
          <p:nvPr/>
        </p:nvSpPr>
        <p:spPr>
          <a:xfrm>
            <a:off x="10020300" y="4100217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100308"/>
                </a:moveTo>
                <a:lnTo>
                  <a:pt x="5479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3" name="C4_notYet">
            <a:extLst>
              <a:ext uri="{FF2B5EF4-FFF2-40B4-BE49-F238E27FC236}">
                <a16:creationId xmlns:a16="http://schemas.microsoft.com/office/drawing/2014/main" id="{03C792FC-8B1B-4483-A5F1-D0EA45D71019}"/>
              </a:ext>
            </a:extLst>
          </p:cNvPr>
          <p:cNvSpPr>
            <a:spLocks noGrp="1"/>
          </p:cNvSpPr>
          <p:nvPr/>
        </p:nvSpPr>
        <p:spPr>
          <a:xfrm>
            <a:off x="7724775" y="5238750"/>
            <a:ext cx="4010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反向传播只计算梯度</a:t>
            </a:r>
          </a:p>
        </p:txBody>
      </p:sp>
      <p:sp>
        <p:nvSpPr>
          <p:cNvPr id="54" name="C5_fifthn">
            <a:extLst>
              <a:ext uri="{FF2B5EF4-FFF2-40B4-BE49-F238E27FC236}">
                <a16:creationId xmlns:a16="http://schemas.microsoft.com/office/drawing/2014/main" id="{DAB321E4-FC67-4E58-BFB1-8EC461CE4B49}"/>
              </a:ext>
            </a:extLst>
          </p:cNvPr>
          <p:cNvSpPr>
            <a:spLocks noGrp="1"/>
          </p:cNvSpPr>
          <p:nvPr/>
        </p:nvSpPr>
        <p:spPr>
          <a:xfrm>
            <a:off x="2667000" y="4333875"/>
            <a:ext cx="417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5" name="C5_fifthlabel">
            <a:extLst>
              <a:ext uri="{FF2B5EF4-FFF2-40B4-BE49-F238E27FC236}">
                <a16:creationId xmlns:a16="http://schemas.microsoft.com/office/drawing/2014/main" id="{C121C45C-E290-479D-ADFF-799A7043E35D}"/>
              </a:ext>
            </a:extLst>
          </p:cNvPr>
          <p:cNvSpPr>
            <a:spLocks noGrp="1"/>
          </p:cNvSpPr>
          <p:nvPr/>
        </p:nvSpPr>
        <p:spPr>
          <a:xfrm>
            <a:off x="2667000" y="4686300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优化器更新参数</a:t>
            </a:r>
          </a:p>
        </p:txBody>
      </p:sp>
      <p:sp>
        <p:nvSpPr>
          <p:cNvPr id="56" name="C5_d">
            <a:extLst>
              <a:ext uri="{FF2B5EF4-FFF2-40B4-BE49-F238E27FC236}">
                <a16:creationId xmlns:a16="http://schemas.microsoft.com/office/drawing/2014/main" id="{E6C36231-DBC5-48FB-B6A3-62C64979E6AE}"/>
              </a:ext>
            </a:extLst>
          </p:cNvPr>
          <p:cNvSpPr>
            <a:spLocks noGrp="1"/>
          </p:cNvSpPr>
          <p:nvPr/>
        </p:nvSpPr>
        <p:spPr>
          <a:xfrm>
            <a:off x="6657975" y="4905375"/>
            <a:ext cx="657225" cy="9525"/>
          </a:xfrm>
          <a:custGeom>
            <a:avLst/>
            <a:gdLst/>
            <a:ahLst/>
            <a:cxnLst/>
            <a:rect l="0" t="0" r="0" b="0"/>
            <a:pathLst>
              <a:path w="657225" h="9525">
                <a:moveTo>
                  <a:pt x="657225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7" name="C5_d_a">
            <a:extLst>
              <a:ext uri="{FF2B5EF4-FFF2-40B4-BE49-F238E27FC236}">
                <a16:creationId xmlns:a16="http://schemas.microsoft.com/office/drawing/2014/main" id="{B12026FD-3646-418E-AF1C-B6ECD03BDD9A}"/>
              </a:ext>
            </a:extLst>
          </p:cNvPr>
          <p:cNvSpPr>
            <a:spLocks noGrp="1"/>
          </p:cNvSpPr>
          <p:nvPr/>
        </p:nvSpPr>
        <p:spPr>
          <a:xfrm>
            <a:off x="6657975" y="4850577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54798"/>
                </a:moveTo>
                <a:lnTo>
                  <a:pt x="100308" y="0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8" name="C5_d_b">
            <a:extLst>
              <a:ext uri="{FF2B5EF4-FFF2-40B4-BE49-F238E27FC236}">
                <a16:creationId xmlns:a16="http://schemas.microsoft.com/office/drawing/2014/main" id="{A5640475-1A05-4735-80FF-46A48CB96900}"/>
              </a:ext>
            </a:extLst>
          </p:cNvPr>
          <p:cNvSpPr>
            <a:spLocks noGrp="1"/>
          </p:cNvSpPr>
          <p:nvPr/>
        </p:nvSpPr>
        <p:spPr>
          <a:xfrm>
            <a:off x="6657975" y="4905375"/>
            <a:ext cx="100308" cy="54798"/>
          </a:xfrm>
          <a:custGeom>
            <a:avLst/>
            <a:gdLst/>
            <a:ahLst/>
            <a:cxnLst/>
            <a:rect l="0" t="0" r="0" b="0"/>
            <a:pathLst>
              <a:path w="100308" h="54798">
                <a:moveTo>
                  <a:pt x="0" y="0"/>
                </a:moveTo>
                <a:lnTo>
                  <a:pt x="100308" y="54798"/>
                </a:lnTo>
              </a:path>
            </a:pathLst>
          </a:cu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59" name="C5_loop1">
            <a:extLst>
              <a:ext uri="{FF2B5EF4-FFF2-40B4-BE49-F238E27FC236}">
                <a16:creationId xmlns:a16="http://schemas.microsoft.com/office/drawing/2014/main" id="{3ABEB83C-5E40-4EAE-BEE5-3230DA58B570}"/>
              </a:ext>
            </a:extLst>
          </p:cNvPr>
          <p:cNvSpPr>
            <a:spLocks noGrp="1"/>
          </p:cNvSpPr>
          <p:nvPr/>
        </p:nvSpPr>
        <p:spPr>
          <a:xfrm>
            <a:off x="4495800" y="4105275"/>
            <a:ext cx="9525" cy="466725"/>
          </a:xfrm>
          <a:custGeom>
            <a:avLst/>
            <a:gdLst/>
            <a:ahLst/>
            <a:cxnLst/>
            <a:rect l="0" t="0" r="0" b="0"/>
            <a:pathLst>
              <a:path w="9525" h="466725">
                <a:moveTo>
                  <a:pt x="0" y="46672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0" name="C5_loop2">
            <a:extLst>
              <a:ext uri="{FF2B5EF4-FFF2-40B4-BE49-F238E27FC236}">
                <a16:creationId xmlns:a16="http://schemas.microsoft.com/office/drawing/2014/main" id="{BB9A2B13-3B6F-4F4E-888E-E3C0A2E29CE9}"/>
              </a:ext>
            </a:extLst>
          </p:cNvPr>
          <p:cNvSpPr>
            <a:spLocks noGrp="1"/>
          </p:cNvSpPr>
          <p:nvPr/>
        </p:nvSpPr>
        <p:spPr>
          <a:xfrm>
            <a:off x="4495800" y="4105275"/>
            <a:ext cx="1533525" cy="9525"/>
          </a:xfrm>
          <a:custGeom>
            <a:avLst/>
            <a:gdLst/>
            <a:ahLst/>
            <a:cxnLst/>
            <a:rect l="0" t="0" r="0" b="0"/>
            <a:pathLst>
              <a:path w="1533525" h="952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1" name="C5_loop3">
            <a:extLst>
              <a:ext uri="{FF2B5EF4-FFF2-40B4-BE49-F238E27FC236}">
                <a16:creationId xmlns:a16="http://schemas.microsoft.com/office/drawing/2014/main" id="{40130992-7496-4E05-A24E-C36A899E1163}"/>
              </a:ext>
            </a:extLst>
          </p:cNvPr>
          <p:cNvSpPr>
            <a:spLocks noGrp="1"/>
          </p:cNvSpPr>
          <p:nvPr/>
        </p:nvSpPr>
        <p:spPr>
          <a:xfrm>
            <a:off x="6029325" y="3943350"/>
            <a:ext cx="9525" cy="161925"/>
          </a:xfrm>
          <a:custGeom>
            <a:avLst/>
            <a:gdLst/>
            <a:ahLst/>
            <a:cxnLst/>
            <a:rect l="0" t="0" r="0" b="0"/>
            <a:pathLst>
              <a:path w="952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2" name="C5_loop3_a">
            <a:extLst>
              <a:ext uri="{FF2B5EF4-FFF2-40B4-BE49-F238E27FC236}">
                <a16:creationId xmlns:a16="http://schemas.microsoft.com/office/drawing/2014/main" id="{18D90197-0E88-4EC8-90E6-90D59AF9AD82}"/>
              </a:ext>
            </a:extLst>
          </p:cNvPr>
          <p:cNvSpPr>
            <a:spLocks noGrp="1"/>
          </p:cNvSpPr>
          <p:nvPr/>
        </p:nvSpPr>
        <p:spPr>
          <a:xfrm>
            <a:off x="6029325" y="394335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0" y="0"/>
                </a:moveTo>
                <a:lnTo>
                  <a:pt x="54798" y="10030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3" name="C5_loop3_b">
            <a:extLst>
              <a:ext uri="{FF2B5EF4-FFF2-40B4-BE49-F238E27FC236}">
                <a16:creationId xmlns:a16="http://schemas.microsoft.com/office/drawing/2014/main" id="{6B000E6D-9916-44CD-85D6-458610F99E10}"/>
              </a:ext>
            </a:extLst>
          </p:cNvPr>
          <p:cNvSpPr>
            <a:spLocks noGrp="1"/>
          </p:cNvSpPr>
          <p:nvPr/>
        </p:nvSpPr>
        <p:spPr>
          <a:xfrm>
            <a:off x="5974527" y="3943350"/>
            <a:ext cx="54798" cy="100308"/>
          </a:xfrm>
          <a:custGeom>
            <a:avLst/>
            <a:gdLst/>
            <a:ahLst/>
            <a:cxnLst/>
            <a:rect l="0" t="0" r="0" b="0"/>
            <a:pathLst>
              <a:path w="54798" h="100308">
                <a:moveTo>
                  <a:pt x="54798" y="0"/>
                </a:moveTo>
                <a:lnTo>
                  <a:pt x="0" y="100308"/>
                </a:lnTo>
              </a:path>
            </a:pathLst>
          </a:cu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64" name="C5_conclusion">
            <a:extLst>
              <a:ext uri="{FF2B5EF4-FFF2-40B4-BE49-F238E27FC236}">
                <a16:creationId xmlns:a16="http://schemas.microsoft.com/office/drawing/2014/main" id="{D345F6CA-D982-42BF-A954-09C197595737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这一批的梯度用完，下一批从更新后的参数开始</a:t>
            </a:r>
          </a:p>
        </p:txBody>
      </p:sp>
    </p:spTree>
    <p:extLst>
      <p:ext uri="{BB962C8B-B14F-4D97-AF65-F5344CB8AC3E}">
        <p14:creationId xmlns:p14="http://schemas.microsoft.com/office/powerpoint/2010/main" val="358044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8" grpId="0"/>
      <p:bldP spid="39" grpId="0"/>
      <p:bldP spid="40" grpId="0"/>
      <p:bldP spid="44" grpId="0"/>
      <p:bldP spid="48" grpId="0"/>
      <p:bldP spid="49" grpId="0"/>
      <p:bldP spid="53" grpId="0"/>
      <p:bldP spid="54" grpId="0"/>
      <p:bldP spid="55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">
            <a:extLst>
              <a:ext uri="{FF2B5EF4-FFF2-40B4-BE49-F238E27FC236}">
                <a16:creationId xmlns:a16="http://schemas.microsoft.com/office/drawing/2014/main" id="{6E1AB3A4-32F6-4035-8C51-F4C512B5092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step 和 epoch</a:t>
            </a:r>
            <a:endParaRPr lang="en-US" sz="36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1EF7CE4A-C524-4E32-9D8D-605A8BB60004}"/>
              </a:ext>
            </a:extLst>
          </p:cNvPr>
          <p:cNvSpPr>
            <a:spLocks noGrp="1"/>
          </p:cNvSpPr>
          <p:nvPr/>
        </p:nvSpPr>
        <p:spPr>
          <a:xfrm>
            <a:off x="11144250" y="61722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C2F4884-E8D7-4E39-8D52-39910E5F932F}"/>
              </a:ext>
            </a:extLst>
          </p:cNvPr>
          <p:cNvSpPr>
            <a:spLocks noGrp="1"/>
          </p:cNvSpPr>
          <p:nvPr/>
        </p:nvSpPr>
        <p:spPr>
          <a:xfrm>
            <a:off x="628650" y="1209675"/>
            <a:ext cx="1085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假设训练集只有这</a:t>
            </a:r>
            <a:r>
              <a:rPr sz="1875" b="0" dirty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 8 </a:t>
            </a:r>
            <a:r>
              <a:rPr sz="1875" b="0" dirty="0" err="1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张图片，batch</a:t>
            </a:r>
            <a:r>
              <a:rPr sz="1875" b="0" dirty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 size = 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95072F-1C2B-4007-A216-E8DD80FC7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8441" y="2038350"/>
            <a:ext cx="921544" cy="1228725"/>
          </a:xfrm>
          <a:prstGeom prst="rect">
            <a:avLst/>
          </a:prstGeom>
        </p:spPr>
      </p:pic>
      <p:sp>
        <p:nvSpPr>
          <p:cNvPr id="5" name="id0">
            <a:extLst>
              <a:ext uri="{FF2B5EF4-FFF2-40B4-BE49-F238E27FC236}">
                <a16:creationId xmlns:a16="http://schemas.microsoft.com/office/drawing/2014/main" id="{83EE2224-5280-4D31-AFD6-5F4D4C198EB5}"/>
              </a:ext>
            </a:extLst>
          </p:cNvPr>
          <p:cNvSpPr>
            <a:spLocks noGrp="1"/>
          </p:cNvSpPr>
          <p:nvPr/>
        </p:nvSpPr>
        <p:spPr>
          <a:xfrm>
            <a:off x="1200150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B66371-E748-40C8-BA72-3F67D1DB2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43125" y="2304455"/>
            <a:ext cx="1114425" cy="696516"/>
          </a:xfrm>
          <a:prstGeom prst="rect">
            <a:avLst/>
          </a:prstGeom>
        </p:spPr>
      </p:pic>
      <p:sp>
        <p:nvSpPr>
          <p:cNvPr id="7" name="id1">
            <a:extLst>
              <a:ext uri="{FF2B5EF4-FFF2-40B4-BE49-F238E27FC236}">
                <a16:creationId xmlns:a16="http://schemas.microsoft.com/office/drawing/2014/main" id="{4A56792E-52A1-4210-A67F-DD1E30167646}"/>
              </a:ext>
            </a:extLst>
          </p:cNvPr>
          <p:cNvSpPr>
            <a:spLocks noGrp="1"/>
          </p:cNvSpPr>
          <p:nvPr/>
        </p:nvSpPr>
        <p:spPr>
          <a:xfrm>
            <a:off x="2581275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3C122A5-3FA5-4FDB-BF0A-2EE06C288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20323" y="2038350"/>
            <a:ext cx="922278" cy="1228725"/>
          </a:xfrm>
          <a:prstGeom prst="rect">
            <a:avLst/>
          </a:prstGeom>
        </p:spPr>
      </p:pic>
      <p:sp>
        <p:nvSpPr>
          <p:cNvPr id="9" name="id2">
            <a:extLst>
              <a:ext uri="{FF2B5EF4-FFF2-40B4-BE49-F238E27FC236}">
                <a16:creationId xmlns:a16="http://schemas.microsoft.com/office/drawing/2014/main" id="{A4D2B44D-1E42-4125-B4A2-186DF8EB4A14}"/>
              </a:ext>
            </a:extLst>
          </p:cNvPr>
          <p:cNvSpPr>
            <a:spLocks noGrp="1"/>
          </p:cNvSpPr>
          <p:nvPr/>
        </p:nvSpPr>
        <p:spPr>
          <a:xfrm>
            <a:off x="3962400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B07D0EF-FC27-4306-877E-6A23ADD69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950972" y="2038350"/>
            <a:ext cx="1023231" cy="1228725"/>
          </a:xfrm>
          <a:prstGeom prst="rect">
            <a:avLst/>
          </a:prstGeom>
        </p:spPr>
      </p:pic>
      <p:sp>
        <p:nvSpPr>
          <p:cNvPr id="11" name="id3">
            <a:extLst>
              <a:ext uri="{FF2B5EF4-FFF2-40B4-BE49-F238E27FC236}">
                <a16:creationId xmlns:a16="http://schemas.microsoft.com/office/drawing/2014/main" id="{81E237E0-1130-4E74-82D4-0A5340D3F191}"/>
              </a:ext>
            </a:extLst>
          </p:cNvPr>
          <p:cNvSpPr>
            <a:spLocks noGrp="1"/>
          </p:cNvSpPr>
          <p:nvPr/>
        </p:nvSpPr>
        <p:spPr>
          <a:xfrm>
            <a:off x="5343525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58131E9-E56A-49E7-8FAF-271E22AAB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383110" y="2038350"/>
            <a:ext cx="921205" cy="1228725"/>
          </a:xfrm>
          <a:prstGeom prst="rect">
            <a:avLst/>
          </a:prstGeom>
        </p:spPr>
      </p:pic>
      <p:sp>
        <p:nvSpPr>
          <p:cNvPr id="13" name="id4">
            <a:extLst>
              <a:ext uri="{FF2B5EF4-FFF2-40B4-BE49-F238E27FC236}">
                <a16:creationId xmlns:a16="http://schemas.microsoft.com/office/drawing/2014/main" id="{C62AB179-D136-428A-912D-90603C19E968}"/>
              </a:ext>
            </a:extLst>
          </p:cNvPr>
          <p:cNvSpPr>
            <a:spLocks noGrp="1"/>
          </p:cNvSpPr>
          <p:nvPr/>
        </p:nvSpPr>
        <p:spPr>
          <a:xfrm>
            <a:off x="6724650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6AFDCD0-E2C4-4519-A53D-347BE31E7B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667625" y="2281383"/>
            <a:ext cx="1114425" cy="742660"/>
          </a:xfrm>
          <a:prstGeom prst="rect">
            <a:avLst/>
          </a:prstGeom>
        </p:spPr>
      </p:pic>
      <p:sp>
        <p:nvSpPr>
          <p:cNvPr id="15" name="id5">
            <a:extLst>
              <a:ext uri="{FF2B5EF4-FFF2-40B4-BE49-F238E27FC236}">
                <a16:creationId xmlns:a16="http://schemas.microsoft.com/office/drawing/2014/main" id="{3555656E-FA1D-4884-828C-40F93DEB64A1}"/>
              </a:ext>
            </a:extLst>
          </p:cNvPr>
          <p:cNvSpPr>
            <a:spLocks noGrp="1"/>
          </p:cNvSpPr>
          <p:nvPr/>
        </p:nvSpPr>
        <p:spPr>
          <a:xfrm>
            <a:off x="8105775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768F507-C1D1-4C25-8B85-9F6008D611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048750" y="2095500"/>
            <a:ext cx="1114425" cy="1114425"/>
          </a:xfrm>
          <a:prstGeom prst="rect">
            <a:avLst/>
          </a:prstGeom>
        </p:spPr>
      </p:pic>
      <p:sp>
        <p:nvSpPr>
          <p:cNvPr id="17" name="id6">
            <a:extLst>
              <a:ext uri="{FF2B5EF4-FFF2-40B4-BE49-F238E27FC236}">
                <a16:creationId xmlns:a16="http://schemas.microsoft.com/office/drawing/2014/main" id="{56C81F5C-5EFE-4C47-B800-5039B432A6DB}"/>
              </a:ext>
            </a:extLst>
          </p:cNvPr>
          <p:cNvSpPr>
            <a:spLocks noGrp="1"/>
          </p:cNvSpPr>
          <p:nvPr/>
        </p:nvSpPr>
        <p:spPr>
          <a:xfrm>
            <a:off x="9486900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8D6DDC9-A2F7-4A58-B357-709F44FEEC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429875" y="2095500"/>
            <a:ext cx="1114425" cy="1114425"/>
          </a:xfrm>
          <a:prstGeom prst="rect">
            <a:avLst/>
          </a:prstGeom>
        </p:spPr>
      </p:pic>
      <p:sp>
        <p:nvSpPr>
          <p:cNvPr id="19" name="id7">
            <a:extLst>
              <a:ext uri="{FF2B5EF4-FFF2-40B4-BE49-F238E27FC236}">
                <a16:creationId xmlns:a16="http://schemas.microsoft.com/office/drawing/2014/main" id="{CDD5472F-6B85-46A3-981B-3B7EBCDBC875}"/>
              </a:ext>
            </a:extLst>
          </p:cNvPr>
          <p:cNvSpPr>
            <a:spLocks noGrp="1"/>
          </p:cNvSpPr>
          <p:nvPr/>
        </p:nvSpPr>
        <p:spPr>
          <a:xfrm>
            <a:off x="10868025" y="3343275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0" name="C1_group1">
            <a:extLst>
              <a:ext uri="{FF2B5EF4-FFF2-40B4-BE49-F238E27FC236}">
                <a16:creationId xmlns:a16="http://schemas.microsoft.com/office/drawing/2014/main" id="{2D0057DE-29C0-489A-8D57-472B2C526F2F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476875" cy="1724025"/>
          </a:xfrm>
          <a:prstGeom prst="rect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1" name="C1_step1">
            <a:extLst>
              <a:ext uri="{FF2B5EF4-FFF2-40B4-BE49-F238E27FC236}">
                <a16:creationId xmlns:a16="http://schemas.microsoft.com/office/drawing/2014/main" id="{4DBF9D25-1471-4855-BA73-8738259E70CF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5581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batch 1：用 θ₀，更新得到 θ₁</a:t>
            </a:r>
          </a:p>
        </p:txBody>
      </p:sp>
      <p:sp>
        <p:nvSpPr>
          <p:cNvPr id="22" name="C2_group2">
            <a:extLst>
              <a:ext uri="{FF2B5EF4-FFF2-40B4-BE49-F238E27FC236}">
                <a16:creationId xmlns:a16="http://schemas.microsoft.com/office/drawing/2014/main" id="{3B10BB24-2FDE-4CFA-BFE4-60F2C52A329D}"/>
              </a:ext>
            </a:extLst>
          </p:cNvPr>
          <p:cNvSpPr>
            <a:spLocks noGrp="1"/>
          </p:cNvSpPr>
          <p:nvPr/>
        </p:nvSpPr>
        <p:spPr>
          <a:xfrm>
            <a:off x="6210300" y="1952625"/>
            <a:ext cx="5476875" cy="1724025"/>
          </a:xfrm>
          <a:prstGeom prst="rect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3" name="C2_step2">
            <a:extLst>
              <a:ext uri="{FF2B5EF4-FFF2-40B4-BE49-F238E27FC236}">
                <a16:creationId xmlns:a16="http://schemas.microsoft.com/office/drawing/2014/main" id="{CE514635-74FD-4A42-937B-3C9326292927}"/>
              </a:ext>
            </a:extLst>
          </p:cNvPr>
          <p:cNvSpPr>
            <a:spLocks noGrp="1"/>
          </p:cNvSpPr>
          <p:nvPr/>
        </p:nvSpPr>
        <p:spPr>
          <a:xfrm>
            <a:off x="6305550" y="3905250"/>
            <a:ext cx="547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batch 2：用 θ₁，更新得到 θ₂</a:t>
            </a:r>
          </a:p>
        </p:txBody>
      </p:sp>
      <p:sp>
        <p:nvSpPr>
          <p:cNvPr id="24" name="C3_epoch">
            <a:extLst>
              <a:ext uri="{FF2B5EF4-FFF2-40B4-BE49-F238E27FC236}">
                <a16:creationId xmlns:a16="http://schemas.microsoft.com/office/drawing/2014/main" id="{9300858C-ADDB-4C47-BCAF-307EBBEBA6C7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10953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8 张都参与过一次：1 个 </a:t>
            </a:r>
            <a:r>
              <a:rPr sz="255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epoch，共</a:t>
            </a:r>
            <a:r>
              <a:rPr sz="2550" b="1" dirty="0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 2 个 step</a:t>
            </a:r>
          </a:p>
        </p:txBody>
      </p:sp>
      <p:sp>
        <p:nvSpPr>
          <p:cNvPr id="25" name="C4_next">
            <a:extLst>
              <a:ext uri="{FF2B5EF4-FFF2-40B4-BE49-F238E27FC236}">
                <a16:creationId xmlns:a16="http://schemas.microsoft.com/office/drawing/2014/main" id="{E56D6EBD-378C-481A-B821-A1E16980B382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25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下个</a:t>
            </a:r>
            <a:r>
              <a:rPr sz="2250" b="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epoch </a:t>
            </a:r>
            <a:r>
              <a:rPr sz="2250" b="0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通常重新打乱顺序，从</a:t>
            </a:r>
            <a:r>
              <a:rPr sz="2250" b="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θ₂ </a:t>
            </a:r>
            <a:r>
              <a:rPr sz="2250" b="0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继续</a:t>
            </a:r>
            <a:endParaRPr sz="2250" b="0" dirty="0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C4_conclusion">
            <a:extLst>
              <a:ext uri="{FF2B5EF4-FFF2-40B4-BE49-F238E27FC236}">
                <a16:creationId xmlns:a16="http://schemas.microsoft.com/office/drawing/2014/main" id="{4FE5FE39-C0D8-4D5F-B074-10B73B800F12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334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938"/>
                </a:solidFill>
                <a:latin typeface="Microsoft YaHei"/>
                <a:ea typeface="Microsoft YaHei"/>
                <a:cs typeface="Microsoft YaHei"/>
              </a:rPr>
              <a:t>重新分批，不会把模型参数重置回起点</a:t>
            </a:r>
            <a:endParaRPr sz="2400" b="1" dirty="0">
              <a:solidFill>
                <a:srgbClr val="2029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261960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1174</Words>
  <Application>Microsoft Office PowerPoint</Application>
  <DocSecurity>0</DocSecurity>
  <PresentationFormat>宽屏</PresentationFormat>
  <Paragraphs>497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5" baseType="lpstr"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pw z</cp:lastModifiedBy>
  <cp:revision>18</cp:revision>
  <dcterms:created xsi:type="dcterms:W3CDTF">2026-10-07T05:57:16Z</dcterms:created>
  <dcterms:modified xsi:type="dcterms:W3CDTF">2026-10-07T12:05:42Z</dcterms:modified>
</cp:coreProperties>
</file>